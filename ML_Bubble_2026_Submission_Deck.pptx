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Test PR-AUC</c:v>
                </c:pt>
              </c:strCache>
            </c:strRef>
          </c:tx>
          <c:spPr>
            <a:solidFill>
              <a:srgbClr val="7E9AA5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7E9AA5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2E8FA8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2E8FA8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2E8FA8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F2634A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2E8FA8"/>
              </a:solidFill>
              <a:ln w="0">
                <a:noFill/>
              </a:ln>
            </c:spPr>
          </c:dPt>
          <c:dLbls>
            <c:dLbl>
              <c:idx val="0"/>
              <c:numFmt formatCode="0.000" sourceLinked="0"/>
              <c:txPr>
                <a:bodyPr wrap="square"/>
                <a:lstStyle/>
                <a:p>
                  <a:pPr>
                    <a:defRPr sz="950" b="0" u="none" strike="noStrike">
                      <a:solidFill>
                        <a:srgbClr val="0B2E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00" sourceLinked="0"/>
              <c:txPr>
                <a:bodyPr wrap="square"/>
                <a:lstStyle/>
                <a:p>
                  <a:pPr>
                    <a:defRPr sz="950" b="0" u="none" strike="noStrike">
                      <a:solidFill>
                        <a:srgbClr val="0B2E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00" sourceLinked="0"/>
              <c:txPr>
                <a:bodyPr wrap="square"/>
                <a:lstStyle/>
                <a:p>
                  <a:pPr>
                    <a:defRPr sz="950" b="0" u="none" strike="noStrike">
                      <a:solidFill>
                        <a:srgbClr val="0B2E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00" sourceLinked="0"/>
              <c:txPr>
                <a:bodyPr wrap="square"/>
                <a:lstStyle/>
                <a:p>
                  <a:pPr>
                    <a:defRPr sz="950" b="0" u="none" strike="noStrike">
                      <a:solidFill>
                        <a:srgbClr val="0B2E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00" sourceLinked="0"/>
              <c:txPr>
                <a:bodyPr wrap="square"/>
                <a:lstStyle/>
                <a:p>
                  <a:pPr>
                    <a:defRPr sz="950" b="0" u="none" strike="noStrike">
                      <a:solidFill>
                        <a:srgbClr val="0B2E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.000" sourceLinked="0"/>
              <c:txPr>
                <a:bodyPr wrap="square"/>
                <a:lstStyle/>
                <a:p>
                  <a:pPr>
                    <a:defRPr sz="950" b="0" u="none" strike="noStrike">
                      <a:solidFill>
                        <a:srgbClr val="0B2E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00" sourceLinked="0"/>
            <c:txPr>
              <a:bodyPr wrap="square"/>
              <a:lstStyle/>
              <a:p>
                <a:pPr>
                  <a:defRPr sz="950" b="0" u="none" strike="noStrike">
                    <a:solidFill>
                      <a:srgbClr val="0B2E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Dummy</c:v>
                </c:pt>
                <c:pt idx="1">
                  <c:v>Log. reg.</c:v>
                </c:pt>
                <c:pt idx="2">
                  <c:v>Random
forest</c:v>
                </c:pt>
                <c:pt idx="3">
                  <c:v>XGBoost</c:v>
                </c:pt>
                <c:pt idx="4">
                  <c:v>LightGBM</c:v>
                </c:pt>
                <c:pt idx="5">
                  <c:v>MLP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0.114</c:v>
                </c:pt>
                <c:pt idx="1">
                  <c:v>0.213</c:v>
                </c:pt>
                <c:pt idx="2">
                  <c:v>0.225</c:v>
                </c:pt>
                <c:pt idx="3">
                  <c:v>0.235</c:v>
                </c:pt>
                <c:pt idx="4">
                  <c:v>0.238</c:v>
                </c:pt>
                <c:pt idx="5">
                  <c:v>0.222</c:v>
                </c:pt>
              </c:numCache>
            </c:numRef>
          </c:val>
        </c:ser>
        <c:gapWidth val="150"/>
        <c:overlap val="0"/>
        <c:axId val="97033707"/>
        <c:axId val="74340213"/>
      </c:barChart>
      <c:catAx>
        <c:axId val="9703370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50" b="0" u="none" strike="noStrike">
                <a:solidFill>
                  <a:srgbClr val="5A7683"/>
                </a:solidFill>
                <a:uFillTx/>
                <a:latin typeface="Arial"/>
              </a:defRPr>
            </a:pPr>
          </a:p>
        </c:txPr>
        <c:crossAx val="74340213"/>
        <c:crosses val="autoZero"/>
        <c:auto val="1"/>
        <c:lblAlgn val="ctr"/>
        <c:lblOffset val="100"/>
        <c:noMultiLvlLbl val="0"/>
      </c:catAx>
      <c:valAx>
        <c:axId val="74340213"/>
        <c:scaling>
          <c:orientation val="minMax"/>
          <c:max val="0.2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97033707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E70B9F4-823B-4682-BA78-6FCB939A2BD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5C81B4-5404-41FC-86A9-3932F52A67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0E9417-EF54-4081-AD40-35E9D75623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9BD83C-1775-4851-9326-99BD26F2E6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DA57B5-19B6-4C92-8904-B45DF81617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EA0876-5EA7-4490-B0DC-C09D5B0B94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AEBDE4-691B-46D1-A104-2E9440C584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133101-21E5-4CB9-89C0-90DB387BA3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A96F4D-4C0B-4F23-858C-2DB7CE6398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7A0696-0616-40CB-9B7B-6DDBBC28C2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692640" y="-1463040"/>
            <a:ext cx="4205520" cy="4205520"/>
          </a:xfrm>
          <a:prstGeom prst="ellipse">
            <a:avLst/>
          </a:prstGeom>
          <a:solidFill>
            <a:srgbClr val="1238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972800" y="3291840"/>
            <a:ext cx="2742480" cy="2742480"/>
          </a:xfrm>
          <a:prstGeom prst="ellipse">
            <a:avLst/>
          </a:prstGeom>
          <a:solidFill>
            <a:srgbClr val="0F3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68580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159" strike="noStrike">
                <a:solidFill>
                  <a:srgbClr val="2E8FA8"/>
                </a:solidFill>
                <a:effectLst/>
                <a:uFillTx/>
                <a:latin typeface="Calibri"/>
                <a:ea typeface="Calibri"/>
              </a:rPr>
              <a:t>ML BUBBLE 2026   ·   TE-BE DESIGN &amp; SOLVE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21720" y="1143000"/>
            <a:ext cx="86860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Predicting 30-Day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Hospital Readmission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2971800"/>
            <a:ext cx="75888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0" i="1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Turning 101,766 discharge records into a ranked call list for a follow-up team that can only reach one patient in five.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40080" y="3977640"/>
            <a:ext cx="2605320" cy="1416600"/>
          </a:xfrm>
          <a:prstGeom prst="roundRect">
            <a:avLst>
              <a:gd name="adj" fmla="val 5161"/>
            </a:avLst>
          </a:prstGeom>
          <a:solidFill>
            <a:srgbClr val="0F3D4F"/>
          </a:solidFill>
          <a:ln w="12700">
            <a:solidFill>
              <a:srgbClr val="1C54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4142160"/>
            <a:ext cx="26053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6FC6D9"/>
                </a:solidFill>
                <a:effectLst/>
                <a:uFillTx/>
                <a:latin typeface="Cambria"/>
                <a:ea typeface="Cambria"/>
              </a:rPr>
              <a:t>40.2%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77240" y="484632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of readmissions caught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3566160" y="3977640"/>
            <a:ext cx="2605320" cy="1416600"/>
          </a:xfrm>
          <a:prstGeom prst="roundRect">
            <a:avLst>
              <a:gd name="adj" fmla="val 5161"/>
            </a:avLst>
          </a:prstGeom>
          <a:solidFill>
            <a:srgbClr val="0F3D4F"/>
          </a:solidFill>
          <a:ln w="12700">
            <a:solidFill>
              <a:srgbClr val="1C54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566160" y="4142160"/>
            <a:ext cx="26053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6FC6D9"/>
                </a:solidFill>
                <a:effectLst/>
                <a:uFillTx/>
                <a:latin typeface="Cambria"/>
                <a:ea typeface="Cambria"/>
              </a:rPr>
              <a:t>2.05×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703320" y="484632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lift over random calling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492240" y="3977640"/>
            <a:ext cx="2605320" cy="1416600"/>
          </a:xfrm>
          <a:prstGeom prst="roundRect">
            <a:avLst>
              <a:gd name="adj" fmla="val 5161"/>
            </a:avLst>
          </a:prstGeom>
          <a:solidFill>
            <a:srgbClr val="0F3D4F"/>
          </a:solidFill>
          <a:ln w="12700">
            <a:solidFill>
              <a:srgbClr val="1C54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492240" y="4142160"/>
            <a:ext cx="26053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6FC6D9"/>
                </a:solidFill>
                <a:effectLst/>
                <a:uFillTx/>
                <a:latin typeface="Cambria"/>
                <a:ea typeface="Cambria"/>
              </a:rPr>
              <a:t>0.238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6629400" y="484632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PR-AUC vs 0.113 base rate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40080" y="5806440"/>
            <a:ext cx="11475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Held-out test set  ·  19,773 encounters  ·  13,998 patients unseen in training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By – Shikhar Goel,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5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Ishpreet Singh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11597400" y="6492240"/>
            <a:ext cx="365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97A6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02920" y="38412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12556B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502920" y="65844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A capacity problem, not a prediction problem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502920" y="1481400"/>
            <a:ext cx="5988600" cy="913680"/>
          </a:xfrm>
          <a:prstGeom prst="roundRect">
            <a:avLst>
              <a:gd name="adj" fmla="val 8000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731520" y="1481400"/>
            <a:ext cx="5531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50" b="1" i="1" u="none" strike="noStrike">
                <a:solidFill>
                  <a:srgbClr val="12556B"/>
                </a:solidFill>
                <a:effectLst/>
                <a:uFillTx/>
                <a:latin typeface="Cambria"/>
                <a:ea typeface="Cambria"/>
              </a:rPr>
              <a:t>“We can call 20% of today’s discharges. Which 20%?”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502920" y="2606040"/>
            <a:ext cx="598860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60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About 1 in 9 diabetic discharges returns within 30 days — many are preventable: a phone call, a medication check, an earlier appointment.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60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discharge-planning team can reach only a fraction of patients per day, so the useful question is which patients get that scarce attention.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60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The team works down a ranked list — ranking quality matters more than absolute probability, and the threshold comes from budget, not an arbitrary 0.5 cutoff.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502920" y="4892040"/>
            <a:ext cx="5988600" cy="867960"/>
          </a:xfrm>
          <a:prstGeom prst="roundRect">
            <a:avLst>
              <a:gd name="adj" fmla="val 8421"/>
            </a:avLst>
          </a:prstGeom>
          <a:solidFill>
            <a:srgbClr val="0B2E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731520" y="4892040"/>
            <a:ext cx="5531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8FA8"/>
                </a:solidFill>
                <a:effectLst/>
                <a:uFillTx/>
                <a:latin typeface="Calibri"/>
                <a:ea typeface="Calibri"/>
              </a:rPr>
              <a:t>Consequence: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model is optimised for PR-AUC and recall-at-capacity — never accuracy.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6720840" y="1481400"/>
            <a:ext cx="4982760" cy="4278600"/>
          </a:xfrm>
          <a:prstGeom prst="roundRect">
            <a:avLst>
              <a:gd name="adj" fmla="val 1709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6995160" y="1691640"/>
            <a:ext cx="4434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19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THE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6995160" y="1938600"/>
            <a:ext cx="4434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Diabetes 130-US Hospitals, 1999–2008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6995160" y="228600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UCI ML Repository dataset 296 · 10 years across 130 hospitals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6995160" y="2743200"/>
            <a:ext cx="2079720" cy="8679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6995160" y="2834640"/>
            <a:ext cx="207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2556B"/>
                </a:solidFill>
                <a:effectLst/>
                <a:uFillTx/>
                <a:latin typeface="Cambria"/>
                <a:ea typeface="Cambria"/>
              </a:rPr>
              <a:t>101,766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7086600" y="3246120"/>
            <a:ext cx="1896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raw encounters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9349920" y="2743200"/>
            <a:ext cx="2079720" cy="8679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9349920" y="2834640"/>
            <a:ext cx="207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2556B"/>
                </a:solidFill>
                <a:effectLst/>
                <a:uFillTx/>
                <a:latin typeface="Cambria"/>
                <a:ea typeface="Cambria"/>
              </a:rPr>
              <a:t>71,518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9441360" y="3246120"/>
            <a:ext cx="1896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distinct patients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6995160" y="3840480"/>
            <a:ext cx="2079720" cy="8679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6995160" y="3931920"/>
            <a:ext cx="207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2556B"/>
                </a:solidFill>
                <a:effectLst/>
                <a:uFillTx/>
                <a:latin typeface="Cambria"/>
                <a:ea typeface="Cambria"/>
              </a:rPr>
              <a:t>99,340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7086600" y="4343400"/>
            <a:ext cx="1896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encounters modelled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0"/>
          <p:cNvSpPr/>
          <p:nvPr/>
        </p:nvSpPr>
        <p:spPr>
          <a:xfrm>
            <a:off x="9349920" y="3840480"/>
            <a:ext cx="2079720" cy="8679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9349920" y="3931920"/>
            <a:ext cx="207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2556B"/>
                </a:solidFill>
                <a:effectLst/>
                <a:uFillTx/>
                <a:latin typeface="Cambria"/>
                <a:ea typeface="Cambria"/>
              </a:rPr>
              <a:t>11.4%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9441360" y="4343400"/>
            <a:ext cx="1896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readmitted &lt;30 days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6995160" y="4892040"/>
            <a:ext cx="4434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Binarised 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&lt;30 vs everything else  •  </a:t>
            </a:r>
            <a:r>
              <a:rPr lang="en-US" sz="100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2,423 death/hospice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discharges removed  •  '?' kept as an </a:t>
            </a:r>
            <a:r>
              <a:rPr lang="en-US" sz="100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explicit Unknown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category — missingness carries signal  •  39 engineered features survive to modelling.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11597400" y="6492240"/>
            <a:ext cx="365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E9AA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02920" y="38412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12556B"/>
                </a:solidFill>
                <a:effectLst/>
                <a:uFillTx/>
                <a:latin typeface="Calibri"/>
                <a:ea typeface="Calibri"/>
              </a:rPr>
              <a:t>METHOD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02920" y="65844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From raw encounter to ranked call list — without cheating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502920" y="1536120"/>
            <a:ext cx="1943280" cy="1736640"/>
          </a:xfrm>
          <a:prstGeom prst="roundRect">
            <a:avLst>
              <a:gd name="adj" fmla="val 4211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667440" y="1700640"/>
            <a:ext cx="328320" cy="328320"/>
          </a:xfrm>
          <a:prstGeom prst="ellipse">
            <a:avLst/>
          </a:prstGeom>
          <a:solidFill>
            <a:srgbClr val="12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667440" y="17006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667440" y="2103120"/>
            <a:ext cx="1614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Clean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667440" y="2432160"/>
            <a:ext cx="1614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4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Remove death/hospice discharges. Keep '?' as an explicit category.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2812680" y="1536120"/>
            <a:ext cx="1943280" cy="1736640"/>
          </a:xfrm>
          <a:prstGeom prst="roundRect">
            <a:avLst>
              <a:gd name="adj" fmla="val 4211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2977200" y="1700640"/>
            <a:ext cx="328320" cy="328320"/>
          </a:xfrm>
          <a:prstGeom prst="ellipse">
            <a:avLst/>
          </a:prstGeom>
          <a:solidFill>
            <a:srgbClr val="12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2977200" y="17006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2977200" y="2103120"/>
            <a:ext cx="1614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Engineer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2977200" y="2432160"/>
            <a:ext cx="1614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4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2,000+ ICD-9 codes → 9 chapters. Utilisation &amp; regimen-churn features.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5122440" y="1536120"/>
            <a:ext cx="1943280" cy="1736640"/>
          </a:xfrm>
          <a:prstGeom prst="roundRect">
            <a:avLst>
              <a:gd name="adj" fmla="val 4211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5286960" y="1700640"/>
            <a:ext cx="328320" cy="328320"/>
          </a:xfrm>
          <a:prstGeom prst="ellipse">
            <a:avLst/>
          </a:prstGeom>
          <a:solidFill>
            <a:srgbClr val="12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5286960" y="17006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5286960" y="2103120"/>
            <a:ext cx="1614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Split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5286960" y="2432160"/>
            <a:ext cx="1614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4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GroupShuffleSplit on patient_nbr. Train/val/test = 63.6k / 16.0k / 19.8k.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7"/>
          <p:cNvSpPr/>
          <p:nvPr/>
        </p:nvSpPr>
        <p:spPr>
          <a:xfrm>
            <a:off x="7432200" y="1536120"/>
            <a:ext cx="1943280" cy="1736640"/>
          </a:xfrm>
          <a:prstGeom prst="roundRect">
            <a:avLst>
              <a:gd name="adj" fmla="val 4211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7596720" y="1700640"/>
            <a:ext cx="328320" cy="328320"/>
          </a:xfrm>
          <a:prstGeom prst="ellipse">
            <a:avLst/>
          </a:prstGeom>
          <a:solidFill>
            <a:srgbClr val="12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7596720" y="17006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7596720" y="2103120"/>
            <a:ext cx="1614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Compare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1"/>
          <p:cNvSpPr/>
          <p:nvPr/>
        </p:nvSpPr>
        <p:spPr>
          <a:xfrm>
            <a:off x="7596720" y="2432160"/>
            <a:ext cx="1614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4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6 models, 5-fold GroupKFold. Winner picked on validation PR-AUC.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2"/>
          <p:cNvSpPr/>
          <p:nvPr/>
        </p:nvSpPr>
        <p:spPr>
          <a:xfrm>
            <a:off x="9741960" y="1536120"/>
            <a:ext cx="1943280" cy="1736640"/>
          </a:xfrm>
          <a:prstGeom prst="roundRect">
            <a:avLst>
              <a:gd name="adj" fmla="val 4211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3"/>
          <p:cNvSpPr/>
          <p:nvPr/>
        </p:nvSpPr>
        <p:spPr>
          <a:xfrm>
            <a:off x="9906480" y="1700640"/>
            <a:ext cx="328320" cy="328320"/>
          </a:xfrm>
          <a:prstGeom prst="ellipse">
            <a:avLst/>
          </a:prstGeom>
          <a:solidFill>
            <a:srgbClr val="12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9906480" y="17006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5"/>
          <p:cNvSpPr/>
          <p:nvPr/>
        </p:nvSpPr>
        <p:spPr>
          <a:xfrm>
            <a:off x="9906480" y="2103120"/>
            <a:ext cx="1614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Calibrate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6"/>
          <p:cNvSpPr/>
          <p:nvPr/>
        </p:nvSpPr>
        <p:spPr>
          <a:xfrm>
            <a:off x="9906480" y="2432160"/>
            <a:ext cx="1614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4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Platt scaling, then a threshold set from follow-up capacity.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7"/>
          <p:cNvSpPr/>
          <p:nvPr/>
        </p:nvSpPr>
        <p:spPr>
          <a:xfrm>
            <a:off x="502920" y="3364920"/>
            <a:ext cx="111823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The test set is read exactly once, at the very end. </a:t>
            </a:r>
            <a:r>
              <a:rPr lang="en-US" sz="1050" b="0" i="1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Model choice, hyperparameters, calibration and threshold are all fixed against validation.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8"/>
          <p:cNvSpPr/>
          <p:nvPr/>
        </p:nvSpPr>
        <p:spPr>
          <a:xfrm>
            <a:off x="502920" y="382212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THE TRAP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502920" y="4060080"/>
            <a:ext cx="111549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99,340 encounters belong to only 69,987 patients — one appears 40 times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0"/>
          <p:cNvSpPr/>
          <p:nvPr/>
        </p:nvSpPr>
        <p:spPr>
          <a:xfrm>
            <a:off x="502920" y="4480560"/>
            <a:ext cx="5439960" cy="1050840"/>
          </a:xfrm>
          <a:prstGeom prst="roundRect">
            <a:avLst>
              <a:gd name="adj" fmla="val 6957"/>
            </a:avLst>
          </a:prstGeom>
          <a:solidFill>
            <a:srgbClr val="FBE4E0"/>
          </a:solidFill>
          <a:ln w="9525">
            <a:solidFill>
              <a:srgbClr val="F0B7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731520" y="4480560"/>
            <a:ext cx="498276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✕  </a:t>
            </a:r>
            <a:r>
              <a:rPr lang="en-US" sz="1250" b="1" u="none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Split by row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2A1C"/>
                </a:solidFill>
                <a:effectLst/>
                <a:uFillTx/>
                <a:latin typeface="Calibri"/>
                <a:ea typeface="Calibri"/>
              </a:rPr>
              <a:t>Same patient lands in train and test — the model memorises individuals instead of learning transferable risk. Every metric comes out inflated.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2"/>
          <p:cNvSpPr/>
          <p:nvPr/>
        </p:nvSpPr>
        <p:spPr>
          <a:xfrm>
            <a:off x="6217920" y="4480560"/>
            <a:ext cx="5439960" cy="1050840"/>
          </a:xfrm>
          <a:prstGeom prst="roundRect">
            <a:avLst>
              <a:gd name="adj" fmla="val 6957"/>
            </a:avLst>
          </a:prstGeom>
          <a:solidFill>
            <a:srgbClr val="E2F0E9"/>
          </a:solidFill>
          <a:ln w="9525">
            <a:solidFill>
              <a:srgbClr val="AEDB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3"/>
          <p:cNvSpPr/>
          <p:nvPr/>
        </p:nvSpPr>
        <p:spPr>
          <a:xfrm>
            <a:off x="6446520" y="4480560"/>
            <a:ext cx="498276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5F44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250" b="1" u="none" strike="noStrike">
                <a:solidFill>
                  <a:srgbClr val="1F5F44"/>
                </a:solidFill>
                <a:effectLst/>
                <a:uFillTx/>
                <a:latin typeface="Calibri"/>
                <a:ea typeface="Calibri"/>
              </a:rPr>
              <a:t>Split by patient_nbr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D4D39"/>
                </a:solidFill>
                <a:effectLst/>
                <a:uFillTx/>
                <a:latin typeface="Calibri"/>
                <a:ea typeface="Calibri"/>
              </a:rPr>
              <a:t>GroupShuffleSplit for train/val/test, GroupKFold for every CV fold. No patient can appear on both sides — enforced by a test, not convention.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4"/>
          <p:cNvSpPr/>
          <p:nvPr/>
        </p:nvSpPr>
        <p:spPr>
          <a:xfrm>
            <a:off x="502920" y="5669280"/>
            <a:ext cx="11182320" cy="566280"/>
          </a:xfrm>
          <a:prstGeom prst="roundRect">
            <a:avLst>
              <a:gd name="adj" fmla="val 12903"/>
            </a:avLst>
          </a:prstGeom>
          <a:solidFill>
            <a:srgbClr val="0B2E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5"/>
          <p:cNvSpPr/>
          <p:nvPr/>
        </p:nvSpPr>
        <p:spPr>
          <a:xfrm>
            <a:off x="777240" y="5669280"/>
            <a:ext cx="10606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FC6D9"/>
                </a:solidFill>
                <a:effectLst/>
                <a:uFillTx/>
                <a:latin typeface="Courier New"/>
                <a:ea typeface="Courier New"/>
              </a:rPr>
              <a:t>test_split_never_puts_a_patient_on_both_sides</a:t>
            </a:r>
            <a:r>
              <a:rPr lang="en-US" sz="1050" b="0" u="none" strike="noStrike">
                <a:solidFill>
                  <a:srgbClr val="DCE9EC"/>
                </a:solidFill>
                <a:effectLst/>
                <a:uFillTx/>
                <a:latin typeface="Calibri"/>
                <a:ea typeface="Calibri"/>
              </a:rPr>
              <a:t>   —  a materially higher ROC-AUC on this dataset almost always means a leaked split, not a better model. Published results sit at 0.64–0.70.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6"/>
          <p:cNvSpPr/>
          <p:nvPr/>
        </p:nvSpPr>
        <p:spPr>
          <a:xfrm>
            <a:off x="11597400" y="6492240"/>
            <a:ext cx="365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E9AA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02920" y="38412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12556B"/>
                </a:solidFill>
                <a:effectLst/>
                <a:uFillTx/>
                <a:latin typeface="Calibri"/>
                <a:ea typeface="Calibri"/>
              </a:rPr>
              <a:t>MODEL SELECTION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02920" y="65844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Six models, one selection rule — chosen before the test set was 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502920" y="120708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5-fold GroupKFold on training patients for selection; a single held-out test evaluation at the end.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502920" y="1627560"/>
            <a:ext cx="5577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Test PR-AUC  (base rate 0.113)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2" name="Chart 0"/>
          <p:cNvGraphicFramePr/>
          <p:nvPr/>
        </p:nvGraphicFramePr>
        <p:xfrm>
          <a:off x="502920" y="1938600"/>
          <a:ext cx="5577120" cy="233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3" name="Text 4"/>
          <p:cNvSpPr/>
          <p:nvPr/>
        </p:nvSpPr>
        <p:spPr>
          <a:xfrm>
            <a:off x="502920" y="4316040"/>
            <a:ext cx="5577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Selected: LightGBM — Test PR-AUC 0.238 · ROC-AUC 0.684 · Recall 40.2% at 20% capacity.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502920" y="4736520"/>
            <a:ext cx="5577120" cy="1050840"/>
          </a:xfrm>
          <a:prstGeom prst="roundRect">
            <a:avLst>
              <a:gd name="adj" fmla="val 6957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731520" y="4736520"/>
            <a:ext cx="51199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4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Which gaps are real?  </a:t>
            </a:r>
            <a:r>
              <a:rPr lang="en-US" sz="98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Paired bootstrap on Δ PR-AUC — vs XGBoost: +0.0022 [−0.0017, +0.0058], not resolved (a coin flip). vs Random forest / Logistic reg.: resolved in LightGBM’s favour. Boosting beats bagging and linear models; which booster wins is not resolved by this data.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6355080" y="162756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CLASS IMBALANCE — 11.4% positives, handled explicitly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6355080" y="1901880"/>
            <a:ext cx="5348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Left alone, every model collapses to ‘no readmission’ for everyone — 88.6% accuracy, catches nothing.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Table 0"/>
          <p:cNvGraphicFramePr/>
          <p:nvPr/>
        </p:nvGraphicFramePr>
        <p:xfrm>
          <a:off x="6355080" y="2331720"/>
          <a:ext cx="5348520" cy="1371600"/>
        </p:xfrm>
        <a:graphic>
          <a:graphicData uri="http://schemas.openxmlformats.org/drawingml/2006/table">
            <a:tbl>
              <a:tblPr/>
              <a:tblGrid>
                <a:gridCol w="2674440"/>
                <a:gridCol w="2674440"/>
              </a:tblGrid>
              <a:tr h="274320">
                <a:tc>
                  <a:txBody>
                    <a:bodyPr lIns="75960" tIns="12600" rIns="75960" bIns="12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Logistic reg.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12600" marB="126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12600" rIns="75960" bIns="12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5A7683"/>
                          </a:solidFill>
                          <a:effectLst/>
                          <a:uFillTx/>
                          <a:latin typeface="Calibri"/>
                        </a:rPr>
                        <a:t>balanced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12600" marB="126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lIns="75960" tIns="12600" rIns="75960" bIns="12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Random forest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12600" marB="126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12600" rIns="75960" bIns="12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5A7683"/>
                          </a:solidFill>
                          <a:effectLst/>
                          <a:uFillTx/>
                          <a:latin typeface="Calibri"/>
                        </a:rPr>
                        <a:t>balanced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12600" marB="126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lIns="75960" tIns="12600" rIns="75960" bIns="12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XGBoost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12600" marB="126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12600" rIns="75960" bIns="12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5A7683"/>
                          </a:solidFill>
                          <a:effectLst/>
                          <a:uFillTx/>
                          <a:latin typeface="Calibri"/>
                        </a:rPr>
                        <a:t>~7.8×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12600" marB="126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lIns="75960" tIns="12600" rIns="75960" bIns="12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LightGBM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12600" marB="126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12600" rIns="75960" bIns="12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5A7683"/>
                          </a:solidFill>
                          <a:effectLst/>
                          <a:uFillTx/>
                          <a:latin typeface="Calibri"/>
                        </a:rPr>
                        <a:t>balanced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12600" marB="126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lIns="75960" tIns="12600" rIns="75960" bIns="12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MLP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12600" marB="126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12600" rIns="75960" bIns="12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5A7683"/>
                          </a:solidFill>
                          <a:effectLst/>
                          <a:uFillTx/>
                          <a:latin typeface="Calibri"/>
                        </a:rPr>
                        <a:t>unweighted — judged on ranking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12600" marB="126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9" name="Shape 9"/>
          <p:cNvSpPr/>
          <p:nvPr/>
        </p:nvSpPr>
        <p:spPr>
          <a:xfrm>
            <a:off x="6355080" y="3803760"/>
            <a:ext cx="5348520" cy="712440"/>
          </a:xfrm>
          <a:prstGeom prst="roundRect">
            <a:avLst>
              <a:gd name="adj" fmla="val 10256"/>
            </a:avLst>
          </a:prstGeom>
          <a:solidFill>
            <a:srgbClr val="FBE4E0"/>
          </a:solidFill>
          <a:ln w="9525">
            <a:solidFill>
              <a:srgbClr val="F0B7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6556320" y="3803760"/>
            <a:ext cx="49460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SMOTE was measured, not assumed away.  </a:t>
            </a:r>
            <a:r>
              <a:rPr lang="en-US" sz="980" b="0" u="none" strike="noStrike">
                <a:solidFill>
                  <a:srgbClr val="7A2A1C"/>
                </a:solidFill>
                <a:effectLst/>
                <a:uFillTx/>
                <a:latin typeface="Calibri"/>
                <a:ea typeface="Calibri"/>
              </a:rPr>
              <a:t>Oversampling inside each CV fold scored 0.2194 PR-AUC vs 0.2200 for class weighting — no better, and it adds a resampling step to serving. Kept on the evidence.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6355080" y="4663440"/>
            <a:ext cx="5348520" cy="776520"/>
          </a:xfrm>
          <a:prstGeom prst="roundRect">
            <a:avLst>
              <a:gd name="adj" fmla="val 9412"/>
            </a:avLst>
          </a:prstGeom>
          <a:solidFill>
            <a:srgbClr val="E2F0E9"/>
          </a:solidFill>
          <a:ln w="9525">
            <a:solidFill>
              <a:srgbClr val="AEDB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6556320" y="4663440"/>
            <a:ext cx="4946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F5F44"/>
                </a:solidFill>
                <a:effectLst/>
                <a:uFillTx/>
                <a:latin typeface="Calibri"/>
                <a:ea typeface="Calibri"/>
              </a:rPr>
              <a:t>The cost of class weighting.  </a:t>
            </a:r>
            <a:r>
              <a:rPr lang="en-US" sz="980" b="0" u="none" strike="noStrike">
                <a:solidFill>
                  <a:srgbClr val="1D4D39"/>
                </a:solidFill>
                <a:effectLst/>
                <a:uFillTx/>
                <a:latin typeface="Calibri"/>
                <a:ea typeface="Calibri"/>
              </a:rPr>
              <a:t>It deliberately distorts predicted probabilities upward — fine for ranking, wrong for a number a clinician reads. That’s why calibration is a separate step (next).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11597400" y="6492240"/>
            <a:ext cx="365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E9AA5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02920" y="38412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WHY NOT ACCURACY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502920" y="65844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78.2% accurate. So is doing nothing — at 88.6%.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502920" y="1572840"/>
            <a:ext cx="1660320" cy="1828080"/>
          </a:xfrm>
          <a:prstGeom prst="roundRect">
            <a:avLst>
              <a:gd name="adj" fmla="val 4404"/>
            </a:avLst>
          </a:prstGeom>
          <a:solidFill>
            <a:srgbClr val="0B2E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502920" y="1810440"/>
            <a:ext cx="1660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6FC6D9"/>
                </a:solidFill>
                <a:effectLst/>
                <a:uFillTx/>
                <a:latin typeface="Cambria"/>
                <a:ea typeface="Cambria"/>
              </a:rPr>
              <a:t>78.2%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612720" y="2450520"/>
            <a:ext cx="1441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our model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612720" y="3063240"/>
            <a:ext cx="1441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9FC4D1"/>
                </a:solidFill>
                <a:effectLst/>
                <a:uFillTx/>
                <a:latin typeface="Calibri"/>
                <a:ea typeface="Calibri"/>
              </a:rPr>
              <a:t>40.2% of readmissions caught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2346840" y="1572840"/>
            <a:ext cx="1660320" cy="1828080"/>
          </a:xfrm>
          <a:prstGeom prst="roundRect">
            <a:avLst>
              <a:gd name="adj" fmla="val 4404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2346840" y="1810440"/>
            <a:ext cx="1660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88.6%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2456640" y="2450520"/>
            <a:ext cx="1441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“nobody is readmitted”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2456640" y="3063240"/>
            <a:ext cx="1441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0% caught — flags no one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4191120" y="1572840"/>
            <a:ext cx="1660320" cy="1828080"/>
          </a:xfrm>
          <a:prstGeom prst="roundRect">
            <a:avLst>
              <a:gd name="adj" fmla="val 4404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4191120" y="1810440"/>
            <a:ext cx="1660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88.8%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4300560" y="2450520"/>
            <a:ext cx="1441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best accuracy at any threshold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4300560" y="3063240"/>
            <a:ext cx="1441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flags 0.4% of patients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4"/>
          <p:cNvSpPr/>
          <p:nvPr/>
        </p:nvSpPr>
        <p:spPr>
          <a:xfrm>
            <a:off x="502920" y="3611880"/>
            <a:ext cx="5348520" cy="1508040"/>
          </a:xfrm>
          <a:prstGeom prst="roundRect">
            <a:avLst>
              <a:gd name="adj" fmla="val 4848"/>
            </a:avLst>
          </a:prstGeom>
          <a:solidFill>
            <a:srgbClr val="FBE4E0"/>
          </a:solidFill>
          <a:ln w="9525">
            <a:solidFill>
              <a:srgbClr val="F0B7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731520" y="3611880"/>
            <a:ext cx="489132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With an 11% positive rate, accuracy rewards inaction — nothing here was selected using it. </a:t>
            </a:r>
            <a:r>
              <a:rPr lang="en-US" sz="1130" b="0" u="none" strike="noStrike">
                <a:solidFill>
                  <a:srgbClr val="7A2A1C"/>
                </a:solidFill>
                <a:effectLst/>
                <a:uFillTx/>
                <a:latin typeface="Calibri"/>
                <a:ea typeface="Calibri"/>
              </a:rPr>
              <a:t>The deployed threshold is 0.166, not 0.5: at 0.5 the calibrated model flags zero patients.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6172200" y="1572840"/>
            <a:ext cx="5531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CALIBRATION — making the number mean what it says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6172200" y="1847160"/>
            <a:ext cx="5531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Class weighting is what makes ranking work and probabilities wrong. Platt scaling fixes the probabilities without touching the ranking.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0" descr="imgs/calibration.png"/>
          <p:cNvPicPr/>
          <p:nvPr/>
        </p:nvPicPr>
        <p:blipFill>
          <a:blip r:embed="rId1"/>
          <a:stretch/>
        </p:blipFill>
        <p:spPr>
          <a:xfrm>
            <a:off x="6400800" y="2450520"/>
            <a:ext cx="2788200" cy="24408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3" name="Table 0"/>
          <p:cNvGraphicFramePr/>
          <p:nvPr/>
        </p:nvGraphicFramePr>
        <p:xfrm>
          <a:off x="9418320" y="2788920"/>
          <a:ext cx="2422800" cy="1151280"/>
        </p:xfrm>
        <a:graphic>
          <a:graphicData uri="http://schemas.openxmlformats.org/drawingml/2006/table">
            <a:tbl>
              <a:tblPr/>
              <a:tblGrid>
                <a:gridCol w="960120"/>
                <a:gridCol w="502920"/>
                <a:gridCol w="457200"/>
                <a:gridCol w="502920"/>
              </a:tblGrid>
              <a:tr h="383760">
                <a:tc>
                  <a:txBody>
                    <a:bodyPr lIns="37800" tIns="25200" rIns="37800" bIns="25200" anchor="ctr">
                      <a:noAutofit/>
                    </a:bodyPr>
                    <a:p>
                      <a:endParaRPr lang="en-US" sz="95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Brier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ROC-AUC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PR-AUC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</a:tr>
              <a:tr h="383760"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LightGBM, raw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0.2007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0.6839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0.2376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+ Platt scaling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0.0954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0.6839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0.2376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</a:tr>
            </a:tbl>
          </a:graphicData>
        </a:graphic>
      </p:graphicFrame>
      <p:sp>
        <p:nvSpPr>
          <p:cNvPr id="124" name="Shape 18"/>
          <p:cNvSpPr/>
          <p:nvPr/>
        </p:nvSpPr>
        <p:spPr>
          <a:xfrm>
            <a:off x="6172200" y="5120640"/>
            <a:ext cx="5531400" cy="913680"/>
          </a:xfrm>
          <a:prstGeom prst="roundRect">
            <a:avLst>
              <a:gd name="adj" fmla="val 8000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6373440" y="5120640"/>
            <a:ext cx="51289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F5F44"/>
                </a:solidFill>
                <a:effectLst/>
                <a:uFillTx/>
                <a:latin typeface="Calibri"/>
                <a:ea typeface="Calibri"/>
              </a:rPr>
              <a:t>Brier more than halves; discrimination is bit-identical.  </a:t>
            </a:r>
            <a:r>
              <a:rPr lang="en-US" sz="103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Platt scaling is strictly monotonic — it cannot reorder a single patient. The call list is unchanged while a predicted 18% now means roughly 18%.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11597400" y="6492240"/>
            <a:ext cx="365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E9AA5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02920" y="38412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12556B"/>
                </a:solidFill>
                <a:effectLst/>
                <a:uFillTx/>
                <a:latin typeface="Calibri"/>
                <a:ea typeface="Calibri"/>
              </a:rPr>
              <a:t>OPERATING POINT &amp; CLINICAL VALUE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02920" y="65844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The threshold is a budget decision — and acting on it beats the alternatives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02920" y="1417320"/>
            <a:ext cx="5668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Precision &amp; recall vs. follow-up call capacity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0" descr="imgs/operating_point.png"/>
          <p:cNvPicPr/>
          <p:nvPr/>
        </p:nvPicPr>
        <p:blipFill>
          <a:blip r:embed="rId1"/>
          <a:stretch/>
        </p:blipFill>
        <p:spPr>
          <a:xfrm>
            <a:off x="1280160" y="1737360"/>
            <a:ext cx="2833920" cy="22942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31" name="Table 0"/>
          <p:cNvGraphicFramePr/>
          <p:nvPr/>
        </p:nvGraphicFramePr>
        <p:xfrm>
          <a:off x="502920" y="4160520"/>
          <a:ext cx="5668200" cy="876960"/>
        </p:xfrm>
        <a:graphic>
          <a:graphicData uri="http://schemas.openxmlformats.org/drawingml/2006/table">
            <a:tbl>
              <a:tblPr/>
              <a:tblGrid>
                <a:gridCol w="2381040"/>
                <a:gridCol w="1643760"/>
                <a:gridCol w="164376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Capacity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Recall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Precision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20% ← deployed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40.6%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23.1%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40%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63.9%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18.1%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2" name="Text 3"/>
          <p:cNvSpPr/>
          <p:nvPr/>
        </p:nvSpPr>
        <p:spPr>
          <a:xfrm>
            <a:off x="502920" y="5139000"/>
            <a:ext cx="56685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6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Doubling capacity from 20% to 40% buys 23 points of recall for 5 points of precision. </a:t>
            </a:r>
            <a:r>
              <a:rPr lang="en-US" sz="98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At 20%: 901 true positives, 2,965 false alarms, 1,343 missed. Whether the trade is worth taking is a hospital finance question — the model supports either answer without retraining.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6446520" y="1417320"/>
            <a:ext cx="525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CLINICAL VALUE — does acting on it beat what they do today?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6446520" y="1700640"/>
            <a:ext cx="5257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Decision curve analysis: pt is the risk at which a call becomes worthwhile — it encodes the cost ratio of a call vs. a missed readmission.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6446520" y="2331720"/>
            <a:ext cx="1630080" cy="1050840"/>
          </a:xfrm>
          <a:prstGeom prst="roundRect">
            <a:avLst>
              <a:gd name="adj" fmla="val 6957"/>
            </a:avLst>
          </a:prstGeom>
          <a:solidFill>
            <a:srgbClr val="E2F0E9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6446520" y="2450520"/>
            <a:ext cx="163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F5F44"/>
                </a:solidFill>
                <a:effectLst/>
                <a:uFillTx/>
                <a:latin typeface="Cambria"/>
                <a:ea typeface="Cambria"/>
              </a:rPr>
              <a:t>+0.0157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6519600" y="2926080"/>
            <a:ext cx="1483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1F5F44"/>
                </a:solidFill>
                <a:effectLst/>
                <a:uFillTx/>
                <a:latin typeface="Calibri"/>
                <a:ea typeface="Calibri"/>
              </a:rPr>
              <a:t>Use the model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8260200" y="2331720"/>
            <a:ext cx="1630080" cy="1050840"/>
          </a:xfrm>
          <a:prstGeom prst="roundRect">
            <a:avLst>
              <a:gd name="adj" fmla="val 6957"/>
            </a:avLst>
          </a:prstGeom>
          <a:solidFill>
            <a:srgbClr val="FBE4E0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8260200" y="2450520"/>
            <a:ext cx="163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9E3423"/>
                </a:solidFill>
                <a:effectLst/>
                <a:uFillTx/>
                <a:latin typeface="Cambria"/>
                <a:ea typeface="Cambria"/>
              </a:rPr>
              <a:t>−0.0617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8333280" y="2926080"/>
            <a:ext cx="1483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Call everyone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10073520" y="2331720"/>
            <a:ext cx="1630080" cy="1050840"/>
          </a:xfrm>
          <a:prstGeom prst="roundRect">
            <a:avLst>
              <a:gd name="adj" fmla="val 6957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10073520" y="2450520"/>
            <a:ext cx="163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5A7683"/>
                </a:solidFill>
                <a:effectLst/>
                <a:uFillTx/>
                <a:latin typeface="Cambria"/>
                <a:ea typeface="Cambria"/>
              </a:rPr>
              <a:t>0.0000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10146960" y="2926080"/>
            <a:ext cx="1483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Call nobody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6446520" y="3456360"/>
            <a:ext cx="5257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E9AA5"/>
                </a:solidFill>
                <a:effectLst/>
                <a:uFillTx/>
                <a:latin typeface="Calibri"/>
                <a:ea typeface="Calibri"/>
              </a:rPr>
              <a:t>Net benefit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6446520" y="3886200"/>
            <a:ext cx="5257080" cy="1416600"/>
          </a:xfrm>
          <a:prstGeom prst="roundRect">
            <a:avLst>
              <a:gd name="adj" fmla="val 5161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6675120" y="3886200"/>
            <a:ext cx="479988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15.6 extra readmissions caught per 1,000 discharges, net of the false alarms they cost. 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The model beats both alternatives for pt between 0.025 and 0.43 — every realistic hospital sits inside that range. Note ‘call everyone’ is worse than doing nothing at this exchange rate: false-alarm burden swamps the benefit.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11597400" y="6492240"/>
            <a:ext cx="365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E9AA5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502920" y="38412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12556B"/>
                </a:solidFill>
                <a:effectLst/>
                <a:uFillTx/>
                <a:latin typeface="Calibri"/>
                <a:ea typeface="Calibri"/>
              </a:rPr>
              <a:t>EXPLAINABILITY, ROBUSTNESS &amp; ABLATION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02920" y="65844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What the model reads — and whether the number holds up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502920" y="141732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Permutation importance and SHAP agree on the top of the list.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502920" y="1783080"/>
            <a:ext cx="310320" cy="310320"/>
          </a:xfrm>
          <a:prstGeom prst="ellipse">
            <a:avLst/>
          </a:prstGeom>
          <a:solidFill>
            <a:srgbClr val="12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502920" y="17830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941760" y="1755720"/>
            <a:ext cx="490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Prior inpatient admissions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941760" y="2030040"/>
            <a:ext cx="490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Utilisation history beats anything measured during the stay.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502920" y="2441520"/>
            <a:ext cx="310320" cy="310320"/>
          </a:xfrm>
          <a:prstGeom prst="ellipse">
            <a:avLst/>
          </a:prstGeom>
          <a:solidFill>
            <a:srgbClr val="12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502920" y="244152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941760" y="2414160"/>
            <a:ext cx="490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Where the patient is discharged to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941760" y="2688480"/>
            <a:ext cx="490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Home lowers risk; a care facility raises it — a proxy for frailty.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502920" y="3099960"/>
            <a:ext cx="310320" cy="310320"/>
          </a:xfrm>
          <a:prstGeom prst="ellipse">
            <a:avLst/>
          </a:prstGeom>
          <a:solidFill>
            <a:srgbClr val="12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502920" y="30999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941760" y="3072240"/>
            <a:ext cx="490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Depth of prior encounter history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941760" y="3346560"/>
            <a:ext cx="490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How often this patient has been through the system before.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5"/>
          <p:cNvSpPr/>
          <p:nvPr/>
        </p:nvSpPr>
        <p:spPr>
          <a:xfrm>
            <a:off x="502920" y="3758040"/>
            <a:ext cx="310320" cy="310320"/>
          </a:xfrm>
          <a:prstGeom prst="ellipse">
            <a:avLst/>
          </a:prstGeom>
          <a:solidFill>
            <a:srgbClr val="12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502920" y="37580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941760" y="3730680"/>
            <a:ext cx="490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Primary diagnosis group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941760" y="4005000"/>
            <a:ext cx="490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Circulatory pushes risk up; respiratory pushes it down.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9"/>
          <p:cNvSpPr/>
          <p:nvPr/>
        </p:nvSpPr>
        <p:spPr>
          <a:xfrm>
            <a:off x="502920" y="4462200"/>
            <a:ext cx="5348520" cy="502200"/>
          </a:xfrm>
          <a:prstGeom prst="roundRect">
            <a:avLst>
              <a:gd name="adj" fmla="val 14545"/>
            </a:avLst>
          </a:prstGeom>
          <a:solidFill>
            <a:srgbClr val="E2F0E9"/>
          </a:solidFill>
          <a:ln w="9525">
            <a:solidFill>
              <a:srgbClr val="AEDB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685800" y="4462200"/>
            <a:ext cx="4982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F5F44"/>
                </a:solidFill>
                <a:effectLst/>
                <a:uFillTx/>
                <a:latin typeface="Calibri"/>
                <a:ea typeface="Calibri"/>
              </a:rPr>
              <a:t>Nothing suspicious at the top — no identifier, no date artefact.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1"/>
          <p:cNvSpPr/>
          <p:nvPr/>
        </p:nvSpPr>
        <p:spPr>
          <a:xfrm>
            <a:off x="6126480" y="1417320"/>
            <a:ext cx="5577120" cy="182808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2"/>
          <p:cNvSpPr/>
          <p:nvPr/>
        </p:nvSpPr>
        <p:spPr>
          <a:xfrm>
            <a:off x="6355080" y="1572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ROBUSTNESS — is 0.684 real?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3"/>
          <p:cNvSpPr/>
          <p:nvPr/>
        </p:nvSpPr>
        <p:spPr>
          <a:xfrm>
            <a:off x="6355080" y="1865520"/>
            <a:ext cx="5119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Across 7 random seeds, the pipeline averages </a:t>
            </a:r>
            <a:r>
              <a:rPr lang="en-US" sz="1000" b="1" u="none" strike="noStrike">
                <a:solidFill>
                  <a:srgbClr val="12556B"/>
                </a:solidFill>
                <a:effectLst/>
                <a:uFillTx/>
                <a:latin typeface="Calibri"/>
                <a:ea typeface="Calibri"/>
              </a:rPr>
              <a:t>PR-AUC 0.224 ± 0.010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and </a:t>
            </a:r>
            <a:r>
              <a:rPr lang="en-US" sz="1000" b="1" u="none" strike="noStrike">
                <a:solidFill>
                  <a:srgbClr val="12556B"/>
                </a:solidFill>
                <a:effectLst/>
                <a:uFillTx/>
                <a:latin typeface="Calibri"/>
                <a:ea typeface="Calibri"/>
              </a:rPr>
              <a:t>ROC-AUC 0.678 ± 0.006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. 95% CI from 2,000 cluster resamples of patients: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6355080" y="2541960"/>
            <a:ext cx="5119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0B2E3B"/>
                </a:solidFill>
                <a:effectLst/>
                <a:uFillTx/>
                <a:latin typeface="Courier New"/>
                <a:ea typeface="Courier New"/>
              </a:rPr>
              <a:t>ROC-AUC 0.684 [0.671, 0.698]   ·   PR-AUC 0.238 [0.213, 0.265]   ·   Recall 40.2% [37.6%, 42.7%]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5"/>
          <p:cNvSpPr/>
          <p:nvPr/>
        </p:nvSpPr>
        <p:spPr>
          <a:xfrm>
            <a:off x="6126480" y="3401640"/>
            <a:ext cx="5577120" cy="2285280"/>
          </a:xfrm>
          <a:prstGeom prst="roundRect">
            <a:avLst>
              <a:gd name="adj" fmla="val 3200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6"/>
          <p:cNvSpPr/>
          <p:nvPr/>
        </p:nvSpPr>
        <p:spPr>
          <a:xfrm>
            <a:off x="6355080" y="356616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ABLATION — seven approaches tried, none beat the baseline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5" name="Table 0"/>
          <p:cNvGraphicFramePr/>
          <p:nvPr/>
        </p:nvGraphicFramePr>
        <p:xfrm>
          <a:off x="6355080" y="3877200"/>
          <a:ext cx="5119920" cy="1097280"/>
        </p:xfrm>
        <a:graphic>
          <a:graphicData uri="http://schemas.openxmlformats.org/drawingml/2006/table">
            <a:tbl>
              <a:tblPr/>
              <a:tblGrid>
                <a:gridCol w="2560320"/>
                <a:gridCol w="1382400"/>
                <a:gridCol w="117756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Variant</a:t>
                      </a:r>
                      <a:endParaRPr lang="en-US" sz="9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CV PR-AUC</a:t>
                      </a:r>
                      <a:endParaRPr lang="en-US" sz="9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Δ</a:t>
                      </a:r>
                      <a:endParaRPr lang="en-US" sz="9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A — current, 39 features</a:t>
                      </a:r>
                      <a:endParaRPr lang="en-US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0.2200</a:t>
                      </a:r>
                      <a:endParaRPr lang="en-US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baseline</a:t>
                      </a:r>
                      <a:endParaRPr lang="en-US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F — soft-vote RF+XGB+LGBM</a:t>
                      </a:r>
                      <a:endParaRPr lang="en-US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0.2191</a:t>
                      </a:r>
                      <a:endParaRPr lang="en-US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−0.0009</a:t>
                      </a:r>
                      <a:endParaRPr lang="en-US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G — SMOTE, not weighting</a:t>
                      </a:r>
                      <a:endParaRPr lang="en-US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0.2194</a:t>
                      </a:r>
                      <a:endParaRPr lang="en-US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3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−0.0006</a:t>
                      </a:r>
                      <a:endParaRPr lang="en-US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6" name="Text 27"/>
          <p:cNvSpPr/>
          <p:nvPr/>
        </p:nvSpPr>
        <p:spPr>
          <a:xfrm>
            <a:off x="6355080" y="5029200"/>
            <a:ext cx="5119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Every delta is inside the ±0.0069 fold-to-fold noise — no measurable difference. </a:t>
            </a:r>
            <a:r>
              <a:rPr lang="en-US" sz="93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Seven approaches converging on 0.22 is itself the finding. That’s a ceiling on method — the learning curve (still rising, +0.0049 from the last 43% of data) shows it isn’t a ceiling on data.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8"/>
          <p:cNvSpPr/>
          <p:nvPr/>
        </p:nvSpPr>
        <p:spPr>
          <a:xfrm>
            <a:off x="11597400" y="6492240"/>
            <a:ext cx="365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E9AA5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502920" y="38412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FAIRNESS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502920" y="65844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B2E3B"/>
                </a:solidFill>
                <a:effectLst/>
                <a:uFillTx/>
                <a:latin typeface="Cambria"/>
                <a:ea typeface="Cambria"/>
              </a:rPr>
              <a:t>The subgroup gap that would block deployment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502920" y="1207080"/>
            <a:ext cx="11154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A7683"/>
                </a:solidFill>
                <a:effectLst/>
                <a:uFillTx/>
                <a:latin typeface="Calibri"/>
                <a:ea typeface="Calibri"/>
              </a:rPr>
              <a:t>Per-subgroup performance at the deployed threshold. Groups under 200 test encounters are suppressed.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1" name="Table 0"/>
          <p:cNvGraphicFramePr/>
          <p:nvPr/>
        </p:nvGraphicFramePr>
        <p:xfrm>
          <a:off x="502920" y="1572840"/>
          <a:ext cx="5486040" cy="17370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  <a:gridCol w="1280160"/>
              </a:tblGrid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Age band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Flag rate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Recall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ROC-AUC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12556B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Under 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20.2%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58.0%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0.784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40–60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14.8%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39.6%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0.712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EEF4F6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60–80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20.8%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39.7%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B2E3B"/>
                          </a:solidFill>
                          <a:effectLst/>
                          <a:uFillTx/>
                          <a:latin typeface="Calibri"/>
                        </a:rPr>
                        <a:t>0.673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9E3423"/>
                          </a:solidFill>
                          <a:effectLst/>
                          <a:uFillTx/>
                          <a:latin typeface="Calibri"/>
                        </a:rPr>
                        <a:t>80 and over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BE4E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9E3423"/>
                          </a:solidFill>
                          <a:effectLst/>
                          <a:uFillTx/>
                          <a:latin typeface="Calibri"/>
                        </a:rPr>
                        <a:t>23.0%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BE4E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9E3423"/>
                          </a:solidFill>
                          <a:effectLst/>
                          <a:uFillTx/>
                          <a:latin typeface="Calibri"/>
                        </a:rPr>
                        <a:t>35.8%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BE4E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9E3423"/>
                          </a:solidFill>
                          <a:effectLst/>
                          <a:uFillTx/>
                          <a:latin typeface="Calibri"/>
                        </a:rPr>
                        <a:t>0.613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9DCE3"/>
                      </a:solidFill>
                      <a:prstDash val="solid"/>
                    </a:lnL>
                    <a:lnR w="6480">
                      <a:solidFill>
                        <a:srgbClr val="C9DCE3"/>
                      </a:solidFill>
                      <a:prstDash val="solid"/>
                    </a:lnR>
                    <a:lnT w="6480">
                      <a:solidFill>
                        <a:srgbClr val="C9DCE3"/>
                      </a:solidFill>
                      <a:prstDash val="solid"/>
                    </a:lnT>
                    <a:lnB w="6480">
                      <a:solidFill>
                        <a:srgbClr val="C9DCE3"/>
                      </a:solidFill>
                      <a:prstDash val="solid"/>
                    </a:lnB>
                    <a:solidFill>
                      <a:srgbClr val="FBE4E0"/>
                    </a:solidFill>
                  </a:tcPr>
                </a:tc>
              </a:tr>
            </a:tbl>
          </a:graphicData>
        </a:graphic>
      </p:graphicFrame>
      <p:sp>
        <p:nvSpPr>
          <p:cNvPr id="182" name="Shape 3"/>
          <p:cNvSpPr/>
          <p:nvPr/>
        </p:nvSpPr>
        <p:spPr>
          <a:xfrm>
            <a:off x="6263640" y="1572840"/>
            <a:ext cx="5439960" cy="1736640"/>
          </a:xfrm>
          <a:prstGeom prst="roundRect">
            <a:avLst>
              <a:gd name="adj" fmla="val 4211"/>
            </a:avLst>
          </a:prstGeom>
          <a:solidFill>
            <a:srgbClr val="EEF4F6"/>
          </a:solidFill>
          <a:ln w="9525">
            <a:solidFill>
              <a:srgbClr val="C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6492240" y="1572840"/>
            <a:ext cx="49827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0B2E3B"/>
                </a:solidFill>
                <a:effectLst/>
                <a:uFillTx/>
                <a:latin typeface="Calibri"/>
                <a:ea typeface="Calibri"/>
              </a:rPr>
              <a:t>Race and gender gaps are modest — age is the problem.  </a:t>
            </a:r>
            <a:r>
              <a:rPr lang="en-US" sz="103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The two large racial groups get near-identical flag rates and recall. Patients over 80 are flagged most often (23.0%) while the model ranks them worst (ROC-AUC 0.613) — the tool spends disproportionate follow-up capacity where its ordering is least trustworthy. This is not fixable by tuning.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5"/>
          <p:cNvSpPr/>
          <p:nvPr/>
        </p:nvSpPr>
        <p:spPr>
          <a:xfrm>
            <a:off x="502920" y="3520440"/>
            <a:ext cx="5439960" cy="1736640"/>
          </a:xfrm>
          <a:prstGeom prst="roundRect">
            <a:avLst>
              <a:gd name="adj" fmla="val 4211"/>
            </a:avLst>
          </a:prstGeom>
          <a:solidFill>
            <a:srgbClr val="FBE4E0"/>
          </a:solidFill>
          <a:ln w="9525">
            <a:solidFill>
              <a:srgbClr val="F0B7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731520" y="3657600"/>
            <a:ext cx="4982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EQUITY EXPERIMENT — we tried the obvious fix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731520" y="3977640"/>
            <a:ext cx="498276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2A1C"/>
                </a:solidFill>
                <a:effectLst/>
                <a:uFillTx/>
                <a:latin typeface="Calibri"/>
                <a:ea typeface="Calibri"/>
              </a:rPr>
              <a:t>One capacity threshold per age band. Recall drops 40.2% → 39.7% (901 → 891 true positives); 80+ ROC-AUC is unchanged at 0.613 under both policies. </a:t>
            </a:r>
            <a:r>
              <a:rPr lang="en-US" sz="1000" b="1" u="none" strike="noStrike">
                <a:solidFill>
                  <a:srgbClr val="9E3423"/>
                </a:solidFill>
                <a:effectLst/>
                <a:uFillTx/>
                <a:latin typeface="Calibri"/>
                <a:ea typeface="Calibri"/>
              </a:rPr>
              <a:t>Thresholds move capacity — they cannot change ranking.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8"/>
          <p:cNvSpPr/>
          <p:nvPr/>
        </p:nvSpPr>
        <p:spPr>
          <a:xfrm>
            <a:off x="6263640" y="3520440"/>
            <a:ext cx="5439960" cy="1736640"/>
          </a:xfrm>
          <a:prstGeom prst="roundRect">
            <a:avLst>
              <a:gd name="adj" fmla="val 4211"/>
            </a:avLst>
          </a:prstGeom>
          <a:solidFill>
            <a:srgbClr val="E2F0E9"/>
          </a:solidFill>
          <a:ln w="9525">
            <a:solidFill>
              <a:srgbClr val="AEDB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6492240" y="3657600"/>
            <a:ext cx="4982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F5F44"/>
                </a:solidFill>
                <a:effectLst/>
                <a:uFillTx/>
                <a:latin typeface="Calibri"/>
                <a:ea typeface="Calibri"/>
              </a:rPr>
              <a:t>ROOT CAUSE — a data limit, not a modelling one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6492240" y="3977640"/>
            <a:ext cx="498276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D4D39"/>
                </a:solidFill>
                <a:effectLst/>
                <a:uFillTx/>
                <a:latin typeface="Calibri"/>
                <a:ea typeface="Calibri"/>
              </a:rPr>
              <a:t>Every feature’s signal decays with age — an 80+ patient carries about a third the separable signal of a &lt;40 patient. A dedicated 80+ model is worse (0.588 vs 0.613): exposure to younger patients helps rank older ones. </a:t>
            </a:r>
            <a:r>
              <a:rPr lang="en-US" sz="1000" b="1" u="none" strike="noStrike">
                <a:solidFill>
                  <a:srgbClr val="1F5F44"/>
                </a:solidFill>
                <a:effectLst/>
                <a:uFillTx/>
                <a:latin typeface="Calibri"/>
                <a:ea typeface="Calibri"/>
              </a:rPr>
              <a:t>Closing this needs frailty and functional-status data this dataset doesn’t carry.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11597400" y="6492240"/>
            <a:ext cx="365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E9AA5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10241280" y="-1645920"/>
            <a:ext cx="3839760" cy="3839760"/>
          </a:xfrm>
          <a:prstGeom prst="ellipse">
            <a:avLst/>
          </a:prstGeom>
          <a:solidFill>
            <a:srgbClr val="1238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502920" y="41148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2E8FA8"/>
                </a:solidFill>
                <a:effectLst/>
                <a:uFillTx/>
                <a:latin typeface="Calibri"/>
                <a:ea typeface="Calibri"/>
              </a:rPr>
              <a:t>DEPLOYMENT &amp; WHAT WE'D TELL A HOSPITAL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502920" y="685800"/>
            <a:ext cx="11154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Decision support, not autonomous action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502920" y="123444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The model produces a ranked call list. A clinician decides what to do with it.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502920" y="1691640"/>
            <a:ext cx="5577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19" strike="noStrike">
                <a:solidFill>
                  <a:srgbClr val="2E8FA8"/>
                </a:solidFill>
                <a:effectLst/>
                <a:uFillTx/>
                <a:latin typeface="Calibri"/>
                <a:ea typeface="Calibri"/>
              </a:rPr>
              <a:t>ARCHITECTURE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502920" y="1993320"/>
            <a:ext cx="5577120" cy="657720"/>
          </a:xfrm>
          <a:prstGeom prst="roundRect">
            <a:avLst>
              <a:gd name="adj" fmla="val 8333"/>
            </a:avLst>
          </a:prstGeom>
          <a:solidFill>
            <a:srgbClr val="0F3D4F"/>
          </a:solidFill>
          <a:ln w="9525">
            <a:solidFill>
              <a:srgbClr val="1C54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685800" y="1993320"/>
            <a:ext cx="52113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6FC6D9"/>
                </a:solidFill>
                <a:effectLst/>
                <a:uFillTx/>
                <a:latin typeface="Calibri"/>
                <a:ea typeface="Calibri"/>
              </a:rPr>
              <a:t>Nightly batch  —  </a:t>
            </a:r>
            <a:r>
              <a:rPr lang="en-US" sz="970" b="0" u="none" strike="noStrike">
                <a:solidFill>
                  <a:srgbClr val="DCE9EC"/>
                </a:solidFill>
                <a:effectLst/>
                <a:uFillTx/>
                <a:latin typeface="Calibri"/>
                <a:ea typeface="Calibri"/>
              </a:rPr>
              <a:t>The discharge list becomes a ranked worklist, written straight into the follow-up team’s queue.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7"/>
          <p:cNvSpPr/>
          <p:nvPr/>
        </p:nvSpPr>
        <p:spPr>
          <a:xfrm>
            <a:off x="502920" y="2770560"/>
            <a:ext cx="5577120" cy="657720"/>
          </a:xfrm>
          <a:prstGeom prst="roundRect">
            <a:avLst>
              <a:gd name="adj" fmla="val 8333"/>
            </a:avLst>
          </a:prstGeom>
          <a:solidFill>
            <a:srgbClr val="0F3D4F"/>
          </a:solidFill>
          <a:ln w="9525">
            <a:solidFill>
              <a:srgbClr val="1C54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685800" y="2770560"/>
            <a:ext cx="52113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6FC6D9"/>
                </a:solidFill>
                <a:effectLst/>
                <a:uFillTx/>
                <a:latin typeface="Calibri"/>
                <a:ea typeface="Calibri"/>
              </a:rPr>
              <a:t>Real-time endpoint  —  </a:t>
            </a:r>
            <a:r>
              <a:rPr lang="en-US" sz="970" b="0" u="none" strike="noStrike">
                <a:solidFill>
                  <a:srgbClr val="DCE9EC"/>
                </a:solidFill>
                <a:effectLst/>
                <a:uFillTx/>
                <a:latin typeface="Calibri"/>
                <a:ea typeface="Calibri"/>
              </a:rPr>
              <a:t>FastAPI /score returns risk, flag, band and disclaimer. Sub-millisecond tree inference.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9"/>
          <p:cNvSpPr/>
          <p:nvPr/>
        </p:nvSpPr>
        <p:spPr>
          <a:xfrm>
            <a:off x="502920" y="3547800"/>
            <a:ext cx="5577120" cy="657720"/>
          </a:xfrm>
          <a:prstGeom prst="roundRect">
            <a:avLst>
              <a:gd name="adj" fmla="val 8333"/>
            </a:avLst>
          </a:prstGeom>
          <a:solidFill>
            <a:srgbClr val="0F3D4F"/>
          </a:solidFill>
          <a:ln w="9525">
            <a:solidFill>
              <a:srgbClr val="1C54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685800" y="3547800"/>
            <a:ext cx="52113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6FC6D9"/>
                </a:solidFill>
                <a:effectLst/>
                <a:uFillTx/>
                <a:latin typeface="Calibri"/>
                <a:ea typeface="Calibri"/>
              </a:rPr>
              <a:t>One 5 MB artefact  —  </a:t>
            </a:r>
            <a:r>
              <a:rPr lang="en-US" sz="970" b="0" u="none" strike="noStrike">
                <a:solidFill>
                  <a:srgbClr val="DCE9EC"/>
                </a:solidFill>
                <a:effectLst/>
                <a:uFillTx/>
                <a:latin typeface="Calibri"/>
                <a:ea typeface="Calibri"/>
              </a:rPr>
              <a:t>Preprocessing, booster, calibrator and threshold travel together in a single joblib file.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502920" y="4370760"/>
            <a:ext cx="5577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2634A"/>
                </a:solidFill>
                <a:effectLst/>
                <a:uFillTx/>
                <a:latin typeface="Calibri"/>
                <a:ea typeface="Calibri"/>
              </a:rPr>
              <a:t>Two serving bugs offline metrics could never have caught: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502920" y="4645080"/>
            <a:ext cx="55771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930" b="0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• Feature engineering required the readmitted label — which doesn’t exist at discharge.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• prior_encounters was counted per-batch — a single-row request always came out zero, killing the model’s strongest feature.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502920" y="5330880"/>
            <a:ext cx="5577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30" b="0" i="1" u="none" strike="noStrike">
                <a:solidFill>
                  <a:srgbClr val="8FAAB5"/>
                </a:solidFill>
                <a:effectLst/>
                <a:uFillTx/>
                <a:latin typeface="Calibri"/>
                <a:ea typeface="Calibri"/>
              </a:rPr>
              <a:t>Monitor flag rate, realised-vs-predicted readmission rate, calibration drift and subgroup gaps — on a schedule, not once at launch.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4"/>
          <p:cNvSpPr/>
          <p:nvPr/>
        </p:nvSpPr>
        <p:spPr>
          <a:xfrm>
            <a:off x="6400800" y="1691640"/>
            <a:ext cx="5257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60" strike="noStrike">
                <a:solidFill>
                  <a:srgbClr val="F2634A"/>
                </a:solidFill>
                <a:effectLst/>
                <a:uFillTx/>
                <a:latin typeface="Calibri"/>
                <a:ea typeface="Calibri"/>
              </a:rPr>
              <a:t>WHAT WE’D SAY TO A HOSPITAL — honest about the ceiling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5"/>
          <p:cNvSpPr/>
          <p:nvPr/>
        </p:nvSpPr>
        <p:spPr>
          <a:xfrm>
            <a:off x="6400800" y="2039040"/>
            <a:ext cx="90720" cy="90720"/>
          </a:xfrm>
          <a:prstGeom prst="ellipse">
            <a:avLst/>
          </a:prstGeom>
          <a:solidFill>
            <a:srgbClr val="F26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6629400" y="1938600"/>
            <a:ext cx="5028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Discrimination is modest — and that’s a ceiling on method.  </a:t>
            </a:r>
            <a:r>
              <a:rPr lang="en-US" sz="980" b="0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0.684 sits inside the 0.64–0.70 band published for this dataset. Seven approaches converged there.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7"/>
          <p:cNvSpPr/>
          <p:nvPr/>
        </p:nvSpPr>
        <p:spPr>
          <a:xfrm>
            <a:off x="6400800" y="2770560"/>
            <a:ext cx="90720" cy="90720"/>
          </a:xfrm>
          <a:prstGeom prst="ellipse">
            <a:avLst/>
          </a:prstGeom>
          <a:solidFill>
            <a:srgbClr val="F26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8"/>
          <p:cNvSpPr/>
          <p:nvPr/>
        </p:nvSpPr>
        <p:spPr>
          <a:xfrm>
            <a:off x="6629400" y="2670120"/>
            <a:ext cx="5028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Insurance coding is not physiology.  </a:t>
            </a:r>
            <a:r>
              <a:rPr lang="en-US" sz="980" b="0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payer_code_Unknown is a top-6 driver — it may not transfer to a new hospital; first thing to re-examine on local data.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9"/>
          <p:cNvSpPr/>
          <p:nvPr/>
        </p:nvSpPr>
        <p:spPr>
          <a:xfrm>
            <a:off x="6400800" y="3502080"/>
            <a:ext cx="90720" cy="90720"/>
          </a:xfrm>
          <a:prstGeom prst="ellipse">
            <a:avLst/>
          </a:prstGeom>
          <a:solidFill>
            <a:srgbClr val="F26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0"/>
          <p:cNvSpPr/>
          <p:nvPr/>
        </p:nvSpPr>
        <p:spPr>
          <a:xfrm>
            <a:off x="6629400" y="3401640"/>
            <a:ext cx="5028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data is 1999–2008.  </a:t>
            </a:r>
            <a:r>
              <a:rPr lang="en-US" sz="980" b="0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Coding standards, drug availability and discharge policy have all moved. Recalibration is mandatory.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1"/>
          <p:cNvSpPr/>
          <p:nvPr/>
        </p:nvSpPr>
        <p:spPr>
          <a:xfrm>
            <a:off x="6400800" y="4233600"/>
            <a:ext cx="90720" cy="90720"/>
          </a:xfrm>
          <a:prstGeom prst="ellipse">
            <a:avLst/>
          </a:prstGeom>
          <a:solidFill>
            <a:srgbClr val="F26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2"/>
          <p:cNvSpPr/>
          <p:nvPr/>
        </p:nvSpPr>
        <p:spPr>
          <a:xfrm>
            <a:off x="6629400" y="4133160"/>
            <a:ext cx="5028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oldest patients cannot be ranked well — and we know why.  </a:t>
            </a:r>
            <a:r>
              <a:rPr lang="en-US" sz="980" b="0" u="none" strike="noStrike">
                <a:solidFill>
                  <a:srgbClr val="C9DCE3"/>
                </a:solidFill>
                <a:effectLst/>
                <a:uFillTx/>
                <a:latin typeface="Calibri"/>
                <a:ea typeface="Calibri"/>
              </a:rPr>
              <a:t>Every feature’s signal decays with age. Three fixes failed; it needs frailty data this dataset lacks.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3"/>
          <p:cNvSpPr/>
          <p:nvPr/>
        </p:nvSpPr>
        <p:spPr>
          <a:xfrm>
            <a:off x="502920" y="5989320"/>
            <a:ext cx="11182320" cy="502200"/>
          </a:xfrm>
          <a:prstGeom prst="roundRect">
            <a:avLst>
              <a:gd name="adj" fmla="val 14545"/>
            </a:avLst>
          </a:prstGeom>
          <a:solidFill>
            <a:srgbClr val="0F3D4F"/>
          </a:solidFill>
          <a:ln w="9525">
            <a:solidFill>
              <a:srgbClr val="1C54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4"/>
          <p:cNvSpPr/>
          <p:nvPr/>
        </p:nvSpPr>
        <p:spPr>
          <a:xfrm>
            <a:off x="731520" y="598932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FC6D9"/>
                </a:solidFill>
                <a:effectLst/>
                <a:uFillTx/>
                <a:latin typeface="Courier New"/>
                <a:ea typeface="Courier New"/>
              </a:rPr>
              <a:t>github.com/sgoel2be24-cyber/hospital-readmission-risk</a:t>
            </a:r>
            <a:r>
              <a:rPr lang="en-US" sz="950" b="0" u="none" strike="noStrike">
                <a:solidFill>
                  <a:srgbClr val="8FAAB5"/>
                </a:solidFill>
                <a:effectLst/>
                <a:uFillTx/>
                <a:latin typeface="Courier New"/>
                <a:ea typeface="Courier New"/>
              </a:rPr>
              <a:t>    make setup &amp;&amp; make data &amp;&amp; make train   ·   27 tests   ·   ~60s end to end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5"/>
          <p:cNvSpPr/>
          <p:nvPr/>
        </p:nvSpPr>
        <p:spPr>
          <a:xfrm>
            <a:off x="11597400" y="6492240"/>
            <a:ext cx="365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97A6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2026-08-08T10:35:49Z</dcterms:created>
  <dc:creator>PptxGenJS</dc:creator>
  <dc:description/>
  <dc:language>en-US</dc:language>
  <cp:lastModifiedBy/>
  <cp:lastPrinted>2026-08-08T16:54:03Z</cp:lastPrinted>
  <dcterms:modified xsi:type="dcterms:W3CDTF">2026-08-08T16:56:11Z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