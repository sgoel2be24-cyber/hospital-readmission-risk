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9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presProps" Target="presProps.xml"/>
</Relationships>
</file>

<file path=ppt/charts/_rels/chart1.xml.rels><?xml version="1.0" encoding="UTF-8"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Test PR-AUC</c:v>
                </c:pt>
              </c:strCache>
            </c:strRef>
          </c:tx>
          <c:spPr>
            <a:solidFill>
              <a:srgbClr val="7E9AA5"/>
            </a:solidFill>
            <a:ln w="0">
              <a:noFill/>
            </a:ln>
          </c:spPr>
          <c:invertIfNegative val="0"/>
          <c:dPt>
            <c:idx val="0"/>
            <c:invertIfNegative val="0"/>
            <c:spPr>
              <a:solidFill>
                <a:srgbClr val="7E9AA5"/>
              </a:solidFill>
              <a:ln w="0">
                <a:noFill/>
              </a:ln>
            </c:spPr>
          </c:dPt>
          <c:dPt>
            <c:idx val="1"/>
            <c:invertIfNegative val="0"/>
            <c:spPr>
              <a:solidFill>
                <a:srgbClr val="2E8FA8"/>
              </a:solidFill>
              <a:ln w="0">
                <a:noFill/>
              </a:ln>
            </c:spPr>
          </c:dPt>
          <c:dPt>
            <c:idx val="2"/>
            <c:invertIfNegative val="0"/>
            <c:spPr>
              <a:solidFill>
                <a:srgbClr val="2E8FA8"/>
              </a:solidFill>
              <a:ln w="0">
                <a:noFill/>
              </a:ln>
            </c:spPr>
          </c:dPt>
          <c:dPt>
            <c:idx val="3"/>
            <c:invertIfNegative val="0"/>
            <c:spPr>
              <a:solidFill>
                <a:srgbClr val="2E8FA8"/>
              </a:solidFill>
              <a:ln w="0">
                <a:noFill/>
              </a:ln>
            </c:spPr>
          </c:dPt>
          <c:dPt>
            <c:idx val="4"/>
            <c:invertIfNegative val="0"/>
            <c:spPr>
              <a:solidFill>
                <a:srgbClr val="F2634A"/>
              </a:solidFill>
              <a:ln w="0">
                <a:noFill/>
              </a:ln>
            </c:spPr>
          </c:dPt>
          <c:dPt>
            <c:idx val="5"/>
            <c:invertIfNegative val="0"/>
            <c:spPr>
              <a:solidFill>
                <a:srgbClr val="2E8FA8"/>
              </a:solidFill>
              <a:ln w="0">
                <a:noFill/>
              </a:ln>
            </c:spPr>
          </c:dPt>
          <c:dLbls>
            <c:dLbl>
              <c:idx val="0"/>
              <c:numFmt formatCode="0.000" sourceLinked="0"/>
              <c:txPr>
                <a:bodyPr wrap="square"/>
                <a:lstStyle/>
                <a:p>
                  <a:pPr>
                    <a:defRPr sz="950" b="0" u="none" strike="noStrike">
                      <a:solidFill>
                        <a:srgbClr val="0B2E3B"/>
                      </a:solidFill>
                      <a:uFillTx/>
                      <a:latin typeface="Arial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1"/>
              <c:numFmt formatCode="0.000" sourceLinked="0"/>
              <c:txPr>
                <a:bodyPr wrap="square"/>
                <a:lstStyle/>
                <a:p>
                  <a:pPr>
                    <a:defRPr sz="950" b="0" u="none" strike="noStrike">
                      <a:solidFill>
                        <a:srgbClr val="0B2E3B"/>
                      </a:solidFill>
                      <a:uFillTx/>
                      <a:latin typeface="Arial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2"/>
              <c:numFmt formatCode="0.000" sourceLinked="0"/>
              <c:txPr>
                <a:bodyPr wrap="square"/>
                <a:lstStyle/>
                <a:p>
                  <a:pPr>
                    <a:defRPr sz="950" b="0" u="none" strike="noStrike">
                      <a:solidFill>
                        <a:srgbClr val="0B2E3B"/>
                      </a:solidFill>
                      <a:uFillTx/>
                      <a:latin typeface="Arial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3"/>
              <c:numFmt formatCode="0.000" sourceLinked="0"/>
              <c:txPr>
                <a:bodyPr wrap="square"/>
                <a:lstStyle/>
                <a:p>
                  <a:pPr>
                    <a:defRPr sz="950" b="0" u="none" strike="noStrike">
                      <a:solidFill>
                        <a:srgbClr val="0B2E3B"/>
                      </a:solidFill>
                      <a:uFillTx/>
                      <a:latin typeface="Arial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4"/>
              <c:numFmt formatCode="0.000" sourceLinked="0"/>
              <c:txPr>
                <a:bodyPr wrap="square"/>
                <a:lstStyle/>
                <a:p>
                  <a:pPr>
                    <a:defRPr sz="950" b="0" u="none" strike="noStrike">
                      <a:solidFill>
                        <a:srgbClr val="0B2E3B"/>
                      </a:solidFill>
                      <a:uFillTx/>
                      <a:latin typeface="Arial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5"/>
              <c:numFmt formatCode="0.000" sourceLinked="0"/>
              <c:txPr>
                <a:bodyPr wrap="square"/>
                <a:lstStyle/>
                <a:p>
                  <a:pPr>
                    <a:defRPr sz="950" b="0" u="none" strike="noStrike">
                      <a:solidFill>
                        <a:srgbClr val="0B2E3B"/>
                      </a:solidFill>
                      <a:uFillTx/>
                      <a:latin typeface="Arial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numFmt formatCode="0.000" sourceLinked="0"/>
            <c:txPr>
              <a:bodyPr wrap="square"/>
              <a:lstStyle/>
              <a:p>
                <a:pPr>
                  <a:defRPr sz="950" b="0" u="none" strike="noStrike">
                    <a:solidFill>
                      <a:srgbClr val="0B2E3B"/>
                    </a:solidFill>
                    <a:uFillTx/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6"/>
                <c:pt idx="0">
                  <c:v>Dummy</c:v>
                </c:pt>
                <c:pt idx="1">
                  <c:v>Log. reg.</c:v>
                </c:pt>
                <c:pt idx="2">
                  <c:v>Random
forest</c:v>
                </c:pt>
                <c:pt idx="3">
                  <c:v>XGBoost</c:v>
                </c:pt>
                <c:pt idx="4">
                  <c:v>LightGBM</c:v>
                </c:pt>
                <c:pt idx="5">
                  <c:v>MLP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6"/>
                <c:pt idx="0">
                  <c:v>0.114</c:v>
                </c:pt>
                <c:pt idx="1">
                  <c:v>0.213</c:v>
                </c:pt>
                <c:pt idx="2">
                  <c:v>0.225</c:v>
                </c:pt>
                <c:pt idx="3">
                  <c:v>0.235</c:v>
                </c:pt>
                <c:pt idx="4">
                  <c:v>0.238</c:v>
                </c:pt>
                <c:pt idx="5">
                  <c:v>0.222</c:v>
                </c:pt>
              </c:numCache>
            </c:numRef>
          </c:val>
        </c:ser>
        <c:gapWidth val="150"/>
        <c:overlap val="0"/>
        <c:axId val="74414324"/>
        <c:axId val="17049384"/>
      </c:barChart>
      <c:catAx>
        <c:axId val="7441432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950" b="0" u="none" strike="noStrike">
                <a:solidFill>
                  <a:srgbClr val="5A7683"/>
                </a:solidFill>
                <a:uFillTx/>
                <a:latin typeface="Arial"/>
              </a:defRPr>
            </a:pPr>
          </a:p>
        </c:txPr>
        <c:crossAx val="17049384"/>
        <c:crosses val="autoZero"/>
        <c:auto val="1"/>
        <c:lblAlgn val="ctr"/>
        <c:lblOffset val="100"/>
        <c:noMultiLvlLbl val="0"/>
      </c:catAx>
      <c:valAx>
        <c:axId val="17049384"/>
        <c:scaling>
          <c:orientation val="minMax"/>
          <c:max val="0.27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000000"/>
                </a:solidFill>
                <a:uFillTx/>
                <a:latin typeface="Arial"/>
              </a:defRPr>
            </a:pPr>
          </a:p>
        </c:txPr>
        <c:crossAx val="74414324"/>
        <c:crossBetween val="between"/>
      </c:valAx>
      <c:spPr>
        <a:solidFill>
          <a:srgbClr val="FFFFFF"/>
        </a:solidFill>
        <a:ln w="0">
          <a:noFill/>
        </a:ln>
      </c:spPr>
    </c:plotArea>
    <c:plotVisOnly val="1"/>
    <c:dispBlanksAs val="span"/>
  </c:chart>
  <c:spPr>
    <a:noFill/>
    <a:ln w="0">
      <a:noFill/>
    </a:ln>
  </c:spPr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style1.xml><?xml version="1.0" encoding="utf-8"?>
<cs:chartStyle xmlns:cs="http://schemas.microsoft.com/office/drawing/2012/chartStyle" xmlns:a="http://schemas.openxmlformats.org/drawingml/2006/main" id="419">
  <cs:axisTitle>
    <cs:lnRef idx="0"/>
    <cs:fillRef idx="0"/>
    <cs:effectRef idx="0"/>
    <cs:fontRef idx="minor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C6D59B0E-6E6C-4C12-9EFA-AB72D21E5DCC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87EFC8C-2C41-49D4-9C77-848D5995713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2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BD31692-6E3D-428A-A2A9-F0CD9897F53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2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0BA68FC-B7C9-4BF7-88DC-5DC31F3E655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070EFF5-F9BD-4584-AECE-FE49EFA4F3A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3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8B780F2-F29A-455A-A6E4-C572CC9C141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3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DFB4035-20A3-4EF6-A99D-38D054E4B5C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3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A0166F8-9D30-4E7D-815D-FC30050B3EC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CED5050-3F15-4EBF-971D-96AF383F78F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4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D2FCB10-4FF0-477F-88C5-6715BBF7A1F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2E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9692640" y="-1463040"/>
            <a:ext cx="4205880" cy="4205880"/>
          </a:xfrm>
          <a:prstGeom prst="ellipse">
            <a:avLst/>
          </a:prstGeom>
          <a:solidFill>
            <a:srgbClr val="1238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10972800" y="3291840"/>
            <a:ext cx="2742840" cy="2742840"/>
          </a:xfrm>
          <a:prstGeom prst="ellipse">
            <a:avLst/>
          </a:prstGeom>
          <a:solidFill>
            <a:srgbClr val="0F344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640080" y="685800"/>
            <a:ext cx="8229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pc="159" strike="noStrike">
                <a:solidFill>
                  <a:srgbClr val="2E8FA8"/>
                </a:solidFill>
                <a:effectLst/>
                <a:uFillTx/>
                <a:latin typeface="Calibri"/>
                <a:ea typeface="Calibri"/>
              </a:rPr>
              <a:t>ML BUBBLE 2026   ·   TE-BE DESIGN &amp; SOLVE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3"/>
          <p:cNvSpPr/>
          <p:nvPr/>
        </p:nvSpPr>
        <p:spPr>
          <a:xfrm>
            <a:off x="621720" y="1143000"/>
            <a:ext cx="868644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46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Predicting 30-Day</a:t>
            </a:r>
            <a:endParaRPr lang="en-US" sz="4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46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Hospital Readmission</a:t>
            </a:r>
            <a:endParaRPr lang="en-US" sz="4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4"/>
          <p:cNvSpPr/>
          <p:nvPr/>
        </p:nvSpPr>
        <p:spPr>
          <a:xfrm>
            <a:off x="640080" y="2971800"/>
            <a:ext cx="758916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450" b="0" i="1" u="none" strike="noStrike">
                <a:solidFill>
                  <a:srgbClr val="C9DCE3"/>
                </a:solidFill>
                <a:effectLst/>
                <a:uFillTx/>
                <a:latin typeface="Calibri"/>
                <a:ea typeface="Calibri"/>
              </a:rPr>
              <a:t>Turning 101,766 discharge records into a ranked call list for a follow-up team that can only reach one patient in five.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Shape 5"/>
          <p:cNvSpPr/>
          <p:nvPr/>
        </p:nvSpPr>
        <p:spPr>
          <a:xfrm>
            <a:off x="640080" y="3977640"/>
            <a:ext cx="2605680" cy="1416960"/>
          </a:xfrm>
          <a:prstGeom prst="roundRect">
            <a:avLst>
              <a:gd name="adj" fmla="val 5161"/>
            </a:avLst>
          </a:prstGeom>
          <a:solidFill>
            <a:srgbClr val="0F3D4F"/>
          </a:solidFill>
          <a:ln w="12700">
            <a:solidFill>
              <a:srgbClr val="1C546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6"/>
          <p:cNvSpPr/>
          <p:nvPr/>
        </p:nvSpPr>
        <p:spPr>
          <a:xfrm>
            <a:off x="640080" y="4142160"/>
            <a:ext cx="26056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6FC6D9"/>
                </a:solidFill>
                <a:effectLst/>
                <a:uFillTx/>
                <a:latin typeface="Cambria"/>
                <a:ea typeface="Cambria"/>
              </a:rPr>
              <a:t>40.2%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7"/>
          <p:cNvSpPr/>
          <p:nvPr/>
        </p:nvSpPr>
        <p:spPr>
          <a:xfrm>
            <a:off x="777240" y="4846320"/>
            <a:ext cx="23313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C9DCE3"/>
                </a:solidFill>
                <a:effectLst/>
                <a:uFillTx/>
                <a:latin typeface="Calibri"/>
                <a:ea typeface="Calibri"/>
              </a:rPr>
              <a:t>of readmissions caught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Shape 8"/>
          <p:cNvSpPr/>
          <p:nvPr/>
        </p:nvSpPr>
        <p:spPr>
          <a:xfrm>
            <a:off x="3566160" y="3977640"/>
            <a:ext cx="2605680" cy="1416960"/>
          </a:xfrm>
          <a:prstGeom prst="roundRect">
            <a:avLst>
              <a:gd name="adj" fmla="val 5161"/>
            </a:avLst>
          </a:prstGeom>
          <a:solidFill>
            <a:srgbClr val="0F3D4F"/>
          </a:solidFill>
          <a:ln w="12700">
            <a:solidFill>
              <a:srgbClr val="1C546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9"/>
          <p:cNvSpPr/>
          <p:nvPr/>
        </p:nvSpPr>
        <p:spPr>
          <a:xfrm>
            <a:off x="3566160" y="4142160"/>
            <a:ext cx="26056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6FC6D9"/>
                </a:solidFill>
                <a:effectLst/>
                <a:uFillTx/>
                <a:latin typeface="Cambria"/>
                <a:ea typeface="Cambria"/>
              </a:rPr>
              <a:t>2.05×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0"/>
          <p:cNvSpPr/>
          <p:nvPr/>
        </p:nvSpPr>
        <p:spPr>
          <a:xfrm>
            <a:off x="3703320" y="4846320"/>
            <a:ext cx="23313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C9DCE3"/>
                </a:solidFill>
                <a:effectLst/>
                <a:uFillTx/>
                <a:latin typeface="Calibri"/>
                <a:ea typeface="Calibri"/>
              </a:rPr>
              <a:t>lift over random calling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Shape 11"/>
          <p:cNvSpPr/>
          <p:nvPr/>
        </p:nvSpPr>
        <p:spPr>
          <a:xfrm>
            <a:off x="6492240" y="3977640"/>
            <a:ext cx="2605680" cy="1416960"/>
          </a:xfrm>
          <a:prstGeom prst="roundRect">
            <a:avLst>
              <a:gd name="adj" fmla="val 5161"/>
            </a:avLst>
          </a:prstGeom>
          <a:solidFill>
            <a:srgbClr val="0F3D4F"/>
          </a:solidFill>
          <a:ln w="12700">
            <a:solidFill>
              <a:srgbClr val="1C546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12"/>
          <p:cNvSpPr/>
          <p:nvPr/>
        </p:nvSpPr>
        <p:spPr>
          <a:xfrm>
            <a:off x="6492240" y="4142160"/>
            <a:ext cx="26056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6FC6D9"/>
                </a:solidFill>
                <a:effectLst/>
                <a:uFillTx/>
                <a:latin typeface="Cambria"/>
                <a:ea typeface="Cambria"/>
              </a:rPr>
              <a:t>0.238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13"/>
          <p:cNvSpPr/>
          <p:nvPr/>
        </p:nvSpPr>
        <p:spPr>
          <a:xfrm>
            <a:off x="6629400" y="4846320"/>
            <a:ext cx="23313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C9DCE3"/>
                </a:solidFill>
                <a:effectLst/>
                <a:uFillTx/>
                <a:latin typeface="Calibri"/>
                <a:ea typeface="Calibri"/>
              </a:rPr>
              <a:t>PR-AUC vs 0.113 base rate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14"/>
          <p:cNvSpPr/>
          <p:nvPr/>
        </p:nvSpPr>
        <p:spPr>
          <a:xfrm>
            <a:off x="640080" y="5806440"/>
            <a:ext cx="8229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i="1" u="none" strike="noStrike">
                <a:solidFill>
                  <a:srgbClr val="8FAAB5"/>
                </a:solidFill>
                <a:effectLst/>
                <a:uFillTx/>
                <a:latin typeface="Calibri"/>
                <a:ea typeface="Calibri"/>
              </a:rPr>
              <a:t>Held-out test set  ·  19,773 encounters  ·  13,998 patients unseen in training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15"/>
          <p:cNvSpPr/>
          <p:nvPr/>
        </p:nvSpPr>
        <p:spPr>
          <a:xfrm>
            <a:off x="11597400" y="6492240"/>
            <a:ext cx="3654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E97A6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0"/>
          <p:cNvSpPr/>
          <p:nvPr/>
        </p:nvSpPr>
        <p:spPr>
          <a:xfrm>
            <a:off x="502920" y="384120"/>
            <a:ext cx="5486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139" strike="noStrike">
                <a:solidFill>
                  <a:srgbClr val="12556B"/>
                </a:solidFill>
                <a:effectLst/>
                <a:uFillTx/>
                <a:latin typeface="Calibri"/>
                <a:ea typeface="Calibri"/>
              </a:rPr>
              <a:t>THE PROBLEM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1"/>
          <p:cNvSpPr/>
          <p:nvPr/>
        </p:nvSpPr>
        <p:spPr>
          <a:xfrm>
            <a:off x="502920" y="65844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0B2E3B"/>
                </a:solidFill>
                <a:effectLst/>
                <a:uFillTx/>
                <a:latin typeface="Cambria"/>
                <a:ea typeface="Cambria"/>
              </a:rPr>
              <a:t>A capacity problem, not a prediction problem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Shape 2"/>
          <p:cNvSpPr/>
          <p:nvPr/>
        </p:nvSpPr>
        <p:spPr>
          <a:xfrm>
            <a:off x="502920" y="1481400"/>
            <a:ext cx="5988960" cy="914040"/>
          </a:xfrm>
          <a:prstGeom prst="roundRect">
            <a:avLst>
              <a:gd name="adj" fmla="val 8000"/>
            </a:avLst>
          </a:prstGeom>
          <a:solidFill>
            <a:srgbClr val="EEF4F6"/>
          </a:solidFill>
          <a:ln w="9525">
            <a:solidFill>
              <a:srgbClr val="C9DC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3"/>
          <p:cNvSpPr/>
          <p:nvPr/>
        </p:nvSpPr>
        <p:spPr>
          <a:xfrm>
            <a:off x="731520" y="1481400"/>
            <a:ext cx="55317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650" b="1" i="1" u="none" strike="noStrike">
                <a:solidFill>
                  <a:srgbClr val="12556B"/>
                </a:solidFill>
                <a:effectLst/>
                <a:uFillTx/>
                <a:latin typeface="Cambria"/>
                <a:ea typeface="Cambria"/>
              </a:rPr>
              <a:t>“We can call 20% of today’s discharges. Which 20%?”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4"/>
          <p:cNvSpPr/>
          <p:nvPr/>
        </p:nvSpPr>
        <p:spPr>
          <a:xfrm>
            <a:off x="502920" y="2606040"/>
            <a:ext cx="5988960" cy="214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343080" indent="-343080" defTabSz="914400">
              <a:lnSpc>
                <a:spcPct val="116000"/>
              </a:lnSpc>
              <a:spcAft>
                <a:spcPts val="1001"/>
              </a:spcAft>
              <a:buClr>
                <a:srgbClr val="333333"/>
              </a:buClr>
              <a:buFont typeface="OpenSymbol"/>
              <a:buChar char="▪"/>
            </a:pPr>
            <a:r>
              <a:rPr lang="en-US" sz="125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About 1 in 9 diabetic discharges returns within 30 days — many are preventable: a phone call, a medication check, an earlier appointment.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16000"/>
              </a:lnSpc>
              <a:spcAft>
                <a:spcPts val="1001"/>
              </a:spcAft>
              <a:buClr>
                <a:srgbClr val="333333"/>
              </a:buClr>
              <a:buFont typeface="OpenSymbol"/>
              <a:buChar char="▪"/>
            </a:pPr>
            <a:r>
              <a:rPr lang="en-US" sz="125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A discharge-planning team can reach only a fraction of patients per day, so the useful question is which patients get that scarce attention.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16000"/>
              </a:lnSpc>
              <a:spcAft>
                <a:spcPts val="1001"/>
              </a:spcAft>
              <a:buClr>
                <a:srgbClr val="333333"/>
              </a:buClr>
              <a:buFont typeface="OpenSymbol"/>
              <a:buChar char="▪"/>
            </a:pPr>
            <a:r>
              <a:rPr lang="en-US" sz="125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The team works down a ranked list — ranking quality matters more than absolute probability, and the threshold comes from budget, not an arbitrary 0.5 cutoff.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Shape 5"/>
          <p:cNvSpPr/>
          <p:nvPr/>
        </p:nvSpPr>
        <p:spPr>
          <a:xfrm>
            <a:off x="502920" y="4892040"/>
            <a:ext cx="5988960" cy="868320"/>
          </a:xfrm>
          <a:prstGeom prst="roundRect">
            <a:avLst>
              <a:gd name="adj" fmla="val 8421"/>
            </a:avLst>
          </a:prstGeom>
          <a:solidFill>
            <a:srgbClr val="0B2E3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6"/>
          <p:cNvSpPr/>
          <p:nvPr/>
        </p:nvSpPr>
        <p:spPr>
          <a:xfrm>
            <a:off x="731520" y="4892040"/>
            <a:ext cx="553176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2E8FA8"/>
                </a:solidFill>
                <a:effectLst/>
                <a:uFillTx/>
                <a:latin typeface="Calibri"/>
                <a:ea typeface="Calibri"/>
              </a:rPr>
              <a:t>Consequence:  </a:t>
            </a:r>
            <a:r>
              <a:rPr lang="en-US" sz="125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the model is optimised for PR-AUC and recall-at-capacity — never accuracy.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Shape 7"/>
          <p:cNvSpPr/>
          <p:nvPr/>
        </p:nvSpPr>
        <p:spPr>
          <a:xfrm>
            <a:off x="6720840" y="1481400"/>
            <a:ext cx="4983120" cy="4278960"/>
          </a:xfrm>
          <a:prstGeom prst="roundRect">
            <a:avLst>
              <a:gd name="adj" fmla="val 1709"/>
            </a:avLst>
          </a:prstGeom>
          <a:solidFill>
            <a:srgbClr val="EEF4F6"/>
          </a:solidFill>
          <a:ln w="9525">
            <a:solidFill>
              <a:srgbClr val="C9DC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8"/>
          <p:cNvSpPr/>
          <p:nvPr/>
        </p:nvSpPr>
        <p:spPr>
          <a:xfrm>
            <a:off x="6995160" y="1691640"/>
            <a:ext cx="44344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119" strike="noStrike">
                <a:solidFill>
                  <a:srgbClr val="9E3423"/>
                </a:solidFill>
                <a:effectLst/>
                <a:uFillTx/>
                <a:latin typeface="Calibri"/>
                <a:ea typeface="Calibri"/>
              </a:rPr>
              <a:t>THE DATA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9"/>
          <p:cNvSpPr/>
          <p:nvPr/>
        </p:nvSpPr>
        <p:spPr>
          <a:xfrm>
            <a:off x="6995160" y="1938600"/>
            <a:ext cx="44344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0B2E3B"/>
                </a:solidFill>
                <a:effectLst/>
                <a:uFillTx/>
                <a:latin typeface="Cambria"/>
                <a:ea typeface="Cambria"/>
              </a:rPr>
              <a:t>Diabetes 130-US Hospitals, 1999–2008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10"/>
          <p:cNvSpPr/>
          <p:nvPr/>
        </p:nvSpPr>
        <p:spPr>
          <a:xfrm>
            <a:off x="6995160" y="2286000"/>
            <a:ext cx="44344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>
                <a:solidFill>
                  <a:srgbClr val="5A7683"/>
                </a:solidFill>
                <a:effectLst/>
                <a:uFillTx/>
                <a:latin typeface="Calibri"/>
                <a:ea typeface="Calibri"/>
              </a:rPr>
              <a:t>UCI ML Repository dataset 296 · 10 years across 130 hospitals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Shape 11"/>
          <p:cNvSpPr/>
          <p:nvPr/>
        </p:nvSpPr>
        <p:spPr>
          <a:xfrm>
            <a:off x="6995160" y="2743200"/>
            <a:ext cx="2080080" cy="86832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C9DC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12"/>
          <p:cNvSpPr/>
          <p:nvPr/>
        </p:nvSpPr>
        <p:spPr>
          <a:xfrm>
            <a:off x="6995160" y="2834640"/>
            <a:ext cx="20800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12556B"/>
                </a:solidFill>
                <a:effectLst/>
                <a:uFillTx/>
                <a:latin typeface="Cambria"/>
                <a:ea typeface="Cambria"/>
              </a:rPr>
              <a:t>101,766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13"/>
          <p:cNvSpPr/>
          <p:nvPr/>
        </p:nvSpPr>
        <p:spPr>
          <a:xfrm>
            <a:off x="7086600" y="3246120"/>
            <a:ext cx="18972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5A7683"/>
                </a:solidFill>
                <a:effectLst/>
                <a:uFillTx/>
                <a:latin typeface="Calibri"/>
                <a:ea typeface="Calibri"/>
              </a:rPr>
              <a:t>raw encounters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Shape 14"/>
          <p:cNvSpPr/>
          <p:nvPr/>
        </p:nvSpPr>
        <p:spPr>
          <a:xfrm>
            <a:off x="9349920" y="2743200"/>
            <a:ext cx="2080080" cy="86832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C9DC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15"/>
          <p:cNvSpPr/>
          <p:nvPr/>
        </p:nvSpPr>
        <p:spPr>
          <a:xfrm>
            <a:off x="9349920" y="2834640"/>
            <a:ext cx="20800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12556B"/>
                </a:solidFill>
                <a:effectLst/>
                <a:uFillTx/>
                <a:latin typeface="Cambria"/>
                <a:ea typeface="Cambria"/>
              </a:rPr>
              <a:t>71,518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16"/>
          <p:cNvSpPr/>
          <p:nvPr/>
        </p:nvSpPr>
        <p:spPr>
          <a:xfrm>
            <a:off x="9441360" y="3246120"/>
            <a:ext cx="18972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5A7683"/>
                </a:solidFill>
                <a:effectLst/>
                <a:uFillTx/>
                <a:latin typeface="Calibri"/>
                <a:ea typeface="Calibri"/>
              </a:rPr>
              <a:t>distinct patients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Shape 17"/>
          <p:cNvSpPr/>
          <p:nvPr/>
        </p:nvSpPr>
        <p:spPr>
          <a:xfrm>
            <a:off x="6995160" y="3840480"/>
            <a:ext cx="2080080" cy="86832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C9DC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18"/>
          <p:cNvSpPr/>
          <p:nvPr/>
        </p:nvSpPr>
        <p:spPr>
          <a:xfrm>
            <a:off x="6995160" y="3931920"/>
            <a:ext cx="20800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12556B"/>
                </a:solidFill>
                <a:effectLst/>
                <a:uFillTx/>
                <a:latin typeface="Cambria"/>
                <a:ea typeface="Cambria"/>
              </a:rPr>
              <a:t>99,340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19"/>
          <p:cNvSpPr/>
          <p:nvPr/>
        </p:nvSpPr>
        <p:spPr>
          <a:xfrm>
            <a:off x="7086600" y="4343400"/>
            <a:ext cx="18972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5A7683"/>
                </a:solidFill>
                <a:effectLst/>
                <a:uFillTx/>
                <a:latin typeface="Calibri"/>
                <a:ea typeface="Calibri"/>
              </a:rPr>
              <a:t>encounters modelled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20"/>
          <p:cNvSpPr/>
          <p:nvPr/>
        </p:nvSpPr>
        <p:spPr>
          <a:xfrm>
            <a:off x="9349920" y="3840480"/>
            <a:ext cx="2080080" cy="86832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C9DC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21"/>
          <p:cNvSpPr/>
          <p:nvPr/>
        </p:nvSpPr>
        <p:spPr>
          <a:xfrm>
            <a:off x="9349920" y="3931920"/>
            <a:ext cx="20800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12556B"/>
                </a:solidFill>
                <a:effectLst/>
                <a:uFillTx/>
                <a:latin typeface="Cambria"/>
                <a:ea typeface="Cambria"/>
              </a:rPr>
              <a:t>11.4%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22"/>
          <p:cNvSpPr/>
          <p:nvPr/>
        </p:nvSpPr>
        <p:spPr>
          <a:xfrm>
            <a:off x="9441360" y="4343400"/>
            <a:ext cx="18972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5A7683"/>
                </a:solidFill>
                <a:effectLst/>
                <a:uFillTx/>
                <a:latin typeface="Calibri"/>
                <a:ea typeface="Calibri"/>
              </a:rPr>
              <a:t>readmitted &lt;30 days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23"/>
          <p:cNvSpPr/>
          <p:nvPr/>
        </p:nvSpPr>
        <p:spPr>
          <a:xfrm>
            <a:off x="6995160" y="4892040"/>
            <a:ext cx="44344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B2E3B"/>
                </a:solidFill>
                <a:effectLst/>
                <a:uFillTx/>
                <a:latin typeface="Calibri"/>
                <a:ea typeface="Calibri"/>
              </a:rPr>
              <a:t>Binarised </a:t>
            </a:r>
            <a:r>
              <a:rPr lang="en-US" sz="10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&lt;30 vs everything else  •  </a:t>
            </a:r>
            <a:r>
              <a:rPr lang="en-US" sz="1000" b="1" u="none" strike="noStrike">
                <a:solidFill>
                  <a:srgbClr val="0B2E3B"/>
                </a:solidFill>
                <a:effectLst/>
                <a:uFillTx/>
                <a:latin typeface="Calibri"/>
                <a:ea typeface="Calibri"/>
              </a:rPr>
              <a:t>2,423 death/hospice</a:t>
            </a:r>
            <a:r>
              <a:rPr lang="en-US" sz="10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 discharges removed  •  '?' kept as an </a:t>
            </a:r>
            <a:r>
              <a:rPr lang="en-US" sz="1000" b="1" u="none" strike="noStrike">
                <a:solidFill>
                  <a:srgbClr val="0B2E3B"/>
                </a:solidFill>
                <a:effectLst/>
                <a:uFillTx/>
                <a:latin typeface="Calibri"/>
                <a:ea typeface="Calibri"/>
              </a:rPr>
              <a:t>explicit Unknown</a:t>
            </a:r>
            <a:r>
              <a:rPr lang="en-US" sz="10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 category — missingness carries signal  •  39 engineered features survive to modelling.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24"/>
          <p:cNvSpPr/>
          <p:nvPr/>
        </p:nvSpPr>
        <p:spPr>
          <a:xfrm>
            <a:off x="11597400" y="6492240"/>
            <a:ext cx="3654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E9AA5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Text 0"/>
          <p:cNvSpPr/>
          <p:nvPr/>
        </p:nvSpPr>
        <p:spPr>
          <a:xfrm>
            <a:off x="502920" y="384120"/>
            <a:ext cx="5486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139" strike="noStrike">
                <a:solidFill>
                  <a:srgbClr val="12556B"/>
                </a:solidFill>
                <a:effectLst/>
                <a:uFillTx/>
                <a:latin typeface="Calibri"/>
                <a:ea typeface="Calibri"/>
              </a:rPr>
              <a:t>METHOD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1"/>
          <p:cNvSpPr/>
          <p:nvPr/>
        </p:nvSpPr>
        <p:spPr>
          <a:xfrm>
            <a:off x="502920" y="65844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0B2E3B"/>
                </a:solidFill>
                <a:effectLst/>
                <a:uFillTx/>
                <a:latin typeface="Cambria"/>
                <a:ea typeface="Cambria"/>
              </a:rPr>
              <a:t>From raw encounter to ranked call list — without cheating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Shape 2"/>
          <p:cNvSpPr/>
          <p:nvPr/>
        </p:nvSpPr>
        <p:spPr>
          <a:xfrm>
            <a:off x="502920" y="1536120"/>
            <a:ext cx="1943640" cy="1737000"/>
          </a:xfrm>
          <a:prstGeom prst="roundRect">
            <a:avLst>
              <a:gd name="adj" fmla="val 4211"/>
            </a:avLst>
          </a:prstGeom>
          <a:solidFill>
            <a:srgbClr val="EEF4F6"/>
          </a:solidFill>
          <a:ln w="9525">
            <a:solidFill>
              <a:srgbClr val="C9DC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Shape 3"/>
          <p:cNvSpPr/>
          <p:nvPr/>
        </p:nvSpPr>
        <p:spPr>
          <a:xfrm>
            <a:off x="667440" y="1700640"/>
            <a:ext cx="328680" cy="328680"/>
          </a:xfrm>
          <a:prstGeom prst="ellipse">
            <a:avLst/>
          </a:prstGeom>
          <a:solidFill>
            <a:srgbClr val="1255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4"/>
          <p:cNvSpPr/>
          <p:nvPr/>
        </p:nvSpPr>
        <p:spPr>
          <a:xfrm>
            <a:off x="667440" y="170064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5"/>
          <p:cNvSpPr/>
          <p:nvPr/>
        </p:nvSpPr>
        <p:spPr>
          <a:xfrm>
            <a:off x="667440" y="2103120"/>
            <a:ext cx="16146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1" u="none" strike="noStrike">
                <a:solidFill>
                  <a:srgbClr val="0B2E3B"/>
                </a:solidFill>
                <a:effectLst/>
                <a:uFillTx/>
                <a:latin typeface="Cambria"/>
                <a:ea typeface="Cambria"/>
              </a:rPr>
              <a:t>Clean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6"/>
          <p:cNvSpPr/>
          <p:nvPr/>
        </p:nvSpPr>
        <p:spPr>
          <a:xfrm>
            <a:off x="667440" y="2432160"/>
            <a:ext cx="161460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4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Remove death/hospice discharges. Keep '?' as an explicit category.</a:t>
            </a:r>
            <a:endParaRPr lang="en-US" sz="9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Shape 7"/>
          <p:cNvSpPr/>
          <p:nvPr/>
        </p:nvSpPr>
        <p:spPr>
          <a:xfrm>
            <a:off x="2812680" y="1536120"/>
            <a:ext cx="1943640" cy="1737000"/>
          </a:xfrm>
          <a:prstGeom prst="roundRect">
            <a:avLst>
              <a:gd name="adj" fmla="val 4211"/>
            </a:avLst>
          </a:prstGeom>
          <a:solidFill>
            <a:srgbClr val="EEF4F6"/>
          </a:solidFill>
          <a:ln w="9525">
            <a:solidFill>
              <a:srgbClr val="C9DC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Shape 8"/>
          <p:cNvSpPr/>
          <p:nvPr/>
        </p:nvSpPr>
        <p:spPr>
          <a:xfrm>
            <a:off x="2977200" y="1700640"/>
            <a:ext cx="328680" cy="328680"/>
          </a:xfrm>
          <a:prstGeom prst="ellipse">
            <a:avLst/>
          </a:prstGeom>
          <a:solidFill>
            <a:srgbClr val="1255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9"/>
          <p:cNvSpPr/>
          <p:nvPr/>
        </p:nvSpPr>
        <p:spPr>
          <a:xfrm>
            <a:off x="2977200" y="170064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10"/>
          <p:cNvSpPr/>
          <p:nvPr/>
        </p:nvSpPr>
        <p:spPr>
          <a:xfrm>
            <a:off x="2977200" y="2103120"/>
            <a:ext cx="16146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1" u="none" strike="noStrike">
                <a:solidFill>
                  <a:srgbClr val="0B2E3B"/>
                </a:solidFill>
                <a:effectLst/>
                <a:uFillTx/>
                <a:latin typeface="Cambria"/>
                <a:ea typeface="Cambria"/>
              </a:rPr>
              <a:t>Engineer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11"/>
          <p:cNvSpPr/>
          <p:nvPr/>
        </p:nvSpPr>
        <p:spPr>
          <a:xfrm>
            <a:off x="2977200" y="2432160"/>
            <a:ext cx="161460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4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2,000+ ICD-9 codes → 9 chapters. Utilisation &amp; regimen-churn features.</a:t>
            </a:r>
            <a:endParaRPr lang="en-US" sz="9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Shape 12"/>
          <p:cNvSpPr/>
          <p:nvPr/>
        </p:nvSpPr>
        <p:spPr>
          <a:xfrm>
            <a:off x="5122440" y="1536120"/>
            <a:ext cx="1943640" cy="1737000"/>
          </a:xfrm>
          <a:prstGeom prst="roundRect">
            <a:avLst>
              <a:gd name="adj" fmla="val 4211"/>
            </a:avLst>
          </a:prstGeom>
          <a:solidFill>
            <a:srgbClr val="EEF4F6"/>
          </a:solidFill>
          <a:ln w="9525">
            <a:solidFill>
              <a:srgbClr val="C9DC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Shape 13"/>
          <p:cNvSpPr/>
          <p:nvPr/>
        </p:nvSpPr>
        <p:spPr>
          <a:xfrm>
            <a:off x="5286960" y="1700640"/>
            <a:ext cx="328680" cy="328680"/>
          </a:xfrm>
          <a:prstGeom prst="ellipse">
            <a:avLst/>
          </a:prstGeom>
          <a:solidFill>
            <a:srgbClr val="1255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14"/>
          <p:cNvSpPr/>
          <p:nvPr/>
        </p:nvSpPr>
        <p:spPr>
          <a:xfrm>
            <a:off x="5286960" y="170064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15"/>
          <p:cNvSpPr/>
          <p:nvPr/>
        </p:nvSpPr>
        <p:spPr>
          <a:xfrm>
            <a:off x="5286960" y="2103120"/>
            <a:ext cx="16146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1" u="none" strike="noStrike">
                <a:solidFill>
                  <a:srgbClr val="0B2E3B"/>
                </a:solidFill>
                <a:effectLst/>
                <a:uFillTx/>
                <a:latin typeface="Cambria"/>
                <a:ea typeface="Cambria"/>
              </a:rPr>
              <a:t>Split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16"/>
          <p:cNvSpPr/>
          <p:nvPr/>
        </p:nvSpPr>
        <p:spPr>
          <a:xfrm>
            <a:off x="5286960" y="2432160"/>
            <a:ext cx="161460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4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GroupShuffleSplit on patient_nbr. Train/val/test = 63.6k / 16.0k / 19.8k.</a:t>
            </a:r>
            <a:endParaRPr lang="en-US" sz="9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Shape 17"/>
          <p:cNvSpPr/>
          <p:nvPr/>
        </p:nvSpPr>
        <p:spPr>
          <a:xfrm>
            <a:off x="7432200" y="1536120"/>
            <a:ext cx="1943640" cy="1737000"/>
          </a:xfrm>
          <a:prstGeom prst="roundRect">
            <a:avLst>
              <a:gd name="adj" fmla="val 4211"/>
            </a:avLst>
          </a:prstGeom>
          <a:solidFill>
            <a:srgbClr val="EEF4F6"/>
          </a:solidFill>
          <a:ln w="9525">
            <a:solidFill>
              <a:srgbClr val="C9DC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Shape 18"/>
          <p:cNvSpPr/>
          <p:nvPr/>
        </p:nvSpPr>
        <p:spPr>
          <a:xfrm>
            <a:off x="7596720" y="1700640"/>
            <a:ext cx="328680" cy="328680"/>
          </a:xfrm>
          <a:prstGeom prst="ellipse">
            <a:avLst/>
          </a:prstGeom>
          <a:solidFill>
            <a:srgbClr val="1255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19"/>
          <p:cNvSpPr/>
          <p:nvPr/>
        </p:nvSpPr>
        <p:spPr>
          <a:xfrm>
            <a:off x="7596720" y="170064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20"/>
          <p:cNvSpPr/>
          <p:nvPr/>
        </p:nvSpPr>
        <p:spPr>
          <a:xfrm>
            <a:off x="7596720" y="2103120"/>
            <a:ext cx="16146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1" u="none" strike="noStrike">
                <a:solidFill>
                  <a:srgbClr val="0B2E3B"/>
                </a:solidFill>
                <a:effectLst/>
                <a:uFillTx/>
                <a:latin typeface="Cambria"/>
                <a:ea typeface="Cambria"/>
              </a:rPr>
              <a:t>Compare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21"/>
          <p:cNvSpPr/>
          <p:nvPr/>
        </p:nvSpPr>
        <p:spPr>
          <a:xfrm>
            <a:off x="7596720" y="2432160"/>
            <a:ext cx="161460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4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6 models, 5-fold GroupKFold. Winner picked on validation PR-AUC.</a:t>
            </a:r>
            <a:endParaRPr lang="en-US" sz="9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Shape 22"/>
          <p:cNvSpPr/>
          <p:nvPr/>
        </p:nvSpPr>
        <p:spPr>
          <a:xfrm>
            <a:off x="9741960" y="1536120"/>
            <a:ext cx="1943640" cy="1737000"/>
          </a:xfrm>
          <a:prstGeom prst="roundRect">
            <a:avLst>
              <a:gd name="adj" fmla="val 4211"/>
            </a:avLst>
          </a:prstGeom>
          <a:solidFill>
            <a:srgbClr val="EEF4F6"/>
          </a:solidFill>
          <a:ln w="9525">
            <a:solidFill>
              <a:srgbClr val="C9DC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Shape 23"/>
          <p:cNvSpPr/>
          <p:nvPr/>
        </p:nvSpPr>
        <p:spPr>
          <a:xfrm>
            <a:off x="9906480" y="1700640"/>
            <a:ext cx="328680" cy="328680"/>
          </a:xfrm>
          <a:prstGeom prst="ellipse">
            <a:avLst/>
          </a:prstGeom>
          <a:solidFill>
            <a:srgbClr val="1255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24"/>
          <p:cNvSpPr/>
          <p:nvPr/>
        </p:nvSpPr>
        <p:spPr>
          <a:xfrm>
            <a:off x="9906480" y="170064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25"/>
          <p:cNvSpPr/>
          <p:nvPr/>
        </p:nvSpPr>
        <p:spPr>
          <a:xfrm>
            <a:off x="9906480" y="2103120"/>
            <a:ext cx="16146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1" u="none" strike="noStrike">
                <a:solidFill>
                  <a:srgbClr val="0B2E3B"/>
                </a:solidFill>
                <a:effectLst/>
                <a:uFillTx/>
                <a:latin typeface="Cambria"/>
                <a:ea typeface="Cambria"/>
              </a:rPr>
              <a:t>Calibrate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26"/>
          <p:cNvSpPr/>
          <p:nvPr/>
        </p:nvSpPr>
        <p:spPr>
          <a:xfrm>
            <a:off x="9906480" y="2432160"/>
            <a:ext cx="161460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4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Platt scaling, then a threshold set from follow-up capacity.</a:t>
            </a:r>
            <a:endParaRPr lang="en-US" sz="9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27"/>
          <p:cNvSpPr/>
          <p:nvPr/>
        </p:nvSpPr>
        <p:spPr>
          <a:xfrm>
            <a:off x="502920" y="3364920"/>
            <a:ext cx="111826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i="1" u="none" strike="noStrike">
                <a:solidFill>
                  <a:srgbClr val="0B2E3B"/>
                </a:solidFill>
                <a:effectLst/>
                <a:uFillTx/>
                <a:latin typeface="Calibri"/>
                <a:ea typeface="Calibri"/>
              </a:rPr>
              <a:t>The test set is read exactly once, at the very end. </a:t>
            </a:r>
            <a:r>
              <a:rPr lang="en-US" sz="1050" b="0" i="1" u="none" strike="noStrike">
                <a:solidFill>
                  <a:srgbClr val="5A7683"/>
                </a:solidFill>
                <a:effectLst/>
                <a:uFillTx/>
                <a:latin typeface="Calibri"/>
                <a:ea typeface="Calibri"/>
              </a:rPr>
              <a:t>Model choice, hyperparameters, calibration and threshold are all fixed against validation.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28"/>
          <p:cNvSpPr/>
          <p:nvPr/>
        </p:nvSpPr>
        <p:spPr>
          <a:xfrm>
            <a:off x="502920" y="3822120"/>
            <a:ext cx="5486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139" strike="noStrike">
                <a:solidFill>
                  <a:srgbClr val="9E3423"/>
                </a:solidFill>
                <a:effectLst/>
                <a:uFillTx/>
                <a:latin typeface="Calibri"/>
                <a:ea typeface="Calibri"/>
              </a:rPr>
              <a:t>THE TRAP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29"/>
          <p:cNvSpPr/>
          <p:nvPr/>
        </p:nvSpPr>
        <p:spPr>
          <a:xfrm>
            <a:off x="502920" y="4060080"/>
            <a:ext cx="1115532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B2E3B"/>
                </a:solidFill>
                <a:effectLst/>
                <a:uFillTx/>
                <a:latin typeface="Cambria"/>
                <a:ea typeface="Cambria"/>
              </a:rPr>
              <a:t>99,340 encounters belong to only 69,987 patients — one appears 40 times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Shape 30"/>
          <p:cNvSpPr/>
          <p:nvPr/>
        </p:nvSpPr>
        <p:spPr>
          <a:xfrm>
            <a:off x="502920" y="4480560"/>
            <a:ext cx="5440320" cy="1051200"/>
          </a:xfrm>
          <a:prstGeom prst="roundRect">
            <a:avLst>
              <a:gd name="adj" fmla="val 6957"/>
            </a:avLst>
          </a:prstGeom>
          <a:solidFill>
            <a:srgbClr val="FBE4E0"/>
          </a:solidFill>
          <a:ln w="9525">
            <a:solidFill>
              <a:srgbClr val="F0B7A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31"/>
          <p:cNvSpPr/>
          <p:nvPr/>
        </p:nvSpPr>
        <p:spPr>
          <a:xfrm>
            <a:off x="731520" y="4480560"/>
            <a:ext cx="498312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r>
              <a:rPr lang="en-US" sz="1300" b="1" u="none" strike="noStrike">
                <a:solidFill>
                  <a:srgbClr val="9E3423"/>
                </a:solidFill>
                <a:effectLst/>
                <a:uFillTx/>
                <a:latin typeface="Calibri"/>
                <a:ea typeface="Calibri"/>
              </a:rPr>
              <a:t>✕  </a:t>
            </a:r>
            <a:r>
              <a:rPr lang="en-US" sz="1250" b="1" u="none" strike="noStrike">
                <a:solidFill>
                  <a:srgbClr val="9E3423"/>
                </a:solidFill>
                <a:effectLst/>
                <a:uFillTx/>
                <a:latin typeface="Calibri"/>
                <a:ea typeface="Calibri"/>
              </a:rPr>
              <a:t>Split by row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2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A2A1C"/>
                </a:solidFill>
                <a:effectLst/>
                <a:uFillTx/>
                <a:latin typeface="Calibri"/>
                <a:ea typeface="Calibri"/>
              </a:rPr>
              <a:t>Same patient lands in train and test — the model memorises individuals instead of learning transferable risk. Every metric comes out inflated.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Shape 32"/>
          <p:cNvSpPr/>
          <p:nvPr/>
        </p:nvSpPr>
        <p:spPr>
          <a:xfrm>
            <a:off x="6217920" y="4480560"/>
            <a:ext cx="5440320" cy="1051200"/>
          </a:xfrm>
          <a:prstGeom prst="roundRect">
            <a:avLst>
              <a:gd name="adj" fmla="val 6957"/>
            </a:avLst>
          </a:prstGeom>
          <a:solidFill>
            <a:srgbClr val="E2F0E9"/>
          </a:solidFill>
          <a:ln w="9525">
            <a:solidFill>
              <a:srgbClr val="AEDBC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33"/>
          <p:cNvSpPr/>
          <p:nvPr/>
        </p:nvSpPr>
        <p:spPr>
          <a:xfrm>
            <a:off x="6446520" y="4480560"/>
            <a:ext cx="498312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r>
              <a:rPr lang="en-US" sz="1300" b="1" u="none" strike="noStrike">
                <a:solidFill>
                  <a:srgbClr val="1F5F44"/>
                </a:solidFill>
                <a:effectLst/>
                <a:uFillTx/>
                <a:latin typeface="Calibri"/>
                <a:ea typeface="Calibri"/>
              </a:rPr>
              <a:t>✓  </a:t>
            </a:r>
            <a:r>
              <a:rPr lang="en-US" sz="1250" b="1" u="none" strike="noStrike">
                <a:solidFill>
                  <a:srgbClr val="1F5F44"/>
                </a:solidFill>
                <a:effectLst/>
                <a:uFillTx/>
                <a:latin typeface="Calibri"/>
                <a:ea typeface="Calibri"/>
              </a:rPr>
              <a:t>Split by patient_nbr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2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D4D39"/>
                </a:solidFill>
                <a:effectLst/>
                <a:uFillTx/>
                <a:latin typeface="Calibri"/>
                <a:ea typeface="Calibri"/>
              </a:rPr>
              <a:t>GroupShuffleSplit for train/val/test, GroupKFold for every CV fold. No patient can appear on both sides — enforced by a test, not convention.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Shape 34"/>
          <p:cNvSpPr/>
          <p:nvPr/>
        </p:nvSpPr>
        <p:spPr>
          <a:xfrm>
            <a:off x="502920" y="5669280"/>
            <a:ext cx="11182680" cy="566640"/>
          </a:xfrm>
          <a:prstGeom prst="roundRect">
            <a:avLst>
              <a:gd name="adj" fmla="val 12903"/>
            </a:avLst>
          </a:prstGeom>
          <a:solidFill>
            <a:srgbClr val="0B2E3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35"/>
          <p:cNvSpPr/>
          <p:nvPr/>
        </p:nvSpPr>
        <p:spPr>
          <a:xfrm>
            <a:off x="777240" y="5669280"/>
            <a:ext cx="1060668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6FC6D9"/>
                </a:solidFill>
                <a:effectLst/>
                <a:uFillTx/>
                <a:latin typeface="Courier New"/>
                <a:ea typeface="Courier New"/>
              </a:rPr>
              <a:t>test_split_never_puts_a_patient_on_both_sides</a:t>
            </a:r>
            <a:r>
              <a:rPr lang="en-US" sz="1050" b="0" u="none" strike="noStrike">
                <a:solidFill>
                  <a:srgbClr val="DCE9EC"/>
                </a:solidFill>
                <a:effectLst/>
                <a:uFillTx/>
                <a:latin typeface="Calibri"/>
                <a:ea typeface="Calibri"/>
              </a:rPr>
              <a:t>   —  a materially higher ROC-AUC on this dataset almost always means a leaked split, not a better model. Published results sit at 0.64–0.70.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36"/>
          <p:cNvSpPr/>
          <p:nvPr/>
        </p:nvSpPr>
        <p:spPr>
          <a:xfrm>
            <a:off x="11597400" y="6492240"/>
            <a:ext cx="3654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E9AA5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Text 0"/>
          <p:cNvSpPr/>
          <p:nvPr/>
        </p:nvSpPr>
        <p:spPr>
          <a:xfrm>
            <a:off x="502920" y="384120"/>
            <a:ext cx="5486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139" strike="noStrike">
                <a:solidFill>
                  <a:srgbClr val="12556B"/>
                </a:solidFill>
                <a:effectLst/>
                <a:uFillTx/>
                <a:latin typeface="Calibri"/>
                <a:ea typeface="Calibri"/>
              </a:rPr>
              <a:t>MODEL SELECTION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1"/>
          <p:cNvSpPr/>
          <p:nvPr/>
        </p:nvSpPr>
        <p:spPr>
          <a:xfrm>
            <a:off x="502920" y="65844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0B2E3B"/>
                </a:solidFill>
                <a:effectLst/>
                <a:uFillTx/>
                <a:latin typeface="Cambria"/>
                <a:ea typeface="Cambria"/>
              </a:rPr>
              <a:t>Six models, one selection rule — chosen before the test set was read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2"/>
          <p:cNvSpPr/>
          <p:nvPr/>
        </p:nvSpPr>
        <p:spPr>
          <a:xfrm>
            <a:off x="502920" y="1207080"/>
            <a:ext cx="111553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5A7683"/>
                </a:solidFill>
                <a:effectLst/>
                <a:uFillTx/>
                <a:latin typeface="Calibri"/>
                <a:ea typeface="Calibri"/>
              </a:rPr>
              <a:t>5-fold GroupKFold on training patients for selection; a single held-out test evaluation at the end.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3"/>
          <p:cNvSpPr/>
          <p:nvPr/>
        </p:nvSpPr>
        <p:spPr>
          <a:xfrm>
            <a:off x="502920" y="1627560"/>
            <a:ext cx="55774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B2E3B"/>
                </a:solidFill>
                <a:effectLst/>
                <a:uFillTx/>
                <a:latin typeface="Calibri"/>
                <a:ea typeface="Calibri"/>
              </a:rPr>
              <a:t>Test PR-AUC  (base rate 0.113)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2" name="Chart 0"/>
          <p:cNvGraphicFramePr/>
          <p:nvPr/>
        </p:nvGraphicFramePr>
        <p:xfrm>
          <a:off x="502920" y="1938600"/>
          <a:ext cx="5577480" cy="2331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93" name="Text 4"/>
          <p:cNvSpPr/>
          <p:nvPr/>
        </p:nvSpPr>
        <p:spPr>
          <a:xfrm>
            <a:off x="502920" y="4316040"/>
            <a:ext cx="55774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9E3423"/>
                </a:solidFill>
                <a:effectLst/>
                <a:uFillTx/>
                <a:latin typeface="Calibri"/>
                <a:ea typeface="Calibri"/>
              </a:rPr>
              <a:t>Selected: LightGBM — Test PR-AUC 0.238 · ROC-AUC 0.684 · Recall 40.2% at 20% capacity.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Shape 5"/>
          <p:cNvSpPr/>
          <p:nvPr/>
        </p:nvSpPr>
        <p:spPr>
          <a:xfrm>
            <a:off x="502920" y="4736520"/>
            <a:ext cx="5577480" cy="1051200"/>
          </a:xfrm>
          <a:prstGeom prst="roundRect">
            <a:avLst>
              <a:gd name="adj" fmla="val 6957"/>
            </a:avLst>
          </a:prstGeom>
          <a:solidFill>
            <a:srgbClr val="EEF4F6"/>
          </a:solidFill>
          <a:ln w="9525">
            <a:solidFill>
              <a:srgbClr val="C9DC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6"/>
          <p:cNvSpPr/>
          <p:nvPr/>
        </p:nvSpPr>
        <p:spPr>
          <a:xfrm>
            <a:off x="731520" y="4736520"/>
            <a:ext cx="512028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4000"/>
              </a:lnSpc>
              <a:tabLst>
                <a:tab pos="0" algn="l"/>
              </a:tabLst>
            </a:pPr>
            <a:r>
              <a:rPr lang="en-US" sz="980" b="1" u="none" strike="noStrike">
                <a:solidFill>
                  <a:srgbClr val="0B2E3B"/>
                </a:solidFill>
                <a:effectLst/>
                <a:uFillTx/>
                <a:latin typeface="Calibri"/>
                <a:ea typeface="Calibri"/>
              </a:rPr>
              <a:t>Which gaps are real?  </a:t>
            </a:r>
            <a:r>
              <a:rPr lang="en-US" sz="98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Paired bootstrap on Δ PR-AUC — vs XGBoost: +0.0022 [−0.0017, +0.0058], not resolved (a coin flip). vs Random forest / Logistic reg.: resolved in LightGBM’s favour. Boosting beats bagging and linear models; which booster wins is not resolved by this data.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7"/>
          <p:cNvSpPr/>
          <p:nvPr/>
        </p:nvSpPr>
        <p:spPr>
          <a:xfrm>
            <a:off x="6355080" y="1627560"/>
            <a:ext cx="53488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B2E3B"/>
                </a:solidFill>
                <a:effectLst/>
                <a:uFillTx/>
                <a:latin typeface="Calibri"/>
                <a:ea typeface="Calibri"/>
              </a:rPr>
              <a:t>CLASS IMBALANCE — 11.4% positives, handled explicitly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8"/>
          <p:cNvSpPr/>
          <p:nvPr/>
        </p:nvSpPr>
        <p:spPr>
          <a:xfrm>
            <a:off x="6355080" y="1901880"/>
            <a:ext cx="5348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000" b="0" i="1" u="none" strike="noStrike">
                <a:solidFill>
                  <a:srgbClr val="5A7683"/>
                </a:solidFill>
                <a:effectLst/>
                <a:uFillTx/>
                <a:latin typeface="Calibri"/>
                <a:ea typeface="Calibri"/>
              </a:rPr>
              <a:t>Left alone, every model collapses to ‘no readmission’ for everyone — 88.6% accuracy, catches nothing.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8" name="Table 0"/>
          <p:cNvGraphicFramePr/>
          <p:nvPr/>
        </p:nvGraphicFramePr>
        <p:xfrm>
          <a:off x="6355080" y="2331720"/>
          <a:ext cx="5348880" cy="1371600"/>
        </p:xfrm>
        <a:graphic>
          <a:graphicData uri="http://schemas.openxmlformats.org/drawingml/2006/table">
            <a:tbl>
              <a:tblPr/>
              <a:tblGrid>
                <a:gridCol w="2674440"/>
                <a:gridCol w="2674440"/>
              </a:tblGrid>
              <a:tr h="274320">
                <a:tc>
                  <a:txBody>
                    <a:bodyPr lIns="75960" tIns="12600" rIns="75960" bIns="126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00" b="1" u="none" strike="noStrike">
                          <a:solidFill>
                            <a:srgbClr val="0B2E3B"/>
                          </a:solidFill>
                          <a:effectLst/>
                          <a:uFillTx/>
                          <a:latin typeface="Calibri"/>
                        </a:rPr>
                        <a:t>Logistic reg.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12600" marB="12600">
                    <a:lnL w="6480">
                      <a:solidFill>
                        <a:srgbClr val="C9DCE3"/>
                      </a:solidFill>
                      <a:prstDash val="solid"/>
                    </a:lnL>
                    <a:lnR w="6480">
                      <a:solidFill>
                        <a:srgbClr val="C9DCE3"/>
                      </a:solidFill>
                      <a:prstDash val="solid"/>
                    </a:lnR>
                    <a:lnT w="6480">
                      <a:solidFill>
                        <a:srgbClr val="C9DCE3"/>
                      </a:solidFill>
                      <a:prstDash val="solid"/>
                    </a:lnT>
                    <a:lnB w="6480">
                      <a:solidFill>
                        <a:srgbClr val="C9DCE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5960" tIns="12600" rIns="75960" bIns="126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00" b="0" u="none" strike="noStrike">
                          <a:solidFill>
                            <a:srgbClr val="5A7683"/>
                          </a:solidFill>
                          <a:effectLst/>
                          <a:uFillTx/>
                          <a:latin typeface="Calibri"/>
                        </a:rPr>
                        <a:t>balanced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12600" marB="12600">
                    <a:lnL w="6480">
                      <a:solidFill>
                        <a:srgbClr val="C9DCE3"/>
                      </a:solidFill>
                      <a:prstDash val="solid"/>
                    </a:lnL>
                    <a:lnR w="6480">
                      <a:solidFill>
                        <a:srgbClr val="C9DCE3"/>
                      </a:solidFill>
                      <a:prstDash val="solid"/>
                    </a:lnR>
                    <a:lnT w="6480">
                      <a:solidFill>
                        <a:srgbClr val="C9DCE3"/>
                      </a:solidFill>
                      <a:prstDash val="solid"/>
                    </a:lnT>
                    <a:lnB w="6480">
                      <a:solidFill>
                        <a:srgbClr val="C9DCE3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lIns="75960" tIns="12600" rIns="75960" bIns="126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00" b="1" u="none" strike="noStrike">
                          <a:solidFill>
                            <a:srgbClr val="0B2E3B"/>
                          </a:solidFill>
                          <a:effectLst/>
                          <a:uFillTx/>
                          <a:latin typeface="Calibri"/>
                        </a:rPr>
                        <a:t>Random forest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12600" marB="12600">
                    <a:lnL w="6480">
                      <a:solidFill>
                        <a:srgbClr val="C9DCE3"/>
                      </a:solidFill>
                      <a:prstDash val="solid"/>
                    </a:lnL>
                    <a:lnR w="6480">
                      <a:solidFill>
                        <a:srgbClr val="C9DCE3"/>
                      </a:solidFill>
                      <a:prstDash val="solid"/>
                    </a:lnR>
                    <a:lnT w="6480">
                      <a:solidFill>
                        <a:srgbClr val="C9DCE3"/>
                      </a:solidFill>
                      <a:prstDash val="solid"/>
                    </a:lnT>
                    <a:lnB w="6480">
                      <a:solidFill>
                        <a:srgbClr val="C9DCE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5960" tIns="12600" rIns="75960" bIns="126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00" b="0" u="none" strike="noStrike">
                          <a:solidFill>
                            <a:srgbClr val="5A7683"/>
                          </a:solidFill>
                          <a:effectLst/>
                          <a:uFillTx/>
                          <a:latin typeface="Calibri"/>
                        </a:rPr>
                        <a:t>balanced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12600" marB="12600">
                    <a:lnL w="6480">
                      <a:solidFill>
                        <a:srgbClr val="C9DCE3"/>
                      </a:solidFill>
                      <a:prstDash val="solid"/>
                    </a:lnL>
                    <a:lnR w="6480">
                      <a:solidFill>
                        <a:srgbClr val="C9DCE3"/>
                      </a:solidFill>
                      <a:prstDash val="solid"/>
                    </a:lnR>
                    <a:lnT w="6480">
                      <a:solidFill>
                        <a:srgbClr val="C9DCE3"/>
                      </a:solidFill>
                      <a:prstDash val="solid"/>
                    </a:lnT>
                    <a:lnB w="6480">
                      <a:solidFill>
                        <a:srgbClr val="C9DCE3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lIns="75960" tIns="12600" rIns="75960" bIns="126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00" b="1" u="none" strike="noStrike">
                          <a:solidFill>
                            <a:srgbClr val="0B2E3B"/>
                          </a:solidFill>
                          <a:effectLst/>
                          <a:uFillTx/>
                          <a:latin typeface="Calibri"/>
                        </a:rPr>
                        <a:t>XGBoost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12600" marB="12600">
                    <a:lnL w="6480">
                      <a:solidFill>
                        <a:srgbClr val="C9DCE3"/>
                      </a:solidFill>
                      <a:prstDash val="solid"/>
                    </a:lnL>
                    <a:lnR w="6480">
                      <a:solidFill>
                        <a:srgbClr val="C9DCE3"/>
                      </a:solidFill>
                      <a:prstDash val="solid"/>
                    </a:lnR>
                    <a:lnT w="6480">
                      <a:solidFill>
                        <a:srgbClr val="C9DCE3"/>
                      </a:solidFill>
                      <a:prstDash val="solid"/>
                    </a:lnT>
                    <a:lnB w="6480">
                      <a:solidFill>
                        <a:srgbClr val="C9DCE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5960" tIns="12600" rIns="75960" bIns="126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00" b="0" u="none" strike="noStrike">
                          <a:solidFill>
                            <a:srgbClr val="5A7683"/>
                          </a:solidFill>
                          <a:effectLst/>
                          <a:uFillTx/>
                          <a:latin typeface="Calibri"/>
                        </a:rPr>
                        <a:t>~7.8×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12600" marB="12600">
                    <a:lnL w="6480">
                      <a:solidFill>
                        <a:srgbClr val="C9DCE3"/>
                      </a:solidFill>
                      <a:prstDash val="solid"/>
                    </a:lnL>
                    <a:lnR w="6480">
                      <a:solidFill>
                        <a:srgbClr val="C9DCE3"/>
                      </a:solidFill>
                      <a:prstDash val="solid"/>
                    </a:lnR>
                    <a:lnT w="6480">
                      <a:solidFill>
                        <a:srgbClr val="C9DCE3"/>
                      </a:solidFill>
                      <a:prstDash val="solid"/>
                    </a:lnT>
                    <a:lnB w="6480">
                      <a:solidFill>
                        <a:srgbClr val="C9DCE3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lIns="75960" tIns="12600" rIns="75960" bIns="126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00" b="1" u="none" strike="noStrike">
                          <a:solidFill>
                            <a:srgbClr val="0B2E3B"/>
                          </a:solidFill>
                          <a:effectLst/>
                          <a:uFillTx/>
                          <a:latin typeface="Calibri"/>
                        </a:rPr>
                        <a:t>LightGBM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12600" marB="12600">
                    <a:lnL w="6480">
                      <a:solidFill>
                        <a:srgbClr val="C9DCE3"/>
                      </a:solidFill>
                      <a:prstDash val="solid"/>
                    </a:lnL>
                    <a:lnR w="6480">
                      <a:solidFill>
                        <a:srgbClr val="C9DCE3"/>
                      </a:solidFill>
                      <a:prstDash val="solid"/>
                    </a:lnR>
                    <a:lnT w="6480">
                      <a:solidFill>
                        <a:srgbClr val="C9DCE3"/>
                      </a:solidFill>
                      <a:prstDash val="solid"/>
                    </a:lnT>
                    <a:lnB w="6480">
                      <a:solidFill>
                        <a:srgbClr val="C9DCE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5960" tIns="12600" rIns="75960" bIns="126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00" b="0" u="none" strike="noStrike">
                          <a:solidFill>
                            <a:srgbClr val="5A7683"/>
                          </a:solidFill>
                          <a:effectLst/>
                          <a:uFillTx/>
                          <a:latin typeface="Calibri"/>
                        </a:rPr>
                        <a:t>balanced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12600" marB="12600">
                    <a:lnL w="6480">
                      <a:solidFill>
                        <a:srgbClr val="C9DCE3"/>
                      </a:solidFill>
                      <a:prstDash val="solid"/>
                    </a:lnL>
                    <a:lnR w="6480">
                      <a:solidFill>
                        <a:srgbClr val="C9DCE3"/>
                      </a:solidFill>
                      <a:prstDash val="solid"/>
                    </a:lnR>
                    <a:lnT w="6480">
                      <a:solidFill>
                        <a:srgbClr val="C9DCE3"/>
                      </a:solidFill>
                      <a:prstDash val="solid"/>
                    </a:lnT>
                    <a:lnB w="6480">
                      <a:solidFill>
                        <a:srgbClr val="C9DCE3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lIns="75960" tIns="12600" rIns="75960" bIns="126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00" b="1" u="none" strike="noStrike">
                          <a:solidFill>
                            <a:srgbClr val="0B2E3B"/>
                          </a:solidFill>
                          <a:effectLst/>
                          <a:uFillTx/>
                          <a:latin typeface="Calibri"/>
                        </a:rPr>
                        <a:t>MLP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12600" marB="12600">
                    <a:lnL w="6480">
                      <a:solidFill>
                        <a:srgbClr val="C9DCE3"/>
                      </a:solidFill>
                      <a:prstDash val="solid"/>
                    </a:lnL>
                    <a:lnR w="6480">
                      <a:solidFill>
                        <a:srgbClr val="C9DCE3"/>
                      </a:solidFill>
                      <a:prstDash val="solid"/>
                    </a:lnR>
                    <a:lnT w="6480">
                      <a:solidFill>
                        <a:srgbClr val="C9DCE3"/>
                      </a:solidFill>
                      <a:prstDash val="solid"/>
                    </a:lnT>
                    <a:lnB w="6480">
                      <a:solidFill>
                        <a:srgbClr val="C9DCE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5960" tIns="12600" rIns="75960" bIns="126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00" b="0" u="none" strike="noStrike">
                          <a:solidFill>
                            <a:srgbClr val="5A7683"/>
                          </a:solidFill>
                          <a:effectLst/>
                          <a:uFillTx/>
                          <a:latin typeface="Calibri"/>
                        </a:rPr>
                        <a:t>unweighted — judged on ranking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12600" marB="12600">
                    <a:lnL w="6480">
                      <a:solidFill>
                        <a:srgbClr val="C9DCE3"/>
                      </a:solidFill>
                      <a:prstDash val="solid"/>
                    </a:lnL>
                    <a:lnR w="6480">
                      <a:solidFill>
                        <a:srgbClr val="C9DCE3"/>
                      </a:solidFill>
                      <a:prstDash val="solid"/>
                    </a:lnR>
                    <a:lnT w="6480">
                      <a:solidFill>
                        <a:srgbClr val="C9DCE3"/>
                      </a:solidFill>
                      <a:prstDash val="solid"/>
                    </a:lnT>
                    <a:lnB w="6480">
                      <a:solidFill>
                        <a:srgbClr val="C9DCE3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99" name="Shape 9"/>
          <p:cNvSpPr/>
          <p:nvPr/>
        </p:nvSpPr>
        <p:spPr>
          <a:xfrm>
            <a:off x="6355080" y="3803760"/>
            <a:ext cx="5348880" cy="712800"/>
          </a:xfrm>
          <a:prstGeom prst="roundRect">
            <a:avLst>
              <a:gd name="adj" fmla="val 10256"/>
            </a:avLst>
          </a:prstGeom>
          <a:solidFill>
            <a:srgbClr val="FBE4E0"/>
          </a:solidFill>
          <a:ln w="9525">
            <a:solidFill>
              <a:srgbClr val="F0B7A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10"/>
          <p:cNvSpPr/>
          <p:nvPr/>
        </p:nvSpPr>
        <p:spPr>
          <a:xfrm>
            <a:off x="6556320" y="3803760"/>
            <a:ext cx="494640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3000"/>
              </a:lnSpc>
              <a:tabLst>
                <a:tab pos="0" algn="l"/>
              </a:tabLst>
            </a:pPr>
            <a:r>
              <a:rPr lang="en-US" sz="980" b="1" u="none" strike="noStrike">
                <a:solidFill>
                  <a:srgbClr val="9E3423"/>
                </a:solidFill>
                <a:effectLst/>
                <a:uFillTx/>
                <a:latin typeface="Calibri"/>
                <a:ea typeface="Calibri"/>
              </a:rPr>
              <a:t>SMOTE was measured, not assumed away.  </a:t>
            </a:r>
            <a:r>
              <a:rPr lang="en-US" sz="980" b="0" u="none" strike="noStrike">
                <a:solidFill>
                  <a:srgbClr val="7A2A1C"/>
                </a:solidFill>
                <a:effectLst/>
                <a:uFillTx/>
                <a:latin typeface="Calibri"/>
                <a:ea typeface="Calibri"/>
              </a:rPr>
              <a:t>Oversampling inside each CV fold scored 0.2194 PR-AUC vs 0.2200 for class weighting — no better, and it adds a resampling step to serving. Kept on the evidence.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Shape 11"/>
          <p:cNvSpPr/>
          <p:nvPr/>
        </p:nvSpPr>
        <p:spPr>
          <a:xfrm>
            <a:off x="6355080" y="4663440"/>
            <a:ext cx="5348880" cy="776880"/>
          </a:xfrm>
          <a:prstGeom prst="roundRect">
            <a:avLst>
              <a:gd name="adj" fmla="val 9412"/>
            </a:avLst>
          </a:prstGeom>
          <a:solidFill>
            <a:srgbClr val="E2F0E9"/>
          </a:solidFill>
          <a:ln w="9525">
            <a:solidFill>
              <a:srgbClr val="AEDBC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12"/>
          <p:cNvSpPr/>
          <p:nvPr/>
        </p:nvSpPr>
        <p:spPr>
          <a:xfrm>
            <a:off x="6556320" y="4663440"/>
            <a:ext cx="494640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3000"/>
              </a:lnSpc>
              <a:tabLst>
                <a:tab pos="0" algn="l"/>
              </a:tabLst>
            </a:pPr>
            <a:r>
              <a:rPr lang="en-US" sz="980" b="1" u="none" strike="noStrike">
                <a:solidFill>
                  <a:srgbClr val="1F5F44"/>
                </a:solidFill>
                <a:effectLst/>
                <a:uFillTx/>
                <a:latin typeface="Calibri"/>
                <a:ea typeface="Calibri"/>
              </a:rPr>
              <a:t>The cost of class weighting.  </a:t>
            </a:r>
            <a:r>
              <a:rPr lang="en-US" sz="980" b="0" u="none" strike="noStrike">
                <a:solidFill>
                  <a:srgbClr val="1D4D39"/>
                </a:solidFill>
                <a:effectLst/>
                <a:uFillTx/>
                <a:latin typeface="Calibri"/>
                <a:ea typeface="Calibri"/>
              </a:rPr>
              <a:t>It deliberately distorts predicted probabilities upward — fine for ranking, wrong for a number a clinician reads. That’s why calibration is a separate step (next).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13"/>
          <p:cNvSpPr/>
          <p:nvPr/>
        </p:nvSpPr>
        <p:spPr>
          <a:xfrm>
            <a:off x="11597400" y="6492240"/>
            <a:ext cx="3654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E9AA5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Text 0"/>
          <p:cNvSpPr/>
          <p:nvPr/>
        </p:nvSpPr>
        <p:spPr>
          <a:xfrm>
            <a:off x="502920" y="384120"/>
            <a:ext cx="5486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139" strike="noStrike">
                <a:solidFill>
                  <a:srgbClr val="9E3423"/>
                </a:solidFill>
                <a:effectLst/>
                <a:uFillTx/>
                <a:latin typeface="Calibri"/>
                <a:ea typeface="Calibri"/>
              </a:rPr>
              <a:t>WHY NOT ACCURACY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1"/>
          <p:cNvSpPr/>
          <p:nvPr/>
        </p:nvSpPr>
        <p:spPr>
          <a:xfrm>
            <a:off x="502920" y="65844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0B2E3B"/>
                </a:solidFill>
                <a:effectLst/>
                <a:uFillTx/>
                <a:latin typeface="Cambria"/>
                <a:ea typeface="Cambria"/>
              </a:rPr>
              <a:t>78.2% accurate. So is doing nothing — at 88.6%.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Shape 2"/>
          <p:cNvSpPr/>
          <p:nvPr/>
        </p:nvSpPr>
        <p:spPr>
          <a:xfrm>
            <a:off x="502920" y="1572840"/>
            <a:ext cx="1660680" cy="1828440"/>
          </a:xfrm>
          <a:prstGeom prst="roundRect">
            <a:avLst>
              <a:gd name="adj" fmla="val 4404"/>
            </a:avLst>
          </a:prstGeom>
          <a:solidFill>
            <a:srgbClr val="0B2E3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3"/>
          <p:cNvSpPr/>
          <p:nvPr/>
        </p:nvSpPr>
        <p:spPr>
          <a:xfrm>
            <a:off x="502920" y="1810440"/>
            <a:ext cx="16606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900" b="1" u="none" strike="noStrike">
                <a:solidFill>
                  <a:srgbClr val="6FC6D9"/>
                </a:solidFill>
                <a:effectLst/>
                <a:uFillTx/>
                <a:latin typeface="Cambria"/>
                <a:ea typeface="Cambria"/>
              </a:rPr>
              <a:t>78.2%</a:t>
            </a:r>
            <a:endParaRPr lang="en-U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4"/>
          <p:cNvSpPr/>
          <p:nvPr/>
        </p:nvSpPr>
        <p:spPr>
          <a:xfrm>
            <a:off x="612720" y="2450520"/>
            <a:ext cx="14414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12000"/>
              </a:lnSpc>
              <a:tabLst>
                <a:tab pos="0" algn="l"/>
              </a:tabLst>
            </a:pPr>
            <a:r>
              <a:rPr lang="en-US" sz="103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our model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5"/>
          <p:cNvSpPr/>
          <p:nvPr/>
        </p:nvSpPr>
        <p:spPr>
          <a:xfrm>
            <a:off x="612720" y="3063240"/>
            <a:ext cx="14414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930" b="0" u="none" strike="noStrike">
                <a:solidFill>
                  <a:srgbClr val="9FC4D1"/>
                </a:solidFill>
                <a:effectLst/>
                <a:uFillTx/>
                <a:latin typeface="Calibri"/>
                <a:ea typeface="Calibri"/>
              </a:rPr>
              <a:t>40.2% of readmissions caught</a:t>
            </a:r>
            <a:endParaRPr lang="en-US" sz="9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Shape 6"/>
          <p:cNvSpPr/>
          <p:nvPr/>
        </p:nvSpPr>
        <p:spPr>
          <a:xfrm>
            <a:off x="2346840" y="1572840"/>
            <a:ext cx="1660680" cy="1828440"/>
          </a:xfrm>
          <a:prstGeom prst="roundRect">
            <a:avLst>
              <a:gd name="adj" fmla="val 4404"/>
            </a:avLst>
          </a:prstGeom>
          <a:solidFill>
            <a:srgbClr val="EEF4F6"/>
          </a:solidFill>
          <a:ln w="9525">
            <a:solidFill>
              <a:srgbClr val="C9DC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7"/>
          <p:cNvSpPr/>
          <p:nvPr/>
        </p:nvSpPr>
        <p:spPr>
          <a:xfrm>
            <a:off x="2346840" y="1810440"/>
            <a:ext cx="16606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900" b="1" u="none" strike="noStrike">
                <a:solidFill>
                  <a:srgbClr val="0B2E3B"/>
                </a:solidFill>
                <a:effectLst/>
                <a:uFillTx/>
                <a:latin typeface="Cambria"/>
                <a:ea typeface="Cambria"/>
              </a:rPr>
              <a:t>88.6%</a:t>
            </a:r>
            <a:endParaRPr lang="en-U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8"/>
          <p:cNvSpPr/>
          <p:nvPr/>
        </p:nvSpPr>
        <p:spPr>
          <a:xfrm>
            <a:off x="2456640" y="2450520"/>
            <a:ext cx="14414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12000"/>
              </a:lnSpc>
              <a:tabLst>
                <a:tab pos="0" algn="l"/>
              </a:tabLst>
            </a:pPr>
            <a:r>
              <a:rPr lang="en-US" sz="1030" b="1" u="none" strike="noStrike">
                <a:solidFill>
                  <a:srgbClr val="0B2E3B"/>
                </a:solidFill>
                <a:effectLst/>
                <a:uFillTx/>
                <a:latin typeface="Calibri"/>
                <a:ea typeface="Calibri"/>
              </a:rPr>
              <a:t>“nobody is readmitted”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9"/>
          <p:cNvSpPr/>
          <p:nvPr/>
        </p:nvSpPr>
        <p:spPr>
          <a:xfrm>
            <a:off x="2456640" y="3063240"/>
            <a:ext cx="14414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930" b="0" u="none" strike="noStrike">
                <a:solidFill>
                  <a:srgbClr val="5A7683"/>
                </a:solidFill>
                <a:effectLst/>
                <a:uFillTx/>
                <a:latin typeface="Calibri"/>
                <a:ea typeface="Calibri"/>
              </a:rPr>
              <a:t>0% caught — flags no one</a:t>
            </a:r>
            <a:endParaRPr lang="en-US" sz="9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Shape 10"/>
          <p:cNvSpPr/>
          <p:nvPr/>
        </p:nvSpPr>
        <p:spPr>
          <a:xfrm>
            <a:off x="4191120" y="1572840"/>
            <a:ext cx="1660680" cy="1828440"/>
          </a:xfrm>
          <a:prstGeom prst="roundRect">
            <a:avLst>
              <a:gd name="adj" fmla="val 4404"/>
            </a:avLst>
          </a:prstGeom>
          <a:solidFill>
            <a:srgbClr val="EEF4F6"/>
          </a:solidFill>
          <a:ln w="9525">
            <a:solidFill>
              <a:srgbClr val="C9DC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11"/>
          <p:cNvSpPr/>
          <p:nvPr/>
        </p:nvSpPr>
        <p:spPr>
          <a:xfrm>
            <a:off x="4191120" y="1810440"/>
            <a:ext cx="16606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900" b="1" u="none" strike="noStrike">
                <a:solidFill>
                  <a:srgbClr val="0B2E3B"/>
                </a:solidFill>
                <a:effectLst/>
                <a:uFillTx/>
                <a:latin typeface="Cambria"/>
                <a:ea typeface="Cambria"/>
              </a:rPr>
              <a:t>88.8%</a:t>
            </a:r>
            <a:endParaRPr lang="en-U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12"/>
          <p:cNvSpPr/>
          <p:nvPr/>
        </p:nvSpPr>
        <p:spPr>
          <a:xfrm>
            <a:off x="4300560" y="2450520"/>
            <a:ext cx="14414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12000"/>
              </a:lnSpc>
              <a:tabLst>
                <a:tab pos="0" algn="l"/>
              </a:tabLst>
            </a:pPr>
            <a:r>
              <a:rPr lang="en-US" sz="1030" b="1" u="none" strike="noStrike">
                <a:solidFill>
                  <a:srgbClr val="0B2E3B"/>
                </a:solidFill>
                <a:effectLst/>
                <a:uFillTx/>
                <a:latin typeface="Calibri"/>
                <a:ea typeface="Calibri"/>
              </a:rPr>
              <a:t>best accuracy at any threshold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13"/>
          <p:cNvSpPr/>
          <p:nvPr/>
        </p:nvSpPr>
        <p:spPr>
          <a:xfrm>
            <a:off x="4300560" y="3063240"/>
            <a:ext cx="14414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930" b="0" u="none" strike="noStrike">
                <a:solidFill>
                  <a:srgbClr val="5A7683"/>
                </a:solidFill>
                <a:effectLst/>
                <a:uFillTx/>
                <a:latin typeface="Calibri"/>
                <a:ea typeface="Calibri"/>
              </a:rPr>
              <a:t>flags 0.4% of patients</a:t>
            </a:r>
            <a:endParaRPr lang="en-US" sz="9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Shape 14"/>
          <p:cNvSpPr/>
          <p:nvPr/>
        </p:nvSpPr>
        <p:spPr>
          <a:xfrm>
            <a:off x="502920" y="3611880"/>
            <a:ext cx="5348880" cy="1508400"/>
          </a:xfrm>
          <a:prstGeom prst="roundRect">
            <a:avLst>
              <a:gd name="adj" fmla="val 4848"/>
            </a:avLst>
          </a:prstGeom>
          <a:solidFill>
            <a:srgbClr val="FBE4E0"/>
          </a:solidFill>
          <a:ln w="9525">
            <a:solidFill>
              <a:srgbClr val="F0B7A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15"/>
          <p:cNvSpPr/>
          <p:nvPr/>
        </p:nvSpPr>
        <p:spPr>
          <a:xfrm>
            <a:off x="731520" y="3611880"/>
            <a:ext cx="4891680" cy="150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30" b="1" u="none" strike="noStrike">
                <a:solidFill>
                  <a:srgbClr val="9E3423"/>
                </a:solidFill>
                <a:effectLst/>
                <a:uFillTx/>
                <a:latin typeface="Calibri"/>
                <a:ea typeface="Calibri"/>
              </a:rPr>
              <a:t>With an 11% positive rate, accuracy rewards inaction — nothing here was selected using it. </a:t>
            </a:r>
            <a:r>
              <a:rPr lang="en-US" sz="1130" b="0" u="none" strike="noStrike">
                <a:solidFill>
                  <a:srgbClr val="7A2A1C"/>
                </a:solidFill>
                <a:effectLst/>
                <a:uFillTx/>
                <a:latin typeface="Calibri"/>
                <a:ea typeface="Calibri"/>
              </a:rPr>
              <a:t>The deployed threshold is 0.166, not 0.5: at 0.5 the calibrated model flags zero patients.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16"/>
          <p:cNvSpPr/>
          <p:nvPr/>
        </p:nvSpPr>
        <p:spPr>
          <a:xfrm>
            <a:off x="6172200" y="1572840"/>
            <a:ext cx="55317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B2E3B"/>
                </a:solidFill>
                <a:effectLst/>
                <a:uFillTx/>
                <a:latin typeface="Calibri"/>
                <a:ea typeface="Calibri"/>
              </a:rPr>
              <a:t>CALIBRATION — making the number mean what it says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17"/>
          <p:cNvSpPr/>
          <p:nvPr/>
        </p:nvSpPr>
        <p:spPr>
          <a:xfrm>
            <a:off x="6172200" y="1847160"/>
            <a:ext cx="55317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000" b="0" i="1" u="none" strike="noStrike">
                <a:solidFill>
                  <a:srgbClr val="5A7683"/>
                </a:solidFill>
                <a:effectLst/>
                <a:uFillTx/>
                <a:latin typeface="Calibri"/>
                <a:ea typeface="Calibri"/>
              </a:rPr>
              <a:t>Class weighting is what makes ranking work and probabilities wrong. Platt scaling fixes the probabilities without touching the ranking.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2" name="Image 0" descr="imgs/calibration.png"/>
          <p:cNvPicPr/>
          <p:nvPr/>
        </p:nvPicPr>
        <p:blipFill>
          <a:blip r:embed="rId1"/>
          <a:stretch/>
        </p:blipFill>
        <p:spPr>
          <a:xfrm>
            <a:off x="6400800" y="2450520"/>
            <a:ext cx="2788560" cy="2441160"/>
          </a:xfrm>
          <a:prstGeom prst="rect">
            <a:avLst/>
          </a:prstGeom>
          <a:noFill/>
          <a:ln w="0">
            <a:noFill/>
          </a:ln>
        </p:spPr>
      </p:pic>
      <p:graphicFrame>
        <p:nvGraphicFramePr>
          <p:cNvPr id="123" name="Table 0"/>
          <p:cNvGraphicFramePr/>
          <p:nvPr/>
        </p:nvGraphicFramePr>
        <p:xfrm>
          <a:off x="9418320" y="2788920"/>
          <a:ext cx="2422800" cy="1151640"/>
        </p:xfrm>
        <a:graphic>
          <a:graphicData uri="http://schemas.openxmlformats.org/drawingml/2006/table">
            <a:tbl>
              <a:tblPr/>
              <a:tblGrid>
                <a:gridCol w="960120"/>
                <a:gridCol w="502920"/>
                <a:gridCol w="457200"/>
                <a:gridCol w="502920"/>
              </a:tblGrid>
              <a:tr h="383760">
                <a:tc>
                  <a:txBody>
                    <a:bodyPr lIns="37800" tIns="25200" rIns="37800" bIns="25200" anchor="ctr">
                      <a:noAutofit/>
                    </a:bodyPr>
                    <a:p>
                      <a:endParaRPr lang="en-US" sz="95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Calibri"/>
                      </a:endParaRPr>
                    </a:p>
                  </a:txBody>
                  <a:tcPr anchor="ctr" marL="37800" marR="37800" marT="25200" marB="25200">
                    <a:lnL w="6480">
                      <a:solidFill>
                        <a:srgbClr val="C9DCE3"/>
                      </a:solidFill>
                      <a:prstDash val="solid"/>
                    </a:lnL>
                    <a:lnR w="6480">
                      <a:solidFill>
                        <a:srgbClr val="C9DCE3"/>
                      </a:solidFill>
                      <a:prstDash val="solid"/>
                    </a:lnR>
                    <a:lnT w="6480">
                      <a:solidFill>
                        <a:srgbClr val="C9DCE3"/>
                      </a:solidFill>
                      <a:prstDash val="solid"/>
                    </a:lnT>
                    <a:lnB w="6480">
                      <a:solidFill>
                        <a:srgbClr val="C9DCE3"/>
                      </a:solidFill>
                      <a:prstDash val="solid"/>
                    </a:lnB>
                    <a:solidFill>
                      <a:srgbClr val="12556B"/>
                    </a:solidFill>
                  </a:tcPr>
                </a:tc>
                <a:tc>
                  <a:txBody>
                    <a:bodyPr lIns="37800" tIns="25200" rIns="37800" bIns="252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Brier</a:t>
                      </a:r>
                      <a:endParaRPr lang="en-US" sz="9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7800" marR="37800" marT="25200" marB="25200">
                    <a:lnL w="6480">
                      <a:solidFill>
                        <a:srgbClr val="C9DCE3"/>
                      </a:solidFill>
                      <a:prstDash val="solid"/>
                    </a:lnL>
                    <a:lnR w="6480">
                      <a:solidFill>
                        <a:srgbClr val="C9DCE3"/>
                      </a:solidFill>
                      <a:prstDash val="solid"/>
                    </a:lnR>
                    <a:lnT w="6480">
                      <a:solidFill>
                        <a:srgbClr val="C9DCE3"/>
                      </a:solidFill>
                      <a:prstDash val="solid"/>
                    </a:lnT>
                    <a:lnB w="6480">
                      <a:solidFill>
                        <a:srgbClr val="C9DCE3"/>
                      </a:solidFill>
                      <a:prstDash val="solid"/>
                    </a:lnB>
                    <a:solidFill>
                      <a:srgbClr val="12556B"/>
                    </a:solidFill>
                  </a:tcPr>
                </a:tc>
                <a:tc>
                  <a:txBody>
                    <a:bodyPr lIns="37800" tIns="25200" rIns="37800" bIns="252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ROC-AUC</a:t>
                      </a:r>
                      <a:endParaRPr lang="en-US" sz="9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7800" marR="37800" marT="25200" marB="25200">
                    <a:lnL w="6480">
                      <a:solidFill>
                        <a:srgbClr val="C9DCE3"/>
                      </a:solidFill>
                      <a:prstDash val="solid"/>
                    </a:lnL>
                    <a:lnR w="6480">
                      <a:solidFill>
                        <a:srgbClr val="C9DCE3"/>
                      </a:solidFill>
                      <a:prstDash val="solid"/>
                    </a:lnR>
                    <a:lnT w="6480">
                      <a:solidFill>
                        <a:srgbClr val="C9DCE3"/>
                      </a:solidFill>
                      <a:prstDash val="solid"/>
                    </a:lnT>
                    <a:lnB w="6480">
                      <a:solidFill>
                        <a:srgbClr val="C9DCE3"/>
                      </a:solidFill>
                      <a:prstDash val="solid"/>
                    </a:lnB>
                    <a:solidFill>
                      <a:srgbClr val="12556B"/>
                    </a:solidFill>
                  </a:tcPr>
                </a:tc>
                <a:tc>
                  <a:txBody>
                    <a:bodyPr lIns="37800" tIns="25200" rIns="37800" bIns="252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PR-AUC</a:t>
                      </a:r>
                      <a:endParaRPr lang="en-US" sz="9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7800" marR="37800" marT="25200" marB="25200">
                    <a:lnL w="6480">
                      <a:solidFill>
                        <a:srgbClr val="C9DCE3"/>
                      </a:solidFill>
                      <a:prstDash val="solid"/>
                    </a:lnL>
                    <a:lnR w="6480">
                      <a:solidFill>
                        <a:srgbClr val="C9DCE3"/>
                      </a:solidFill>
                      <a:prstDash val="solid"/>
                    </a:lnR>
                    <a:lnT w="6480">
                      <a:solidFill>
                        <a:srgbClr val="C9DCE3"/>
                      </a:solidFill>
                      <a:prstDash val="solid"/>
                    </a:lnT>
                    <a:lnB w="6480">
                      <a:solidFill>
                        <a:srgbClr val="C9DCE3"/>
                      </a:solidFill>
                      <a:prstDash val="solid"/>
                    </a:lnB>
                    <a:solidFill>
                      <a:srgbClr val="12556B"/>
                    </a:solidFill>
                  </a:tcPr>
                </a:tc>
              </a:tr>
              <a:tr h="383760">
                <a:tc>
                  <a:txBody>
                    <a:bodyPr lIns="37800" tIns="25200" rIns="37800" bIns="252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0B2E3B"/>
                          </a:solidFill>
                          <a:effectLst/>
                          <a:uFillTx/>
                          <a:latin typeface="Calibri"/>
                        </a:rPr>
                        <a:t>LightGBM, raw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7800" marR="37800" marT="25200" marB="25200">
                    <a:lnL w="6480">
                      <a:solidFill>
                        <a:srgbClr val="C9DCE3"/>
                      </a:solidFill>
                      <a:prstDash val="solid"/>
                    </a:lnL>
                    <a:lnR w="6480">
                      <a:solidFill>
                        <a:srgbClr val="C9DCE3"/>
                      </a:solidFill>
                      <a:prstDash val="solid"/>
                    </a:lnR>
                    <a:lnT w="6480">
                      <a:solidFill>
                        <a:srgbClr val="C9DCE3"/>
                      </a:solidFill>
                      <a:prstDash val="solid"/>
                    </a:lnT>
                    <a:lnB w="6480">
                      <a:solidFill>
                        <a:srgbClr val="C9DC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7800" tIns="25200" rIns="37800" bIns="252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0.2007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7800" marR="37800" marT="25200" marB="25200">
                    <a:lnL w="6480">
                      <a:solidFill>
                        <a:srgbClr val="C9DCE3"/>
                      </a:solidFill>
                      <a:prstDash val="solid"/>
                    </a:lnL>
                    <a:lnR w="6480">
                      <a:solidFill>
                        <a:srgbClr val="C9DCE3"/>
                      </a:solidFill>
                      <a:prstDash val="solid"/>
                    </a:lnR>
                    <a:lnT w="6480">
                      <a:solidFill>
                        <a:srgbClr val="C9DCE3"/>
                      </a:solidFill>
                      <a:prstDash val="solid"/>
                    </a:lnT>
                    <a:lnB w="6480">
                      <a:solidFill>
                        <a:srgbClr val="C9DC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7800" tIns="25200" rIns="37800" bIns="252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0.6839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7800" marR="37800" marT="25200" marB="25200">
                    <a:lnL w="6480">
                      <a:solidFill>
                        <a:srgbClr val="C9DCE3"/>
                      </a:solidFill>
                      <a:prstDash val="solid"/>
                    </a:lnL>
                    <a:lnR w="6480">
                      <a:solidFill>
                        <a:srgbClr val="C9DCE3"/>
                      </a:solidFill>
                      <a:prstDash val="solid"/>
                    </a:lnR>
                    <a:lnT w="6480">
                      <a:solidFill>
                        <a:srgbClr val="C9DCE3"/>
                      </a:solidFill>
                      <a:prstDash val="solid"/>
                    </a:lnT>
                    <a:lnB w="6480">
                      <a:solidFill>
                        <a:srgbClr val="C9DC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7800" tIns="25200" rIns="37800" bIns="252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0.2376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7800" marR="37800" marT="25200" marB="25200">
                    <a:lnL w="6480">
                      <a:solidFill>
                        <a:srgbClr val="C9DCE3"/>
                      </a:solidFill>
                      <a:prstDash val="solid"/>
                    </a:lnL>
                    <a:lnR w="6480">
                      <a:solidFill>
                        <a:srgbClr val="C9DCE3"/>
                      </a:solidFill>
                      <a:prstDash val="solid"/>
                    </a:lnR>
                    <a:lnT w="6480">
                      <a:solidFill>
                        <a:srgbClr val="C9DCE3"/>
                      </a:solidFill>
                      <a:prstDash val="solid"/>
                    </a:lnT>
                    <a:lnB w="6480">
                      <a:solidFill>
                        <a:srgbClr val="C9DC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3760">
                <a:tc>
                  <a:txBody>
                    <a:bodyPr lIns="37800" tIns="25200" rIns="37800" bIns="252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0B2E3B"/>
                          </a:solidFill>
                          <a:effectLst/>
                          <a:uFillTx/>
                          <a:latin typeface="Calibri"/>
                        </a:rPr>
                        <a:t>+ Platt scaling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7800" marR="37800" marT="25200" marB="25200">
                    <a:lnL w="6480">
                      <a:solidFill>
                        <a:srgbClr val="C9DCE3"/>
                      </a:solidFill>
                      <a:prstDash val="solid"/>
                    </a:lnL>
                    <a:lnR w="6480">
                      <a:solidFill>
                        <a:srgbClr val="C9DCE3"/>
                      </a:solidFill>
                      <a:prstDash val="solid"/>
                    </a:lnR>
                    <a:lnT w="6480">
                      <a:solidFill>
                        <a:srgbClr val="C9DCE3"/>
                      </a:solidFill>
                      <a:prstDash val="solid"/>
                    </a:lnT>
                    <a:lnB w="6480">
                      <a:solidFill>
                        <a:srgbClr val="C9DCE3"/>
                      </a:solidFill>
                      <a:prstDash val="solid"/>
                    </a:lnB>
                    <a:solidFill>
                      <a:srgbClr val="E2F0E9"/>
                    </a:solidFill>
                  </a:tcPr>
                </a:tc>
                <a:tc>
                  <a:txBody>
                    <a:bodyPr lIns="37800" tIns="25200" rIns="37800" bIns="252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0.0954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7800" marR="37800" marT="25200" marB="25200">
                    <a:lnL w="6480">
                      <a:solidFill>
                        <a:srgbClr val="C9DCE3"/>
                      </a:solidFill>
                      <a:prstDash val="solid"/>
                    </a:lnL>
                    <a:lnR w="6480">
                      <a:solidFill>
                        <a:srgbClr val="C9DCE3"/>
                      </a:solidFill>
                      <a:prstDash val="solid"/>
                    </a:lnR>
                    <a:lnT w="6480">
                      <a:solidFill>
                        <a:srgbClr val="C9DCE3"/>
                      </a:solidFill>
                      <a:prstDash val="solid"/>
                    </a:lnT>
                    <a:lnB w="6480">
                      <a:solidFill>
                        <a:srgbClr val="C9DCE3"/>
                      </a:solidFill>
                      <a:prstDash val="solid"/>
                    </a:lnB>
                    <a:solidFill>
                      <a:srgbClr val="E2F0E9"/>
                    </a:solidFill>
                  </a:tcPr>
                </a:tc>
                <a:tc>
                  <a:txBody>
                    <a:bodyPr lIns="37800" tIns="25200" rIns="37800" bIns="252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0.6839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7800" marR="37800" marT="25200" marB="25200">
                    <a:lnL w="6480">
                      <a:solidFill>
                        <a:srgbClr val="C9DCE3"/>
                      </a:solidFill>
                      <a:prstDash val="solid"/>
                    </a:lnL>
                    <a:lnR w="6480">
                      <a:solidFill>
                        <a:srgbClr val="C9DCE3"/>
                      </a:solidFill>
                      <a:prstDash val="solid"/>
                    </a:lnR>
                    <a:lnT w="6480">
                      <a:solidFill>
                        <a:srgbClr val="C9DCE3"/>
                      </a:solidFill>
                      <a:prstDash val="solid"/>
                    </a:lnT>
                    <a:lnB w="6480">
                      <a:solidFill>
                        <a:srgbClr val="C9DCE3"/>
                      </a:solidFill>
                      <a:prstDash val="solid"/>
                    </a:lnB>
                    <a:solidFill>
                      <a:srgbClr val="E2F0E9"/>
                    </a:solidFill>
                  </a:tcPr>
                </a:tc>
                <a:tc>
                  <a:txBody>
                    <a:bodyPr lIns="37800" tIns="25200" rIns="37800" bIns="252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0.2376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7800" marR="37800" marT="25200" marB="25200">
                    <a:lnL w="6480">
                      <a:solidFill>
                        <a:srgbClr val="C9DCE3"/>
                      </a:solidFill>
                      <a:prstDash val="solid"/>
                    </a:lnL>
                    <a:lnR w="6480">
                      <a:solidFill>
                        <a:srgbClr val="C9DCE3"/>
                      </a:solidFill>
                      <a:prstDash val="solid"/>
                    </a:lnR>
                    <a:lnT w="6480">
                      <a:solidFill>
                        <a:srgbClr val="C9DCE3"/>
                      </a:solidFill>
                      <a:prstDash val="solid"/>
                    </a:lnT>
                    <a:lnB w="6480">
                      <a:solidFill>
                        <a:srgbClr val="C9DCE3"/>
                      </a:solidFill>
                      <a:prstDash val="solid"/>
                    </a:lnB>
                    <a:solidFill>
                      <a:srgbClr val="E2F0E9"/>
                    </a:solidFill>
                  </a:tcPr>
                </a:tc>
              </a:tr>
            </a:tbl>
          </a:graphicData>
        </a:graphic>
      </p:graphicFrame>
      <p:sp>
        <p:nvSpPr>
          <p:cNvPr id="124" name="Shape 18"/>
          <p:cNvSpPr/>
          <p:nvPr/>
        </p:nvSpPr>
        <p:spPr>
          <a:xfrm>
            <a:off x="6172200" y="5120640"/>
            <a:ext cx="5531760" cy="914040"/>
          </a:xfrm>
          <a:prstGeom prst="roundRect">
            <a:avLst>
              <a:gd name="adj" fmla="val 8000"/>
            </a:avLst>
          </a:prstGeom>
          <a:solidFill>
            <a:srgbClr val="EEF4F6"/>
          </a:solidFill>
          <a:ln w="9525">
            <a:solidFill>
              <a:srgbClr val="C9DC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19"/>
          <p:cNvSpPr/>
          <p:nvPr/>
        </p:nvSpPr>
        <p:spPr>
          <a:xfrm>
            <a:off x="6373440" y="5120640"/>
            <a:ext cx="512928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030" b="1" u="none" strike="noStrike">
                <a:solidFill>
                  <a:srgbClr val="1F5F44"/>
                </a:solidFill>
                <a:effectLst/>
                <a:uFillTx/>
                <a:latin typeface="Calibri"/>
                <a:ea typeface="Calibri"/>
              </a:rPr>
              <a:t>Brier more than halves; discrimination is bit-identical.  </a:t>
            </a:r>
            <a:r>
              <a:rPr lang="en-US" sz="103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Platt scaling is strictly monotonic — it cannot reorder a single patient. The call list is unchanged while a predicted 18% now means roughly 18%.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20"/>
          <p:cNvSpPr/>
          <p:nvPr/>
        </p:nvSpPr>
        <p:spPr>
          <a:xfrm>
            <a:off x="11597400" y="6492240"/>
            <a:ext cx="3654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E9AA5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Text 0"/>
          <p:cNvSpPr/>
          <p:nvPr/>
        </p:nvSpPr>
        <p:spPr>
          <a:xfrm>
            <a:off x="502920" y="384120"/>
            <a:ext cx="5486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139" strike="noStrike">
                <a:solidFill>
                  <a:srgbClr val="12556B"/>
                </a:solidFill>
                <a:effectLst/>
                <a:uFillTx/>
                <a:latin typeface="Calibri"/>
                <a:ea typeface="Calibri"/>
              </a:rPr>
              <a:t>OPERATING POINT &amp; CLINICAL VALUE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1"/>
          <p:cNvSpPr/>
          <p:nvPr/>
        </p:nvSpPr>
        <p:spPr>
          <a:xfrm>
            <a:off x="502920" y="65844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en-US" sz="2250" b="1" u="none" strike="noStrike">
                <a:solidFill>
                  <a:srgbClr val="0B2E3B"/>
                </a:solidFill>
                <a:effectLst/>
                <a:uFillTx/>
                <a:latin typeface="Cambria"/>
                <a:ea typeface="Cambria"/>
              </a:rPr>
              <a:t>The threshold is a budget decision — and acting on it beats the alternatives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2"/>
          <p:cNvSpPr/>
          <p:nvPr/>
        </p:nvSpPr>
        <p:spPr>
          <a:xfrm>
            <a:off x="502920" y="1417320"/>
            <a:ext cx="5668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B2E3B"/>
                </a:solidFill>
                <a:effectLst/>
                <a:uFillTx/>
                <a:latin typeface="Calibri"/>
                <a:ea typeface="Calibri"/>
              </a:rPr>
              <a:t>Precision &amp; recall vs. follow-up call capacity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0" name="Image 0" descr="imgs/operating_point.png"/>
          <p:cNvPicPr/>
          <p:nvPr/>
        </p:nvPicPr>
        <p:blipFill>
          <a:blip r:embed="rId1"/>
          <a:stretch/>
        </p:blipFill>
        <p:spPr>
          <a:xfrm>
            <a:off x="1280160" y="1737360"/>
            <a:ext cx="2834280" cy="2294640"/>
          </a:xfrm>
          <a:prstGeom prst="rect">
            <a:avLst/>
          </a:prstGeom>
          <a:noFill/>
          <a:ln w="0">
            <a:noFill/>
          </a:ln>
        </p:spPr>
      </p:pic>
      <p:graphicFrame>
        <p:nvGraphicFramePr>
          <p:cNvPr id="131" name="Table 0"/>
          <p:cNvGraphicFramePr/>
          <p:nvPr/>
        </p:nvGraphicFramePr>
        <p:xfrm>
          <a:off x="502920" y="4160520"/>
          <a:ext cx="5668920" cy="877320"/>
        </p:xfrm>
        <a:graphic>
          <a:graphicData uri="http://schemas.openxmlformats.org/drawingml/2006/table">
            <a:tbl>
              <a:tblPr/>
              <a:tblGrid>
                <a:gridCol w="2381040"/>
                <a:gridCol w="1643760"/>
                <a:gridCol w="1643760"/>
              </a:tblGrid>
              <a:tr h="29232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Capacity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C9DCE3"/>
                      </a:solidFill>
                      <a:prstDash val="solid"/>
                    </a:lnL>
                    <a:lnR w="6480">
                      <a:solidFill>
                        <a:srgbClr val="C9DCE3"/>
                      </a:solidFill>
                      <a:prstDash val="solid"/>
                    </a:lnR>
                    <a:lnT w="6480">
                      <a:solidFill>
                        <a:srgbClr val="C9DCE3"/>
                      </a:solidFill>
                      <a:prstDash val="solid"/>
                    </a:lnT>
                    <a:lnB w="6480">
                      <a:solidFill>
                        <a:srgbClr val="C9DCE3"/>
                      </a:solidFill>
                      <a:prstDash val="solid"/>
                    </a:lnB>
                    <a:solidFill>
                      <a:srgbClr val="12556B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Recall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C9DCE3"/>
                      </a:solidFill>
                      <a:prstDash val="solid"/>
                    </a:lnL>
                    <a:lnR w="6480">
                      <a:solidFill>
                        <a:srgbClr val="C9DCE3"/>
                      </a:solidFill>
                      <a:prstDash val="solid"/>
                    </a:lnR>
                    <a:lnT w="6480">
                      <a:solidFill>
                        <a:srgbClr val="C9DCE3"/>
                      </a:solidFill>
                      <a:prstDash val="solid"/>
                    </a:lnT>
                    <a:lnB w="6480">
                      <a:solidFill>
                        <a:srgbClr val="C9DCE3"/>
                      </a:solidFill>
                      <a:prstDash val="solid"/>
                    </a:lnB>
                    <a:solidFill>
                      <a:srgbClr val="12556B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Precision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C9DCE3"/>
                      </a:solidFill>
                      <a:prstDash val="solid"/>
                    </a:lnL>
                    <a:lnR w="6480">
                      <a:solidFill>
                        <a:srgbClr val="C9DCE3"/>
                      </a:solidFill>
                      <a:prstDash val="solid"/>
                    </a:lnR>
                    <a:lnT w="6480">
                      <a:solidFill>
                        <a:srgbClr val="C9DCE3"/>
                      </a:solidFill>
                      <a:prstDash val="solid"/>
                    </a:lnT>
                    <a:lnB w="6480">
                      <a:solidFill>
                        <a:srgbClr val="C9DCE3"/>
                      </a:solidFill>
                      <a:prstDash val="solid"/>
                    </a:lnB>
                    <a:solidFill>
                      <a:srgbClr val="12556B"/>
                    </a:solidFill>
                  </a:tcPr>
                </a:tc>
              </a:tr>
              <a:tr h="29232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20% ← deployed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C9DCE3"/>
                      </a:solidFill>
                      <a:prstDash val="solid"/>
                    </a:lnL>
                    <a:lnR w="6480">
                      <a:solidFill>
                        <a:srgbClr val="C9DCE3"/>
                      </a:solidFill>
                      <a:prstDash val="solid"/>
                    </a:lnR>
                    <a:lnT w="6480">
                      <a:solidFill>
                        <a:srgbClr val="C9DCE3"/>
                      </a:solidFill>
                      <a:prstDash val="solid"/>
                    </a:lnT>
                    <a:lnB w="6480">
                      <a:solidFill>
                        <a:srgbClr val="C9DCE3"/>
                      </a:solidFill>
                      <a:prstDash val="solid"/>
                    </a:lnB>
                    <a:solidFill>
                      <a:srgbClr val="E2F0E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40.6%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C9DCE3"/>
                      </a:solidFill>
                      <a:prstDash val="solid"/>
                    </a:lnL>
                    <a:lnR w="6480">
                      <a:solidFill>
                        <a:srgbClr val="C9DCE3"/>
                      </a:solidFill>
                      <a:prstDash val="solid"/>
                    </a:lnR>
                    <a:lnT w="6480">
                      <a:solidFill>
                        <a:srgbClr val="C9DCE3"/>
                      </a:solidFill>
                      <a:prstDash val="solid"/>
                    </a:lnT>
                    <a:lnB w="6480">
                      <a:solidFill>
                        <a:srgbClr val="C9DCE3"/>
                      </a:solidFill>
                      <a:prstDash val="solid"/>
                    </a:lnB>
                    <a:solidFill>
                      <a:srgbClr val="E2F0E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23.1%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C9DCE3"/>
                      </a:solidFill>
                      <a:prstDash val="solid"/>
                    </a:lnL>
                    <a:lnR w="6480">
                      <a:solidFill>
                        <a:srgbClr val="C9DCE3"/>
                      </a:solidFill>
                      <a:prstDash val="solid"/>
                    </a:lnR>
                    <a:lnT w="6480">
                      <a:solidFill>
                        <a:srgbClr val="C9DCE3"/>
                      </a:solidFill>
                      <a:prstDash val="solid"/>
                    </a:lnT>
                    <a:lnB w="6480">
                      <a:solidFill>
                        <a:srgbClr val="C9DCE3"/>
                      </a:solidFill>
                      <a:prstDash val="solid"/>
                    </a:lnB>
                    <a:solidFill>
                      <a:srgbClr val="E2F0E9"/>
                    </a:solidFill>
                  </a:tcPr>
                </a:tc>
              </a:tr>
              <a:tr h="29232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40%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C9DCE3"/>
                      </a:solidFill>
                      <a:prstDash val="solid"/>
                    </a:lnL>
                    <a:lnR w="6480">
                      <a:solidFill>
                        <a:srgbClr val="C9DCE3"/>
                      </a:solidFill>
                      <a:prstDash val="solid"/>
                    </a:lnR>
                    <a:lnT w="6480">
                      <a:solidFill>
                        <a:srgbClr val="C9DCE3"/>
                      </a:solidFill>
                      <a:prstDash val="solid"/>
                    </a:lnT>
                    <a:lnB w="6480">
                      <a:solidFill>
                        <a:srgbClr val="C9DC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63.9%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C9DCE3"/>
                      </a:solidFill>
                      <a:prstDash val="solid"/>
                    </a:lnL>
                    <a:lnR w="6480">
                      <a:solidFill>
                        <a:srgbClr val="C9DCE3"/>
                      </a:solidFill>
                      <a:prstDash val="solid"/>
                    </a:lnR>
                    <a:lnT w="6480">
                      <a:solidFill>
                        <a:srgbClr val="C9DCE3"/>
                      </a:solidFill>
                      <a:prstDash val="solid"/>
                    </a:lnT>
                    <a:lnB w="6480">
                      <a:solidFill>
                        <a:srgbClr val="C9DC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00" b="0" u="none" strike="noStrike">
                          <a:solidFill>
                            <a:srgbClr val="333333"/>
                          </a:solidFill>
                          <a:effectLst/>
                          <a:uFillTx/>
                          <a:latin typeface="Calibri"/>
                        </a:rPr>
                        <a:t>18.1%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C9DCE3"/>
                      </a:solidFill>
                      <a:prstDash val="solid"/>
                    </a:lnL>
                    <a:lnR w="6480">
                      <a:solidFill>
                        <a:srgbClr val="C9DCE3"/>
                      </a:solidFill>
                      <a:prstDash val="solid"/>
                    </a:lnR>
                    <a:lnT w="6480">
                      <a:solidFill>
                        <a:srgbClr val="C9DCE3"/>
                      </a:solidFill>
                      <a:prstDash val="solid"/>
                    </a:lnT>
                    <a:lnB w="6480">
                      <a:solidFill>
                        <a:srgbClr val="C9DC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2" name="Text 3"/>
          <p:cNvSpPr/>
          <p:nvPr/>
        </p:nvSpPr>
        <p:spPr>
          <a:xfrm>
            <a:off x="502920" y="5139000"/>
            <a:ext cx="566892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6000"/>
              </a:lnSpc>
              <a:tabLst>
                <a:tab pos="0" algn="l"/>
              </a:tabLst>
            </a:pPr>
            <a:r>
              <a:rPr lang="en-US" sz="980" b="1" u="none" strike="noStrike">
                <a:solidFill>
                  <a:srgbClr val="0B2E3B"/>
                </a:solidFill>
                <a:effectLst/>
                <a:uFillTx/>
                <a:latin typeface="Calibri"/>
                <a:ea typeface="Calibri"/>
              </a:rPr>
              <a:t>Doubling capacity from 20% to 40% buys 23 points of recall for 5 points of precision. </a:t>
            </a:r>
            <a:r>
              <a:rPr lang="en-US" sz="98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At 20%: 901 true positives, 2,965 false alarms, 1,343 missed. Whether the trade is worth taking is a hospital finance question — the model supports either answer without retraining.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4"/>
          <p:cNvSpPr/>
          <p:nvPr/>
        </p:nvSpPr>
        <p:spPr>
          <a:xfrm>
            <a:off x="6446520" y="1417320"/>
            <a:ext cx="5257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B2E3B"/>
                </a:solidFill>
                <a:effectLst/>
                <a:uFillTx/>
                <a:latin typeface="Calibri"/>
                <a:ea typeface="Calibri"/>
              </a:rPr>
              <a:t>CLINICAL VALUE — does acting on it beat what they do today?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5"/>
          <p:cNvSpPr/>
          <p:nvPr/>
        </p:nvSpPr>
        <p:spPr>
          <a:xfrm>
            <a:off x="6446520" y="1700640"/>
            <a:ext cx="5257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000" b="0" i="1" u="none" strike="noStrike">
                <a:solidFill>
                  <a:srgbClr val="5A7683"/>
                </a:solidFill>
                <a:effectLst/>
                <a:uFillTx/>
                <a:latin typeface="Calibri"/>
                <a:ea typeface="Calibri"/>
              </a:rPr>
              <a:t>Decision curve analysis: pt is the risk at which a call becomes worthwhile — it encodes the cost ratio of a call vs. a missed readmission.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Shape 6"/>
          <p:cNvSpPr/>
          <p:nvPr/>
        </p:nvSpPr>
        <p:spPr>
          <a:xfrm>
            <a:off x="6446520" y="2331720"/>
            <a:ext cx="1630440" cy="1051200"/>
          </a:xfrm>
          <a:prstGeom prst="roundRect">
            <a:avLst>
              <a:gd name="adj" fmla="val 6957"/>
            </a:avLst>
          </a:prstGeom>
          <a:solidFill>
            <a:srgbClr val="E2F0E9"/>
          </a:solidFill>
          <a:ln w="9525">
            <a:solidFill>
              <a:srgbClr val="C9DC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7"/>
          <p:cNvSpPr/>
          <p:nvPr/>
        </p:nvSpPr>
        <p:spPr>
          <a:xfrm>
            <a:off x="6446520" y="2450520"/>
            <a:ext cx="1630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1F5F44"/>
                </a:solidFill>
                <a:effectLst/>
                <a:uFillTx/>
                <a:latin typeface="Cambria"/>
                <a:ea typeface="Cambria"/>
              </a:rPr>
              <a:t>+0.0157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8"/>
          <p:cNvSpPr/>
          <p:nvPr/>
        </p:nvSpPr>
        <p:spPr>
          <a:xfrm>
            <a:off x="6519600" y="2926080"/>
            <a:ext cx="14839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930" b="0" u="none" strike="noStrike">
                <a:solidFill>
                  <a:srgbClr val="1F5F44"/>
                </a:solidFill>
                <a:effectLst/>
                <a:uFillTx/>
                <a:latin typeface="Calibri"/>
                <a:ea typeface="Calibri"/>
              </a:rPr>
              <a:t>Use the model</a:t>
            </a:r>
            <a:endParaRPr lang="en-US" sz="9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Shape 9"/>
          <p:cNvSpPr/>
          <p:nvPr/>
        </p:nvSpPr>
        <p:spPr>
          <a:xfrm>
            <a:off x="8260200" y="2331720"/>
            <a:ext cx="1630440" cy="1051200"/>
          </a:xfrm>
          <a:prstGeom prst="roundRect">
            <a:avLst>
              <a:gd name="adj" fmla="val 6957"/>
            </a:avLst>
          </a:prstGeom>
          <a:solidFill>
            <a:srgbClr val="FBE4E0"/>
          </a:solidFill>
          <a:ln w="9525">
            <a:solidFill>
              <a:srgbClr val="C9DC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10"/>
          <p:cNvSpPr/>
          <p:nvPr/>
        </p:nvSpPr>
        <p:spPr>
          <a:xfrm>
            <a:off x="8260200" y="2450520"/>
            <a:ext cx="1630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9E3423"/>
                </a:solidFill>
                <a:effectLst/>
                <a:uFillTx/>
                <a:latin typeface="Cambria"/>
                <a:ea typeface="Cambria"/>
              </a:rPr>
              <a:t>−0.0617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11"/>
          <p:cNvSpPr/>
          <p:nvPr/>
        </p:nvSpPr>
        <p:spPr>
          <a:xfrm>
            <a:off x="8333280" y="2926080"/>
            <a:ext cx="14839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930" b="0" u="none" strike="noStrike">
                <a:solidFill>
                  <a:srgbClr val="9E3423"/>
                </a:solidFill>
                <a:effectLst/>
                <a:uFillTx/>
                <a:latin typeface="Calibri"/>
                <a:ea typeface="Calibri"/>
              </a:rPr>
              <a:t>Call everyone</a:t>
            </a:r>
            <a:endParaRPr lang="en-US" sz="9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Shape 12"/>
          <p:cNvSpPr/>
          <p:nvPr/>
        </p:nvSpPr>
        <p:spPr>
          <a:xfrm>
            <a:off x="10073520" y="2331720"/>
            <a:ext cx="1630440" cy="1051200"/>
          </a:xfrm>
          <a:prstGeom prst="roundRect">
            <a:avLst>
              <a:gd name="adj" fmla="val 6957"/>
            </a:avLst>
          </a:prstGeom>
          <a:solidFill>
            <a:srgbClr val="EEF4F6"/>
          </a:solidFill>
          <a:ln w="9525">
            <a:solidFill>
              <a:srgbClr val="C9DC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13"/>
          <p:cNvSpPr/>
          <p:nvPr/>
        </p:nvSpPr>
        <p:spPr>
          <a:xfrm>
            <a:off x="10073520" y="2450520"/>
            <a:ext cx="1630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5A7683"/>
                </a:solidFill>
                <a:effectLst/>
                <a:uFillTx/>
                <a:latin typeface="Cambria"/>
                <a:ea typeface="Cambria"/>
              </a:rPr>
              <a:t>0.0000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14"/>
          <p:cNvSpPr/>
          <p:nvPr/>
        </p:nvSpPr>
        <p:spPr>
          <a:xfrm>
            <a:off x="10146960" y="2926080"/>
            <a:ext cx="14839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930" b="0" u="none" strike="noStrike">
                <a:solidFill>
                  <a:srgbClr val="5A7683"/>
                </a:solidFill>
                <a:effectLst/>
                <a:uFillTx/>
                <a:latin typeface="Calibri"/>
                <a:ea typeface="Calibri"/>
              </a:rPr>
              <a:t>Call nobody</a:t>
            </a:r>
            <a:endParaRPr lang="en-US" sz="9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15"/>
          <p:cNvSpPr/>
          <p:nvPr/>
        </p:nvSpPr>
        <p:spPr>
          <a:xfrm>
            <a:off x="6446520" y="3456360"/>
            <a:ext cx="52574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u="none" strike="noStrike">
                <a:solidFill>
                  <a:srgbClr val="7E9AA5"/>
                </a:solidFill>
                <a:effectLst/>
                <a:uFillTx/>
                <a:latin typeface="Calibri"/>
                <a:ea typeface="Calibri"/>
              </a:rPr>
              <a:t>Net benefit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Shape 16"/>
          <p:cNvSpPr/>
          <p:nvPr/>
        </p:nvSpPr>
        <p:spPr>
          <a:xfrm>
            <a:off x="6446520" y="3886200"/>
            <a:ext cx="5257440" cy="1416960"/>
          </a:xfrm>
          <a:prstGeom prst="roundRect">
            <a:avLst>
              <a:gd name="adj" fmla="val 5161"/>
            </a:avLst>
          </a:prstGeom>
          <a:solidFill>
            <a:srgbClr val="EEF4F6"/>
          </a:solidFill>
          <a:ln w="9525">
            <a:solidFill>
              <a:srgbClr val="C9DC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17"/>
          <p:cNvSpPr/>
          <p:nvPr/>
        </p:nvSpPr>
        <p:spPr>
          <a:xfrm>
            <a:off x="6675120" y="3886200"/>
            <a:ext cx="4800240" cy="141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B2E3B"/>
                </a:solidFill>
                <a:effectLst/>
                <a:uFillTx/>
                <a:latin typeface="Calibri"/>
                <a:ea typeface="Calibri"/>
              </a:rPr>
              <a:t>15.6 extra readmissions caught per 1,000 discharges, net of the false alarms they cost. </a:t>
            </a:r>
            <a:r>
              <a:rPr lang="en-US" sz="10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The model beats both alternatives for pt between 0.025 and 0.43 — every realistic hospital sits inside that range. Note ‘call everyone’ is worse than doing nothing at this exchange rate: false-alarm burden swamps the benefit.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18"/>
          <p:cNvSpPr/>
          <p:nvPr/>
        </p:nvSpPr>
        <p:spPr>
          <a:xfrm>
            <a:off x="11597400" y="6492240"/>
            <a:ext cx="3654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E9AA5"/>
                </a:solidFill>
                <a:effectLst/>
                <a:uFillTx/>
                <a:latin typeface="Calibri"/>
                <a:ea typeface="Calibri"/>
              </a:rPr>
              <a:t>6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Text 0"/>
          <p:cNvSpPr/>
          <p:nvPr/>
        </p:nvSpPr>
        <p:spPr>
          <a:xfrm>
            <a:off x="502920" y="384120"/>
            <a:ext cx="5486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139" strike="noStrike">
                <a:solidFill>
                  <a:srgbClr val="12556B"/>
                </a:solidFill>
                <a:effectLst/>
                <a:uFillTx/>
                <a:latin typeface="Calibri"/>
                <a:ea typeface="Calibri"/>
              </a:rPr>
              <a:t>EXPLAINABILITY, ROBUSTNESS &amp; ABLATION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1"/>
          <p:cNvSpPr/>
          <p:nvPr/>
        </p:nvSpPr>
        <p:spPr>
          <a:xfrm>
            <a:off x="502920" y="65844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0B2E3B"/>
                </a:solidFill>
                <a:effectLst/>
                <a:uFillTx/>
                <a:latin typeface="Cambria"/>
                <a:ea typeface="Cambria"/>
              </a:rPr>
              <a:t>What the model reads — and whether the number holds up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2"/>
          <p:cNvSpPr/>
          <p:nvPr/>
        </p:nvSpPr>
        <p:spPr>
          <a:xfrm>
            <a:off x="502920" y="1417320"/>
            <a:ext cx="53488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i="1" u="none" strike="noStrike">
                <a:solidFill>
                  <a:srgbClr val="5A7683"/>
                </a:solidFill>
                <a:effectLst/>
                <a:uFillTx/>
                <a:latin typeface="Calibri"/>
                <a:ea typeface="Calibri"/>
              </a:rPr>
              <a:t>Permutation importance and SHAP agree on the top of the list.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Shape 3"/>
          <p:cNvSpPr/>
          <p:nvPr/>
        </p:nvSpPr>
        <p:spPr>
          <a:xfrm>
            <a:off x="502920" y="1783080"/>
            <a:ext cx="310680" cy="310680"/>
          </a:xfrm>
          <a:prstGeom prst="ellipse">
            <a:avLst/>
          </a:prstGeom>
          <a:solidFill>
            <a:srgbClr val="1255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4"/>
          <p:cNvSpPr/>
          <p:nvPr/>
        </p:nvSpPr>
        <p:spPr>
          <a:xfrm>
            <a:off x="502920" y="1783080"/>
            <a:ext cx="3106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5"/>
          <p:cNvSpPr/>
          <p:nvPr/>
        </p:nvSpPr>
        <p:spPr>
          <a:xfrm>
            <a:off x="941760" y="1755720"/>
            <a:ext cx="4910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30" b="1" u="none" strike="noStrike">
                <a:solidFill>
                  <a:srgbClr val="0B2E3B"/>
                </a:solidFill>
                <a:effectLst/>
                <a:uFillTx/>
                <a:latin typeface="Calibri"/>
                <a:ea typeface="Calibri"/>
              </a:rPr>
              <a:t>Prior inpatient admissions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6"/>
          <p:cNvSpPr/>
          <p:nvPr/>
        </p:nvSpPr>
        <p:spPr>
          <a:xfrm>
            <a:off x="941760" y="2030040"/>
            <a:ext cx="4910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5A7683"/>
                </a:solidFill>
                <a:effectLst/>
                <a:uFillTx/>
                <a:latin typeface="Calibri"/>
                <a:ea typeface="Calibri"/>
              </a:rPr>
              <a:t>Utilisation history beats anything measured during the stay.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Shape 7"/>
          <p:cNvSpPr/>
          <p:nvPr/>
        </p:nvSpPr>
        <p:spPr>
          <a:xfrm>
            <a:off x="502920" y="2441520"/>
            <a:ext cx="310680" cy="310680"/>
          </a:xfrm>
          <a:prstGeom prst="ellipse">
            <a:avLst/>
          </a:prstGeom>
          <a:solidFill>
            <a:srgbClr val="1255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8"/>
          <p:cNvSpPr/>
          <p:nvPr/>
        </p:nvSpPr>
        <p:spPr>
          <a:xfrm>
            <a:off x="502920" y="2441520"/>
            <a:ext cx="3106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 9"/>
          <p:cNvSpPr/>
          <p:nvPr/>
        </p:nvSpPr>
        <p:spPr>
          <a:xfrm>
            <a:off x="941760" y="2414160"/>
            <a:ext cx="4910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30" b="1" u="none" strike="noStrike">
                <a:solidFill>
                  <a:srgbClr val="0B2E3B"/>
                </a:solidFill>
                <a:effectLst/>
                <a:uFillTx/>
                <a:latin typeface="Calibri"/>
                <a:ea typeface="Calibri"/>
              </a:rPr>
              <a:t>Where the patient is discharged to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10"/>
          <p:cNvSpPr/>
          <p:nvPr/>
        </p:nvSpPr>
        <p:spPr>
          <a:xfrm>
            <a:off x="941760" y="2688480"/>
            <a:ext cx="4910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5A7683"/>
                </a:solidFill>
                <a:effectLst/>
                <a:uFillTx/>
                <a:latin typeface="Calibri"/>
                <a:ea typeface="Calibri"/>
              </a:rPr>
              <a:t>Home lowers risk; a care facility raises it — a proxy for frailty.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Shape 11"/>
          <p:cNvSpPr/>
          <p:nvPr/>
        </p:nvSpPr>
        <p:spPr>
          <a:xfrm>
            <a:off x="502920" y="3099960"/>
            <a:ext cx="310680" cy="310680"/>
          </a:xfrm>
          <a:prstGeom prst="ellipse">
            <a:avLst/>
          </a:prstGeom>
          <a:solidFill>
            <a:srgbClr val="1255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12"/>
          <p:cNvSpPr/>
          <p:nvPr/>
        </p:nvSpPr>
        <p:spPr>
          <a:xfrm>
            <a:off x="502920" y="3099960"/>
            <a:ext cx="3106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13"/>
          <p:cNvSpPr/>
          <p:nvPr/>
        </p:nvSpPr>
        <p:spPr>
          <a:xfrm>
            <a:off x="941760" y="3072240"/>
            <a:ext cx="4910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30" b="1" u="none" strike="noStrike">
                <a:solidFill>
                  <a:srgbClr val="0B2E3B"/>
                </a:solidFill>
                <a:effectLst/>
                <a:uFillTx/>
                <a:latin typeface="Calibri"/>
                <a:ea typeface="Calibri"/>
              </a:rPr>
              <a:t>Depth of prior encounter history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14"/>
          <p:cNvSpPr/>
          <p:nvPr/>
        </p:nvSpPr>
        <p:spPr>
          <a:xfrm>
            <a:off x="941760" y="3346560"/>
            <a:ext cx="4910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5A7683"/>
                </a:solidFill>
                <a:effectLst/>
                <a:uFillTx/>
                <a:latin typeface="Calibri"/>
                <a:ea typeface="Calibri"/>
              </a:rPr>
              <a:t>How often this patient has been through the system before.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Shape 15"/>
          <p:cNvSpPr/>
          <p:nvPr/>
        </p:nvSpPr>
        <p:spPr>
          <a:xfrm>
            <a:off x="502920" y="3758040"/>
            <a:ext cx="310680" cy="310680"/>
          </a:xfrm>
          <a:prstGeom prst="ellipse">
            <a:avLst/>
          </a:prstGeom>
          <a:solidFill>
            <a:srgbClr val="1255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16"/>
          <p:cNvSpPr/>
          <p:nvPr/>
        </p:nvSpPr>
        <p:spPr>
          <a:xfrm>
            <a:off x="502920" y="3758040"/>
            <a:ext cx="3106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17"/>
          <p:cNvSpPr/>
          <p:nvPr/>
        </p:nvSpPr>
        <p:spPr>
          <a:xfrm>
            <a:off x="941760" y="3730680"/>
            <a:ext cx="4910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30" b="1" u="none" strike="noStrike">
                <a:solidFill>
                  <a:srgbClr val="0B2E3B"/>
                </a:solidFill>
                <a:effectLst/>
                <a:uFillTx/>
                <a:latin typeface="Calibri"/>
                <a:ea typeface="Calibri"/>
              </a:rPr>
              <a:t>Primary diagnosis group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18"/>
          <p:cNvSpPr/>
          <p:nvPr/>
        </p:nvSpPr>
        <p:spPr>
          <a:xfrm>
            <a:off x="941760" y="4005000"/>
            <a:ext cx="4910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5A7683"/>
                </a:solidFill>
                <a:effectLst/>
                <a:uFillTx/>
                <a:latin typeface="Calibri"/>
                <a:ea typeface="Calibri"/>
              </a:rPr>
              <a:t>Circulatory pushes risk up; respiratory pushes it down.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Shape 19"/>
          <p:cNvSpPr/>
          <p:nvPr/>
        </p:nvSpPr>
        <p:spPr>
          <a:xfrm>
            <a:off x="502920" y="4462200"/>
            <a:ext cx="5348880" cy="502560"/>
          </a:xfrm>
          <a:prstGeom prst="roundRect">
            <a:avLst>
              <a:gd name="adj" fmla="val 14545"/>
            </a:avLst>
          </a:prstGeom>
          <a:solidFill>
            <a:srgbClr val="E2F0E9"/>
          </a:solidFill>
          <a:ln w="9525">
            <a:solidFill>
              <a:srgbClr val="AEDBC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20"/>
          <p:cNvSpPr/>
          <p:nvPr/>
        </p:nvSpPr>
        <p:spPr>
          <a:xfrm>
            <a:off x="685800" y="4462200"/>
            <a:ext cx="4983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F5F44"/>
                </a:solidFill>
                <a:effectLst/>
                <a:uFillTx/>
                <a:latin typeface="Calibri"/>
                <a:ea typeface="Calibri"/>
              </a:rPr>
              <a:t>Nothing suspicious at the top — no identifier, no date artefact.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Shape 21"/>
          <p:cNvSpPr/>
          <p:nvPr/>
        </p:nvSpPr>
        <p:spPr>
          <a:xfrm>
            <a:off x="6126480" y="1417320"/>
            <a:ext cx="5577480" cy="1828440"/>
          </a:xfrm>
          <a:prstGeom prst="roundRect">
            <a:avLst>
              <a:gd name="adj" fmla="val 4000"/>
            </a:avLst>
          </a:prstGeom>
          <a:solidFill>
            <a:srgbClr val="EEF4F6"/>
          </a:solidFill>
          <a:ln w="9525">
            <a:solidFill>
              <a:srgbClr val="C9DC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22"/>
          <p:cNvSpPr/>
          <p:nvPr/>
        </p:nvSpPr>
        <p:spPr>
          <a:xfrm>
            <a:off x="6355080" y="1572840"/>
            <a:ext cx="5120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0B2E3B"/>
                </a:solidFill>
                <a:effectLst/>
                <a:uFillTx/>
                <a:latin typeface="Calibri"/>
                <a:ea typeface="Calibri"/>
              </a:rPr>
              <a:t>ROBUSTNESS — is 0.684 real?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 23"/>
          <p:cNvSpPr/>
          <p:nvPr/>
        </p:nvSpPr>
        <p:spPr>
          <a:xfrm>
            <a:off x="6355080" y="1865520"/>
            <a:ext cx="51202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Across 7 random seeds, the pipeline averages </a:t>
            </a:r>
            <a:r>
              <a:rPr lang="en-US" sz="1000" b="1" u="none" strike="noStrike">
                <a:solidFill>
                  <a:srgbClr val="12556B"/>
                </a:solidFill>
                <a:effectLst/>
                <a:uFillTx/>
                <a:latin typeface="Calibri"/>
                <a:ea typeface="Calibri"/>
              </a:rPr>
              <a:t>PR-AUC 0.224 ± 0.010</a:t>
            </a:r>
            <a:r>
              <a:rPr lang="en-US" sz="10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 and </a:t>
            </a:r>
            <a:r>
              <a:rPr lang="en-US" sz="1000" b="1" u="none" strike="noStrike">
                <a:solidFill>
                  <a:srgbClr val="12556B"/>
                </a:solidFill>
                <a:effectLst/>
                <a:uFillTx/>
                <a:latin typeface="Calibri"/>
                <a:ea typeface="Calibri"/>
              </a:rPr>
              <a:t>ROC-AUC 0.678 ± 0.006</a:t>
            </a:r>
            <a:r>
              <a:rPr lang="en-US" sz="10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. 95% CI from 2,000 cluster resamples of patients: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24"/>
          <p:cNvSpPr/>
          <p:nvPr/>
        </p:nvSpPr>
        <p:spPr>
          <a:xfrm>
            <a:off x="6355080" y="2541960"/>
            <a:ext cx="51202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0B2E3B"/>
                </a:solidFill>
                <a:effectLst/>
                <a:uFillTx/>
                <a:latin typeface="Courier New"/>
                <a:ea typeface="Courier New"/>
              </a:rPr>
              <a:t>ROC-AUC 0.684 [0.671, 0.698]   ·   PR-AUC 0.238 [0.213, 0.265]   ·   Recall 40.2% [37.6%, 42.7%]</a:t>
            </a:r>
            <a:endParaRPr lang="en-US" sz="9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Shape 25"/>
          <p:cNvSpPr/>
          <p:nvPr/>
        </p:nvSpPr>
        <p:spPr>
          <a:xfrm>
            <a:off x="6126480" y="3401640"/>
            <a:ext cx="5577480" cy="2285640"/>
          </a:xfrm>
          <a:prstGeom prst="roundRect">
            <a:avLst>
              <a:gd name="adj" fmla="val 3200"/>
            </a:avLst>
          </a:prstGeom>
          <a:solidFill>
            <a:srgbClr val="EEF4F6"/>
          </a:solidFill>
          <a:ln w="9525">
            <a:solidFill>
              <a:srgbClr val="C9DC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 26"/>
          <p:cNvSpPr/>
          <p:nvPr/>
        </p:nvSpPr>
        <p:spPr>
          <a:xfrm>
            <a:off x="6355080" y="3566160"/>
            <a:ext cx="5120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0B2E3B"/>
                </a:solidFill>
                <a:effectLst/>
                <a:uFillTx/>
                <a:latin typeface="Calibri"/>
                <a:ea typeface="Calibri"/>
              </a:rPr>
              <a:t>ABLATION — seven approaches tried, none beat the baseline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75" name="Table 0"/>
          <p:cNvGraphicFramePr/>
          <p:nvPr/>
        </p:nvGraphicFramePr>
        <p:xfrm>
          <a:off x="6355080" y="3877200"/>
          <a:ext cx="5120280" cy="1097280"/>
        </p:xfrm>
        <a:graphic>
          <a:graphicData uri="http://schemas.openxmlformats.org/drawingml/2006/table">
            <a:tbl>
              <a:tblPr/>
              <a:tblGrid>
                <a:gridCol w="2560320"/>
                <a:gridCol w="1382400"/>
                <a:gridCol w="1177560"/>
              </a:tblGrid>
              <a:tr h="27432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3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Variant</a:t>
                      </a:r>
                      <a:endParaRPr lang="en-US" sz="93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C9DCE3"/>
                      </a:solidFill>
                      <a:prstDash val="solid"/>
                    </a:lnL>
                    <a:lnR w="6480">
                      <a:solidFill>
                        <a:srgbClr val="C9DCE3"/>
                      </a:solidFill>
                      <a:prstDash val="solid"/>
                    </a:lnR>
                    <a:lnT w="6480">
                      <a:solidFill>
                        <a:srgbClr val="C9DCE3"/>
                      </a:solidFill>
                      <a:prstDash val="solid"/>
                    </a:lnT>
                    <a:lnB w="6480">
                      <a:solidFill>
                        <a:srgbClr val="C9DCE3"/>
                      </a:solidFill>
                      <a:prstDash val="solid"/>
                    </a:lnB>
                    <a:solidFill>
                      <a:srgbClr val="12556B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3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CV PR-AUC</a:t>
                      </a:r>
                      <a:endParaRPr lang="en-US" sz="93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C9DCE3"/>
                      </a:solidFill>
                      <a:prstDash val="solid"/>
                    </a:lnL>
                    <a:lnR w="6480">
                      <a:solidFill>
                        <a:srgbClr val="C9DCE3"/>
                      </a:solidFill>
                      <a:prstDash val="solid"/>
                    </a:lnR>
                    <a:lnT w="6480">
                      <a:solidFill>
                        <a:srgbClr val="C9DCE3"/>
                      </a:solidFill>
                      <a:prstDash val="solid"/>
                    </a:lnT>
                    <a:lnB w="6480">
                      <a:solidFill>
                        <a:srgbClr val="C9DCE3"/>
                      </a:solidFill>
                      <a:prstDash val="solid"/>
                    </a:lnB>
                    <a:solidFill>
                      <a:srgbClr val="12556B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3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Δ</a:t>
                      </a:r>
                      <a:endParaRPr lang="en-US" sz="93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C9DCE3"/>
                      </a:solidFill>
                      <a:prstDash val="solid"/>
                    </a:lnL>
                    <a:lnR w="6480">
                      <a:solidFill>
                        <a:srgbClr val="C9DCE3"/>
                      </a:solidFill>
                      <a:prstDash val="solid"/>
                    </a:lnR>
                    <a:lnT w="6480">
                      <a:solidFill>
                        <a:srgbClr val="C9DCE3"/>
                      </a:solidFill>
                      <a:prstDash val="solid"/>
                    </a:lnT>
                    <a:lnB w="6480">
                      <a:solidFill>
                        <a:srgbClr val="C9DCE3"/>
                      </a:solidFill>
                      <a:prstDash val="solid"/>
                    </a:lnB>
                    <a:solidFill>
                      <a:srgbClr val="12556B"/>
                    </a:solidFill>
                  </a:tcPr>
                </a:tc>
              </a:tr>
              <a:tr h="27432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30" b="1" u="none" strike="noStrike">
                          <a:solidFill>
                            <a:srgbClr val="0B2E3B"/>
                          </a:solidFill>
                          <a:effectLst/>
                          <a:uFillTx/>
                          <a:latin typeface="Calibri"/>
                        </a:rPr>
                        <a:t>A — current, 39 features</a:t>
                      </a:r>
                      <a:endParaRPr lang="en-US" sz="9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C9DCE3"/>
                      </a:solidFill>
                      <a:prstDash val="solid"/>
                    </a:lnL>
                    <a:lnR w="6480">
                      <a:solidFill>
                        <a:srgbClr val="C9DCE3"/>
                      </a:solidFill>
                      <a:prstDash val="solid"/>
                    </a:lnR>
                    <a:lnT w="6480">
                      <a:solidFill>
                        <a:srgbClr val="C9DCE3"/>
                      </a:solidFill>
                      <a:prstDash val="solid"/>
                    </a:lnT>
                    <a:lnB w="6480">
                      <a:solidFill>
                        <a:srgbClr val="C9DC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30" b="0" u="none" strike="noStrike">
                          <a:solidFill>
                            <a:srgbClr val="0B2E3B"/>
                          </a:solidFill>
                          <a:effectLst/>
                          <a:uFillTx/>
                          <a:latin typeface="Calibri"/>
                        </a:rPr>
                        <a:t>0.2200</a:t>
                      </a:r>
                      <a:endParaRPr lang="en-US" sz="9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C9DCE3"/>
                      </a:solidFill>
                      <a:prstDash val="solid"/>
                    </a:lnL>
                    <a:lnR w="6480">
                      <a:solidFill>
                        <a:srgbClr val="C9DCE3"/>
                      </a:solidFill>
                      <a:prstDash val="solid"/>
                    </a:lnR>
                    <a:lnT w="6480">
                      <a:solidFill>
                        <a:srgbClr val="C9DCE3"/>
                      </a:solidFill>
                      <a:prstDash val="solid"/>
                    </a:lnT>
                    <a:lnB w="6480">
                      <a:solidFill>
                        <a:srgbClr val="C9DC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30" b="0" u="none" strike="noStrike">
                          <a:solidFill>
                            <a:srgbClr val="0B2E3B"/>
                          </a:solidFill>
                          <a:effectLst/>
                          <a:uFillTx/>
                          <a:latin typeface="Calibri"/>
                        </a:rPr>
                        <a:t>baseline</a:t>
                      </a:r>
                      <a:endParaRPr lang="en-US" sz="9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C9DCE3"/>
                      </a:solidFill>
                      <a:prstDash val="solid"/>
                    </a:lnL>
                    <a:lnR w="6480">
                      <a:solidFill>
                        <a:srgbClr val="C9DCE3"/>
                      </a:solidFill>
                      <a:prstDash val="solid"/>
                    </a:lnR>
                    <a:lnT w="6480">
                      <a:solidFill>
                        <a:srgbClr val="C9DCE3"/>
                      </a:solidFill>
                      <a:prstDash val="solid"/>
                    </a:lnT>
                    <a:lnB w="6480">
                      <a:solidFill>
                        <a:srgbClr val="C9DC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30" b="1" u="none" strike="noStrike">
                          <a:solidFill>
                            <a:srgbClr val="0B2E3B"/>
                          </a:solidFill>
                          <a:effectLst/>
                          <a:uFillTx/>
                          <a:latin typeface="Calibri"/>
                        </a:rPr>
                        <a:t>F — soft-vote RF+XGB+LGBM</a:t>
                      </a:r>
                      <a:endParaRPr lang="en-US" sz="9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C9DCE3"/>
                      </a:solidFill>
                      <a:prstDash val="solid"/>
                    </a:lnL>
                    <a:lnR w="6480">
                      <a:solidFill>
                        <a:srgbClr val="C9DCE3"/>
                      </a:solidFill>
                      <a:prstDash val="solid"/>
                    </a:lnR>
                    <a:lnT w="6480">
                      <a:solidFill>
                        <a:srgbClr val="C9DCE3"/>
                      </a:solidFill>
                      <a:prstDash val="solid"/>
                    </a:lnT>
                    <a:lnB w="6480">
                      <a:solidFill>
                        <a:srgbClr val="C9DC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30" b="0" u="none" strike="noStrike">
                          <a:solidFill>
                            <a:srgbClr val="0B2E3B"/>
                          </a:solidFill>
                          <a:effectLst/>
                          <a:uFillTx/>
                          <a:latin typeface="Calibri"/>
                        </a:rPr>
                        <a:t>0.2191</a:t>
                      </a:r>
                      <a:endParaRPr lang="en-US" sz="9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C9DCE3"/>
                      </a:solidFill>
                      <a:prstDash val="solid"/>
                    </a:lnL>
                    <a:lnR w="6480">
                      <a:solidFill>
                        <a:srgbClr val="C9DCE3"/>
                      </a:solidFill>
                      <a:prstDash val="solid"/>
                    </a:lnR>
                    <a:lnT w="6480">
                      <a:solidFill>
                        <a:srgbClr val="C9DCE3"/>
                      </a:solidFill>
                      <a:prstDash val="solid"/>
                    </a:lnT>
                    <a:lnB w="6480">
                      <a:solidFill>
                        <a:srgbClr val="C9DC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30" b="0" u="none" strike="noStrike">
                          <a:solidFill>
                            <a:srgbClr val="0B2E3B"/>
                          </a:solidFill>
                          <a:effectLst/>
                          <a:uFillTx/>
                          <a:latin typeface="Calibri"/>
                        </a:rPr>
                        <a:t>−0.0009</a:t>
                      </a:r>
                      <a:endParaRPr lang="en-US" sz="9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C9DCE3"/>
                      </a:solidFill>
                      <a:prstDash val="solid"/>
                    </a:lnL>
                    <a:lnR w="6480">
                      <a:solidFill>
                        <a:srgbClr val="C9DCE3"/>
                      </a:solidFill>
                      <a:prstDash val="solid"/>
                    </a:lnR>
                    <a:lnT w="6480">
                      <a:solidFill>
                        <a:srgbClr val="C9DCE3"/>
                      </a:solidFill>
                      <a:prstDash val="solid"/>
                    </a:lnT>
                    <a:lnB w="6480">
                      <a:solidFill>
                        <a:srgbClr val="C9DC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30" b="1" u="none" strike="noStrike">
                          <a:solidFill>
                            <a:srgbClr val="0B2E3B"/>
                          </a:solidFill>
                          <a:effectLst/>
                          <a:uFillTx/>
                          <a:latin typeface="Calibri"/>
                        </a:rPr>
                        <a:t>G — SMOTE, not weighting</a:t>
                      </a:r>
                      <a:endParaRPr lang="en-US" sz="9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C9DCE3"/>
                      </a:solidFill>
                      <a:prstDash val="solid"/>
                    </a:lnL>
                    <a:lnR w="6480">
                      <a:solidFill>
                        <a:srgbClr val="C9DCE3"/>
                      </a:solidFill>
                      <a:prstDash val="solid"/>
                    </a:lnR>
                    <a:lnT w="6480">
                      <a:solidFill>
                        <a:srgbClr val="C9DCE3"/>
                      </a:solidFill>
                      <a:prstDash val="solid"/>
                    </a:lnT>
                    <a:lnB w="6480">
                      <a:solidFill>
                        <a:srgbClr val="C9DC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30" b="0" u="none" strike="noStrike">
                          <a:solidFill>
                            <a:srgbClr val="0B2E3B"/>
                          </a:solidFill>
                          <a:effectLst/>
                          <a:uFillTx/>
                          <a:latin typeface="Calibri"/>
                        </a:rPr>
                        <a:t>0.2194</a:t>
                      </a:r>
                      <a:endParaRPr lang="en-US" sz="9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C9DCE3"/>
                      </a:solidFill>
                      <a:prstDash val="solid"/>
                    </a:lnL>
                    <a:lnR w="6480">
                      <a:solidFill>
                        <a:srgbClr val="C9DCE3"/>
                      </a:solidFill>
                      <a:prstDash val="solid"/>
                    </a:lnR>
                    <a:lnT w="6480">
                      <a:solidFill>
                        <a:srgbClr val="C9DCE3"/>
                      </a:solidFill>
                      <a:prstDash val="solid"/>
                    </a:lnT>
                    <a:lnB w="6480">
                      <a:solidFill>
                        <a:srgbClr val="C9DC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30" b="0" u="none" strike="noStrike">
                          <a:solidFill>
                            <a:srgbClr val="0B2E3B"/>
                          </a:solidFill>
                          <a:effectLst/>
                          <a:uFillTx/>
                          <a:latin typeface="Calibri"/>
                        </a:rPr>
                        <a:t>−0.0006</a:t>
                      </a:r>
                      <a:endParaRPr lang="en-US" sz="9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C9DCE3"/>
                      </a:solidFill>
                      <a:prstDash val="solid"/>
                    </a:lnL>
                    <a:lnR w="6480">
                      <a:solidFill>
                        <a:srgbClr val="C9DCE3"/>
                      </a:solidFill>
                      <a:prstDash val="solid"/>
                    </a:lnR>
                    <a:lnT w="6480">
                      <a:solidFill>
                        <a:srgbClr val="C9DCE3"/>
                      </a:solidFill>
                      <a:prstDash val="solid"/>
                    </a:lnT>
                    <a:lnB w="6480">
                      <a:solidFill>
                        <a:srgbClr val="C9DC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6" name="Text 27"/>
          <p:cNvSpPr/>
          <p:nvPr/>
        </p:nvSpPr>
        <p:spPr>
          <a:xfrm>
            <a:off x="6355080" y="5029200"/>
            <a:ext cx="51202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0B2E3B"/>
                </a:solidFill>
                <a:effectLst/>
                <a:uFillTx/>
                <a:latin typeface="Calibri"/>
                <a:ea typeface="Calibri"/>
              </a:rPr>
              <a:t>Every delta is inside the ±0.0069 fold-to-fold noise — no measurable difference. </a:t>
            </a:r>
            <a:r>
              <a:rPr lang="en-US" sz="93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Seven approaches converging on 0.22 is itself the finding. That’s a ceiling on method — the learning curve (still rising, +0.0049 from the last 43% of data) shows it isn’t a ceiling on data.</a:t>
            </a:r>
            <a:endParaRPr lang="en-US" sz="9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 28"/>
          <p:cNvSpPr/>
          <p:nvPr/>
        </p:nvSpPr>
        <p:spPr>
          <a:xfrm>
            <a:off x="11597400" y="6492240"/>
            <a:ext cx="3654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E9AA5"/>
                </a:solidFill>
                <a:effectLst/>
                <a:uFillTx/>
                <a:latin typeface="Calibri"/>
                <a:ea typeface="Calibri"/>
              </a:rPr>
              <a:t>7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Text 0"/>
          <p:cNvSpPr/>
          <p:nvPr/>
        </p:nvSpPr>
        <p:spPr>
          <a:xfrm>
            <a:off x="502920" y="384120"/>
            <a:ext cx="5486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139" strike="noStrike">
                <a:solidFill>
                  <a:srgbClr val="9E3423"/>
                </a:solidFill>
                <a:effectLst/>
                <a:uFillTx/>
                <a:latin typeface="Calibri"/>
                <a:ea typeface="Calibri"/>
              </a:rPr>
              <a:t>FAIRNESS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1"/>
          <p:cNvSpPr/>
          <p:nvPr/>
        </p:nvSpPr>
        <p:spPr>
          <a:xfrm>
            <a:off x="502920" y="65844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0B2E3B"/>
                </a:solidFill>
                <a:effectLst/>
                <a:uFillTx/>
                <a:latin typeface="Cambria"/>
                <a:ea typeface="Cambria"/>
              </a:rPr>
              <a:t>The subgroup gap that would block deployment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2"/>
          <p:cNvSpPr/>
          <p:nvPr/>
        </p:nvSpPr>
        <p:spPr>
          <a:xfrm>
            <a:off x="502920" y="1207080"/>
            <a:ext cx="111553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i="1" u="none" strike="noStrike">
                <a:solidFill>
                  <a:srgbClr val="5A7683"/>
                </a:solidFill>
                <a:effectLst/>
                <a:uFillTx/>
                <a:latin typeface="Calibri"/>
                <a:ea typeface="Calibri"/>
              </a:rPr>
              <a:t>Per-subgroup performance at the deployed threshold. Groups under 200 test encounters are suppressed.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81" name="Table 0"/>
          <p:cNvGraphicFramePr/>
          <p:nvPr/>
        </p:nvGraphicFramePr>
        <p:xfrm>
          <a:off x="502920" y="1572840"/>
          <a:ext cx="5486040" cy="1737000"/>
        </p:xfrm>
        <a:graphic>
          <a:graphicData uri="http://schemas.openxmlformats.org/drawingml/2006/table">
            <a:tbl>
              <a:tblPr/>
              <a:tblGrid>
                <a:gridCol w="1645920"/>
                <a:gridCol w="1280160"/>
                <a:gridCol w="1280160"/>
                <a:gridCol w="1280160"/>
              </a:tblGrid>
              <a:tr h="34740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Age band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C9DCE3"/>
                      </a:solidFill>
                      <a:prstDash val="solid"/>
                    </a:lnL>
                    <a:lnR w="6480">
                      <a:solidFill>
                        <a:srgbClr val="C9DCE3"/>
                      </a:solidFill>
                      <a:prstDash val="solid"/>
                    </a:lnR>
                    <a:lnT w="6480">
                      <a:solidFill>
                        <a:srgbClr val="C9DCE3"/>
                      </a:solidFill>
                      <a:prstDash val="solid"/>
                    </a:lnT>
                    <a:lnB w="6480">
                      <a:solidFill>
                        <a:srgbClr val="C9DCE3"/>
                      </a:solidFill>
                      <a:prstDash val="solid"/>
                    </a:lnB>
                    <a:solidFill>
                      <a:srgbClr val="12556B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Flag rate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C9DCE3"/>
                      </a:solidFill>
                      <a:prstDash val="solid"/>
                    </a:lnL>
                    <a:lnR w="6480">
                      <a:solidFill>
                        <a:srgbClr val="C9DCE3"/>
                      </a:solidFill>
                      <a:prstDash val="solid"/>
                    </a:lnR>
                    <a:lnT w="6480">
                      <a:solidFill>
                        <a:srgbClr val="C9DCE3"/>
                      </a:solidFill>
                      <a:prstDash val="solid"/>
                    </a:lnT>
                    <a:lnB w="6480">
                      <a:solidFill>
                        <a:srgbClr val="C9DCE3"/>
                      </a:solidFill>
                      <a:prstDash val="solid"/>
                    </a:lnB>
                    <a:solidFill>
                      <a:srgbClr val="12556B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Recall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C9DCE3"/>
                      </a:solidFill>
                      <a:prstDash val="solid"/>
                    </a:lnL>
                    <a:lnR w="6480">
                      <a:solidFill>
                        <a:srgbClr val="C9DCE3"/>
                      </a:solidFill>
                      <a:prstDash val="solid"/>
                    </a:lnR>
                    <a:lnT w="6480">
                      <a:solidFill>
                        <a:srgbClr val="C9DCE3"/>
                      </a:solidFill>
                      <a:prstDash val="solid"/>
                    </a:lnT>
                    <a:lnB w="6480">
                      <a:solidFill>
                        <a:srgbClr val="C9DCE3"/>
                      </a:solidFill>
                      <a:prstDash val="solid"/>
                    </a:lnB>
                    <a:solidFill>
                      <a:srgbClr val="12556B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ROC-AUC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C9DCE3"/>
                      </a:solidFill>
                      <a:prstDash val="solid"/>
                    </a:lnL>
                    <a:lnR w="6480">
                      <a:solidFill>
                        <a:srgbClr val="C9DCE3"/>
                      </a:solidFill>
                      <a:prstDash val="solid"/>
                    </a:lnR>
                    <a:lnT w="6480">
                      <a:solidFill>
                        <a:srgbClr val="C9DCE3"/>
                      </a:solidFill>
                      <a:prstDash val="solid"/>
                    </a:lnT>
                    <a:lnB w="6480">
                      <a:solidFill>
                        <a:srgbClr val="C9DCE3"/>
                      </a:solidFill>
                      <a:prstDash val="solid"/>
                    </a:lnB>
                    <a:solidFill>
                      <a:srgbClr val="12556B"/>
                    </a:solidFill>
                  </a:tcPr>
                </a:tc>
              </a:tr>
              <a:tr h="34740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0B2E3B"/>
                          </a:solidFill>
                          <a:effectLst/>
                          <a:uFillTx/>
                          <a:latin typeface="Calibri"/>
                        </a:rPr>
                        <a:t>Under 40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C9DCE3"/>
                      </a:solidFill>
                      <a:prstDash val="solid"/>
                    </a:lnL>
                    <a:lnR w="6480">
                      <a:solidFill>
                        <a:srgbClr val="C9DCE3"/>
                      </a:solidFill>
                      <a:prstDash val="solid"/>
                    </a:lnR>
                    <a:lnT w="6480">
                      <a:solidFill>
                        <a:srgbClr val="C9DCE3"/>
                      </a:solidFill>
                      <a:prstDash val="solid"/>
                    </a:lnT>
                    <a:lnB w="6480">
                      <a:solidFill>
                        <a:srgbClr val="C9DC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0B2E3B"/>
                          </a:solidFill>
                          <a:effectLst/>
                          <a:uFillTx/>
                          <a:latin typeface="Calibri"/>
                        </a:rPr>
                        <a:t>20.2%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C9DCE3"/>
                      </a:solidFill>
                      <a:prstDash val="solid"/>
                    </a:lnL>
                    <a:lnR w="6480">
                      <a:solidFill>
                        <a:srgbClr val="C9DCE3"/>
                      </a:solidFill>
                      <a:prstDash val="solid"/>
                    </a:lnR>
                    <a:lnT w="6480">
                      <a:solidFill>
                        <a:srgbClr val="C9DCE3"/>
                      </a:solidFill>
                      <a:prstDash val="solid"/>
                    </a:lnT>
                    <a:lnB w="6480">
                      <a:solidFill>
                        <a:srgbClr val="C9DC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0B2E3B"/>
                          </a:solidFill>
                          <a:effectLst/>
                          <a:uFillTx/>
                          <a:latin typeface="Calibri"/>
                        </a:rPr>
                        <a:t>58.0%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C9DCE3"/>
                      </a:solidFill>
                      <a:prstDash val="solid"/>
                    </a:lnL>
                    <a:lnR w="6480">
                      <a:solidFill>
                        <a:srgbClr val="C9DCE3"/>
                      </a:solidFill>
                      <a:prstDash val="solid"/>
                    </a:lnR>
                    <a:lnT w="6480">
                      <a:solidFill>
                        <a:srgbClr val="C9DCE3"/>
                      </a:solidFill>
                      <a:prstDash val="solid"/>
                    </a:lnT>
                    <a:lnB w="6480">
                      <a:solidFill>
                        <a:srgbClr val="C9DC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0B2E3B"/>
                          </a:solidFill>
                          <a:effectLst/>
                          <a:uFillTx/>
                          <a:latin typeface="Calibri"/>
                        </a:rPr>
                        <a:t>0.784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C9DCE3"/>
                      </a:solidFill>
                      <a:prstDash val="solid"/>
                    </a:lnL>
                    <a:lnR w="6480">
                      <a:solidFill>
                        <a:srgbClr val="C9DCE3"/>
                      </a:solidFill>
                      <a:prstDash val="solid"/>
                    </a:lnR>
                    <a:lnT w="6480">
                      <a:solidFill>
                        <a:srgbClr val="C9DCE3"/>
                      </a:solidFill>
                      <a:prstDash val="solid"/>
                    </a:lnT>
                    <a:lnB w="6480">
                      <a:solidFill>
                        <a:srgbClr val="C9DC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740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0B2E3B"/>
                          </a:solidFill>
                          <a:effectLst/>
                          <a:uFillTx/>
                          <a:latin typeface="Calibri"/>
                        </a:rPr>
                        <a:t>40–60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C9DCE3"/>
                      </a:solidFill>
                      <a:prstDash val="solid"/>
                    </a:lnL>
                    <a:lnR w="6480">
                      <a:solidFill>
                        <a:srgbClr val="C9DCE3"/>
                      </a:solidFill>
                      <a:prstDash val="solid"/>
                    </a:lnR>
                    <a:lnT w="6480">
                      <a:solidFill>
                        <a:srgbClr val="C9DCE3"/>
                      </a:solidFill>
                      <a:prstDash val="solid"/>
                    </a:lnT>
                    <a:lnB w="6480">
                      <a:solidFill>
                        <a:srgbClr val="C9DCE3"/>
                      </a:solidFill>
                      <a:prstDash val="solid"/>
                    </a:lnB>
                    <a:solidFill>
                      <a:srgbClr val="EEF4F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0B2E3B"/>
                          </a:solidFill>
                          <a:effectLst/>
                          <a:uFillTx/>
                          <a:latin typeface="Calibri"/>
                        </a:rPr>
                        <a:t>14.8%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C9DCE3"/>
                      </a:solidFill>
                      <a:prstDash val="solid"/>
                    </a:lnL>
                    <a:lnR w="6480">
                      <a:solidFill>
                        <a:srgbClr val="C9DCE3"/>
                      </a:solidFill>
                      <a:prstDash val="solid"/>
                    </a:lnR>
                    <a:lnT w="6480">
                      <a:solidFill>
                        <a:srgbClr val="C9DCE3"/>
                      </a:solidFill>
                      <a:prstDash val="solid"/>
                    </a:lnT>
                    <a:lnB w="6480">
                      <a:solidFill>
                        <a:srgbClr val="C9DCE3"/>
                      </a:solidFill>
                      <a:prstDash val="solid"/>
                    </a:lnB>
                    <a:solidFill>
                      <a:srgbClr val="EEF4F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0B2E3B"/>
                          </a:solidFill>
                          <a:effectLst/>
                          <a:uFillTx/>
                          <a:latin typeface="Calibri"/>
                        </a:rPr>
                        <a:t>39.6%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C9DCE3"/>
                      </a:solidFill>
                      <a:prstDash val="solid"/>
                    </a:lnL>
                    <a:lnR w="6480">
                      <a:solidFill>
                        <a:srgbClr val="C9DCE3"/>
                      </a:solidFill>
                      <a:prstDash val="solid"/>
                    </a:lnR>
                    <a:lnT w="6480">
                      <a:solidFill>
                        <a:srgbClr val="C9DCE3"/>
                      </a:solidFill>
                      <a:prstDash val="solid"/>
                    </a:lnT>
                    <a:lnB w="6480">
                      <a:solidFill>
                        <a:srgbClr val="C9DCE3"/>
                      </a:solidFill>
                      <a:prstDash val="solid"/>
                    </a:lnB>
                    <a:solidFill>
                      <a:srgbClr val="EEF4F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0B2E3B"/>
                          </a:solidFill>
                          <a:effectLst/>
                          <a:uFillTx/>
                          <a:latin typeface="Calibri"/>
                        </a:rPr>
                        <a:t>0.712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C9DCE3"/>
                      </a:solidFill>
                      <a:prstDash val="solid"/>
                    </a:lnL>
                    <a:lnR w="6480">
                      <a:solidFill>
                        <a:srgbClr val="C9DCE3"/>
                      </a:solidFill>
                      <a:prstDash val="solid"/>
                    </a:lnR>
                    <a:lnT w="6480">
                      <a:solidFill>
                        <a:srgbClr val="C9DCE3"/>
                      </a:solidFill>
                      <a:prstDash val="solid"/>
                    </a:lnT>
                    <a:lnB w="6480">
                      <a:solidFill>
                        <a:srgbClr val="C9DCE3"/>
                      </a:solidFill>
                      <a:prstDash val="solid"/>
                    </a:lnB>
                    <a:solidFill>
                      <a:srgbClr val="EEF4F6"/>
                    </a:solidFill>
                  </a:tcPr>
                </a:tc>
              </a:tr>
              <a:tr h="34740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0B2E3B"/>
                          </a:solidFill>
                          <a:effectLst/>
                          <a:uFillTx/>
                          <a:latin typeface="Calibri"/>
                        </a:rPr>
                        <a:t>60–80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C9DCE3"/>
                      </a:solidFill>
                      <a:prstDash val="solid"/>
                    </a:lnL>
                    <a:lnR w="6480">
                      <a:solidFill>
                        <a:srgbClr val="C9DCE3"/>
                      </a:solidFill>
                      <a:prstDash val="solid"/>
                    </a:lnR>
                    <a:lnT w="6480">
                      <a:solidFill>
                        <a:srgbClr val="C9DCE3"/>
                      </a:solidFill>
                      <a:prstDash val="solid"/>
                    </a:lnT>
                    <a:lnB w="6480">
                      <a:solidFill>
                        <a:srgbClr val="C9DC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0B2E3B"/>
                          </a:solidFill>
                          <a:effectLst/>
                          <a:uFillTx/>
                          <a:latin typeface="Calibri"/>
                        </a:rPr>
                        <a:t>20.8%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C9DCE3"/>
                      </a:solidFill>
                      <a:prstDash val="solid"/>
                    </a:lnL>
                    <a:lnR w="6480">
                      <a:solidFill>
                        <a:srgbClr val="C9DCE3"/>
                      </a:solidFill>
                      <a:prstDash val="solid"/>
                    </a:lnR>
                    <a:lnT w="6480">
                      <a:solidFill>
                        <a:srgbClr val="C9DCE3"/>
                      </a:solidFill>
                      <a:prstDash val="solid"/>
                    </a:lnT>
                    <a:lnB w="6480">
                      <a:solidFill>
                        <a:srgbClr val="C9DC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0B2E3B"/>
                          </a:solidFill>
                          <a:effectLst/>
                          <a:uFillTx/>
                          <a:latin typeface="Calibri"/>
                        </a:rPr>
                        <a:t>39.7%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C9DCE3"/>
                      </a:solidFill>
                      <a:prstDash val="solid"/>
                    </a:lnL>
                    <a:lnR w="6480">
                      <a:solidFill>
                        <a:srgbClr val="C9DCE3"/>
                      </a:solidFill>
                      <a:prstDash val="solid"/>
                    </a:lnR>
                    <a:lnT w="6480">
                      <a:solidFill>
                        <a:srgbClr val="C9DCE3"/>
                      </a:solidFill>
                      <a:prstDash val="solid"/>
                    </a:lnT>
                    <a:lnB w="6480">
                      <a:solidFill>
                        <a:srgbClr val="C9DC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0B2E3B"/>
                          </a:solidFill>
                          <a:effectLst/>
                          <a:uFillTx/>
                          <a:latin typeface="Calibri"/>
                        </a:rPr>
                        <a:t>0.673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C9DCE3"/>
                      </a:solidFill>
                      <a:prstDash val="solid"/>
                    </a:lnL>
                    <a:lnR w="6480">
                      <a:solidFill>
                        <a:srgbClr val="C9DCE3"/>
                      </a:solidFill>
                      <a:prstDash val="solid"/>
                    </a:lnR>
                    <a:lnT w="6480">
                      <a:solidFill>
                        <a:srgbClr val="C9DCE3"/>
                      </a:solidFill>
                      <a:prstDash val="solid"/>
                    </a:lnT>
                    <a:lnB w="6480">
                      <a:solidFill>
                        <a:srgbClr val="C9DC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740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9E3423"/>
                          </a:solidFill>
                          <a:effectLst/>
                          <a:uFillTx/>
                          <a:latin typeface="Calibri"/>
                        </a:rPr>
                        <a:t>80 and over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C9DCE3"/>
                      </a:solidFill>
                      <a:prstDash val="solid"/>
                    </a:lnL>
                    <a:lnR w="6480">
                      <a:solidFill>
                        <a:srgbClr val="C9DCE3"/>
                      </a:solidFill>
                      <a:prstDash val="solid"/>
                    </a:lnR>
                    <a:lnT w="6480">
                      <a:solidFill>
                        <a:srgbClr val="C9DCE3"/>
                      </a:solidFill>
                      <a:prstDash val="solid"/>
                    </a:lnT>
                    <a:lnB w="6480">
                      <a:solidFill>
                        <a:srgbClr val="C9DCE3"/>
                      </a:solidFill>
                      <a:prstDash val="solid"/>
                    </a:lnB>
                    <a:solidFill>
                      <a:srgbClr val="FBE4E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9E3423"/>
                          </a:solidFill>
                          <a:effectLst/>
                          <a:uFillTx/>
                          <a:latin typeface="Calibri"/>
                        </a:rPr>
                        <a:t>23.0%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C9DCE3"/>
                      </a:solidFill>
                      <a:prstDash val="solid"/>
                    </a:lnL>
                    <a:lnR w="6480">
                      <a:solidFill>
                        <a:srgbClr val="C9DCE3"/>
                      </a:solidFill>
                      <a:prstDash val="solid"/>
                    </a:lnR>
                    <a:lnT w="6480">
                      <a:solidFill>
                        <a:srgbClr val="C9DCE3"/>
                      </a:solidFill>
                      <a:prstDash val="solid"/>
                    </a:lnT>
                    <a:lnB w="6480">
                      <a:solidFill>
                        <a:srgbClr val="C9DCE3"/>
                      </a:solidFill>
                      <a:prstDash val="solid"/>
                    </a:lnB>
                    <a:solidFill>
                      <a:srgbClr val="FBE4E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9E3423"/>
                          </a:solidFill>
                          <a:effectLst/>
                          <a:uFillTx/>
                          <a:latin typeface="Calibri"/>
                        </a:rPr>
                        <a:t>35.8%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C9DCE3"/>
                      </a:solidFill>
                      <a:prstDash val="solid"/>
                    </a:lnL>
                    <a:lnR w="6480">
                      <a:solidFill>
                        <a:srgbClr val="C9DCE3"/>
                      </a:solidFill>
                      <a:prstDash val="solid"/>
                    </a:lnR>
                    <a:lnT w="6480">
                      <a:solidFill>
                        <a:srgbClr val="C9DCE3"/>
                      </a:solidFill>
                      <a:prstDash val="solid"/>
                    </a:lnT>
                    <a:lnB w="6480">
                      <a:solidFill>
                        <a:srgbClr val="C9DCE3"/>
                      </a:solidFill>
                      <a:prstDash val="solid"/>
                    </a:lnB>
                    <a:solidFill>
                      <a:srgbClr val="FBE4E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9E3423"/>
                          </a:solidFill>
                          <a:effectLst/>
                          <a:uFillTx/>
                          <a:latin typeface="Calibri"/>
                        </a:rPr>
                        <a:t>0.613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C9DCE3"/>
                      </a:solidFill>
                      <a:prstDash val="solid"/>
                    </a:lnL>
                    <a:lnR w="6480">
                      <a:solidFill>
                        <a:srgbClr val="C9DCE3"/>
                      </a:solidFill>
                      <a:prstDash val="solid"/>
                    </a:lnR>
                    <a:lnT w="6480">
                      <a:solidFill>
                        <a:srgbClr val="C9DCE3"/>
                      </a:solidFill>
                      <a:prstDash val="solid"/>
                    </a:lnT>
                    <a:lnB w="6480">
                      <a:solidFill>
                        <a:srgbClr val="C9DCE3"/>
                      </a:solidFill>
                      <a:prstDash val="solid"/>
                    </a:lnB>
                    <a:solidFill>
                      <a:srgbClr val="FBE4E0"/>
                    </a:solidFill>
                  </a:tcPr>
                </a:tc>
              </a:tr>
            </a:tbl>
          </a:graphicData>
        </a:graphic>
      </p:graphicFrame>
      <p:sp>
        <p:nvSpPr>
          <p:cNvPr id="182" name="Shape 3"/>
          <p:cNvSpPr/>
          <p:nvPr/>
        </p:nvSpPr>
        <p:spPr>
          <a:xfrm>
            <a:off x="6263640" y="1572840"/>
            <a:ext cx="5440320" cy="1737000"/>
          </a:xfrm>
          <a:prstGeom prst="roundRect">
            <a:avLst>
              <a:gd name="adj" fmla="val 4211"/>
            </a:avLst>
          </a:prstGeom>
          <a:solidFill>
            <a:srgbClr val="EEF4F6"/>
          </a:solidFill>
          <a:ln w="9525">
            <a:solidFill>
              <a:srgbClr val="C9DC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4"/>
          <p:cNvSpPr/>
          <p:nvPr/>
        </p:nvSpPr>
        <p:spPr>
          <a:xfrm>
            <a:off x="6492240" y="1572840"/>
            <a:ext cx="498312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030" b="1" u="none" strike="noStrike">
                <a:solidFill>
                  <a:srgbClr val="0B2E3B"/>
                </a:solidFill>
                <a:effectLst/>
                <a:uFillTx/>
                <a:latin typeface="Calibri"/>
                <a:ea typeface="Calibri"/>
              </a:rPr>
              <a:t>Race and gender gaps are modest — age is the problem.  </a:t>
            </a:r>
            <a:r>
              <a:rPr lang="en-US" sz="103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The two large racial groups get near-identical flag rates and recall. Patients over 80 are flagged most often (23.0%) while the model ranks them worst (ROC-AUC 0.613) — the tool spends disproportionate follow-up capacity where its ordering is least trustworthy. This is not fixable by tuning.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Shape 5"/>
          <p:cNvSpPr/>
          <p:nvPr/>
        </p:nvSpPr>
        <p:spPr>
          <a:xfrm>
            <a:off x="502920" y="3520440"/>
            <a:ext cx="5440320" cy="1737000"/>
          </a:xfrm>
          <a:prstGeom prst="roundRect">
            <a:avLst>
              <a:gd name="adj" fmla="val 4211"/>
            </a:avLst>
          </a:prstGeom>
          <a:solidFill>
            <a:srgbClr val="FBE4E0"/>
          </a:solidFill>
          <a:ln w="9525">
            <a:solidFill>
              <a:srgbClr val="F0B7A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6"/>
          <p:cNvSpPr/>
          <p:nvPr/>
        </p:nvSpPr>
        <p:spPr>
          <a:xfrm>
            <a:off x="731520" y="3657600"/>
            <a:ext cx="49831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30" b="1" u="none" strike="noStrike">
                <a:solidFill>
                  <a:srgbClr val="9E3423"/>
                </a:solidFill>
                <a:effectLst/>
                <a:uFillTx/>
                <a:latin typeface="Calibri"/>
                <a:ea typeface="Calibri"/>
              </a:rPr>
              <a:t>EQUITY EXPERIMENT — we tried the obvious fix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7"/>
          <p:cNvSpPr/>
          <p:nvPr/>
        </p:nvSpPr>
        <p:spPr>
          <a:xfrm>
            <a:off x="731520" y="3977640"/>
            <a:ext cx="498312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A2A1C"/>
                </a:solidFill>
                <a:effectLst/>
                <a:uFillTx/>
                <a:latin typeface="Calibri"/>
                <a:ea typeface="Calibri"/>
              </a:rPr>
              <a:t>One capacity threshold per age band. Recall drops 40.2% → 39.7% (901 → 891 true positives); 80+ ROC-AUC is unchanged at 0.613 under both policies. </a:t>
            </a:r>
            <a:r>
              <a:rPr lang="en-US" sz="1000" b="1" u="none" strike="noStrike">
                <a:solidFill>
                  <a:srgbClr val="9E3423"/>
                </a:solidFill>
                <a:effectLst/>
                <a:uFillTx/>
                <a:latin typeface="Calibri"/>
                <a:ea typeface="Calibri"/>
              </a:rPr>
              <a:t>Thresholds move capacity — they cannot change ranking.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Shape 8"/>
          <p:cNvSpPr/>
          <p:nvPr/>
        </p:nvSpPr>
        <p:spPr>
          <a:xfrm>
            <a:off x="6263640" y="3520440"/>
            <a:ext cx="5440320" cy="1737000"/>
          </a:xfrm>
          <a:prstGeom prst="roundRect">
            <a:avLst>
              <a:gd name="adj" fmla="val 4211"/>
            </a:avLst>
          </a:prstGeom>
          <a:solidFill>
            <a:srgbClr val="E2F0E9"/>
          </a:solidFill>
          <a:ln w="9525">
            <a:solidFill>
              <a:srgbClr val="AEDBC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9"/>
          <p:cNvSpPr/>
          <p:nvPr/>
        </p:nvSpPr>
        <p:spPr>
          <a:xfrm>
            <a:off x="6492240" y="3657600"/>
            <a:ext cx="49831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30" b="1" u="none" strike="noStrike">
                <a:solidFill>
                  <a:srgbClr val="1F5F44"/>
                </a:solidFill>
                <a:effectLst/>
                <a:uFillTx/>
                <a:latin typeface="Calibri"/>
                <a:ea typeface="Calibri"/>
              </a:rPr>
              <a:t>ROOT CAUSE — a data limit, not a modelling one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10"/>
          <p:cNvSpPr/>
          <p:nvPr/>
        </p:nvSpPr>
        <p:spPr>
          <a:xfrm>
            <a:off x="6492240" y="3977640"/>
            <a:ext cx="498312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D4D39"/>
                </a:solidFill>
                <a:effectLst/>
                <a:uFillTx/>
                <a:latin typeface="Calibri"/>
                <a:ea typeface="Calibri"/>
              </a:rPr>
              <a:t>Every feature’s signal decays with age — an 80+ patient carries about a third the separable signal of a &lt;40 patient. A dedicated 80+ model is worse (0.588 vs 0.613): exposure to younger patients helps rank older ones. </a:t>
            </a:r>
            <a:r>
              <a:rPr lang="en-US" sz="1000" b="1" u="none" strike="noStrike">
                <a:solidFill>
                  <a:srgbClr val="1F5F44"/>
                </a:solidFill>
                <a:effectLst/>
                <a:uFillTx/>
                <a:latin typeface="Calibri"/>
                <a:ea typeface="Calibri"/>
              </a:rPr>
              <a:t>Closing this needs frailty and functional-status data this dataset doesn’t carry.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11"/>
          <p:cNvSpPr/>
          <p:nvPr/>
        </p:nvSpPr>
        <p:spPr>
          <a:xfrm>
            <a:off x="11597400" y="6492240"/>
            <a:ext cx="3654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E9AA5"/>
                </a:solidFill>
                <a:effectLst/>
                <a:uFillTx/>
                <a:latin typeface="Calibri"/>
                <a:ea typeface="Calibri"/>
              </a:rPr>
              <a:t>8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2E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Shape 0"/>
          <p:cNvSpPr/>
          <p:nvPr/>
        </p:nvSpPr>
        <p:spPr>
          <a:xfrm>
            <a:off x="10241280" y="-1645920"/>
            <a:ext cx="3840120" cy="3840120"/>
          </a:xfrm>
          <a:prstGeom prst="ellipse">
            <a:avLst/>
          </a:prstGeom>
          <a:solidFill>
            <a:srgbClr val="1238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1"/>
          <p:cNvSpPr/>
          <p:nvPr/>
        </p:nvSpPr>
        <p:spPr>
          <a:xfrm>
            <a:off x="502920" y="411480"/>
            <a:ext cx="5486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139" strike="noStrike">
                <a:solidFill>
                  <a:srgbClr val="2E8FA8"/>
                </a:solidFill>
                <a:effectLst/>
                <a:uFillTx/>
                <a:latin typeface="Calibri"/>
                <a:ea typeface="Calibri"/>
              </a:rPr>
              <a:t>DEPLOYMENT &amp; WHAT WE'D TELL A HOSPITAL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 2"/>
          <p:cNvSpPr/>
          <p:nvPr/>
        </p:nvSpPr>
        <p:spPr>
          <a:xfrm>
            <a:off x="502920" y="685800"/>
            <a:ext cx="111553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Decision support, not autonomous action</a:t>
            </a:r>
            <a:endParaRPr lang="en-U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3"/>
          <p:cNvSpPr/>
          <p:nvPr/>
        </p:nvSpPr>
        <p:spPr>
          <a:xfrm>
            <a:off x="502920" y="1234440"/>
            <a:ext cx="111553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i="1" u="none" strike="noStrike">
                <a:solidFill>
                  <a:srgbClr val="C9DCE3"/>
                </a:solidFill>
                <a:effectLst/>
                <a:uFillTx/>
                <a:latin typeface="Calibri"/>
                <a:ea typeface="Calibri"/>
              </a:rPr>
              <a:t>The model produces a ranked call list. A clinician decides what to do with it.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 4"/>
          <p:cNvSpPr/>
          <p:nvPr/>
        </p:nvSpPr>
        <p:spPr>
          <a:xfrm>
            <a:off x="502920" y="1691640"/>
            <a:ext cx="55774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119" strike="noStrike">
                <a:solidFill>
                  <a:srgbClr val="2E8FA8"/>
                </a:solidFill>
                <a:effectLst/>
                <a:uFillTx/>
                <a:latin typeface="Calibri"/>
                <a:ea typeface="Calibri"/>
              </a:rPr>
              <a:t>ARCHITECTURE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" name="Shape 5"/>
          <p:cNvSpPr/>
          <p:nvPr/>
        </p:nvSpPr>
        <p:spPr>
          <a:xfrm>
            <a:off x="502920" y="1993320"/>
            <a:ext cx="5577480" cy="658080"/>
          </a:xfrm>
          <a:prstGeom prst="roundRect">
            <a:avLst>
              <a:gd name="adj" fmla="val 8333"/>
            </a:avLst>
          </a:prstGeom>
          <a:solidFill>
            <a:srgbClr val="0F3D4F"/>
          </a:solidFill>
          <a:ln w="9525">
            <a:solidFill>
              <a:srgbClr val="1C546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 6"/>
          <p:cNvSpPr/>
          <p:nvPr/>
        </p:nvSpPr>
        <p:spPr>
          <a:xfrm>
            <a:off x="685800" y="1993320"/>
            <a:ext cx="52117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6FC6D9"/>
                </a:solidFill>
                <a:effectLst/>
                <a:uFillTx/>
                <a:latin typeface="Calibri"/>
                <a:ea typeface="Calibri"/>
              </a:rPr>
              <a:t>Nightly batch  —  </a:t>
            </a:r>
            <a:r>
              <a:rPr lang="en-US" sz="970" b="0" u="none" strike="noStrike">
                <a:solidFill>
                  <a:srgbClr val="DCE9EC"/>
                </a:solidFill>
                <a:effectLst/>
                <a:uFillTx/>
                <a:latin typeface="Calibri"/>
                <a:ea typeface="Calibri"/>
              </a:rPr>
              <a:t>The discharge list becomes a ranked worklist, written straight into the follow-up team’s queue.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" name="Shape 7"/>
          <p:cNvSpPr/>
          <p:nvPr/>
        </p:nvSpPr>
        <p:spPr>
          <a:xfrm>
            <a:off x="502920" y="2770560"/>
            <a:ext cx="5577480" cy="658080"/>
          </a:xfrm>
          <a:prstGeom prst="roundRect">
            <a:avLst>
              <a:gd name="adj" fmla="val 8333"/>
            </a:avLst>
          </a:prstGeom>
          <a:solidFill>
            <a:srgbClr val="0F3D4F"/>
          </a:solidFill>
          <a:ln w="9525">
            <a:solidFill>
              <a:srgbClr val="1C546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 8"/>
          <p:cNvSpPr/>
          <p:nvPr/>
        </p:nvSpPr>
        <p:spPr>
          <a:xfrm>
            <a:off x="685800" y="2770560"/>
            <a:ext cx="52117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6FC6D9"/>
                </a:solidFill>
                <a:effectLst/>
                <a:uFillTx/>
                <a:latin typeface="Calibri"/>
                <a:ea typeface="Calibri"/>
              </a:rPr>
              <a:t>Real-time endpoint  —  </a:t>
            </a:r>
            <a:r>
              <a:rPr lang="en-US" sz="970" b="0" u="none" strike="noStrike">
                <a:solidFill>
                  <a:srgbClr val="DCE9EC"/>
                </a:solidFill>
                <a:effectLst/>
                <a:uFillTx/>
                <a:latin typeface="Calibri"/>
                <a:ea typeface="Calibri"/>
              </a:rPr>
              <a:t>FastAPI /score returns risk, flag, band and disclaimer. Sub-millisecond tree inference.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" name="Shape 9"/>
          <p:cNvSpPr/>
          <p:nvPr/>
        </p:nvSpPr>
        <p:spPr>
          <a:xfrm>
            <a:off x="502920" y="3547800"/>
            <a:ext cx="5577480" cy="658080"/>
          </a:xfrm>
          <a:prstGeom prst="roundRect">
            <a:avLst>
              <a:gd name="adj" fmla="val 8333"/>
            </a:avLst>
          </a:prstGeom>
          <a:solidFill>
            <a:srgbClr val="0F3D4F"/>
          </a:solidFill>
          <a:ln w="9525">
            <a:solidFill>
              <a:srgbClr val="1C546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 10"/>
          <p:cNvSpPr/>
          <p:nvPr/>
        </p:nvSpPr>
        <p:spPr>
          <a:xfrm>
            <a:off x="685800" y="3547800"/>
            <a:ext cx="52117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6FC6D9"/>
                </a:solidFill>
                <a:effectLst/>
                <a:uFillTx/>
                <a:latin typeface="Calibri"/>
                <a:ea typeface="Calibri"/>
              </a:rPr>
              <a:t>One 5 MB artefact  —  </a:t>
            </a:r>
            <a:r>
              <a:rPr lang="en-US" sz="970" b="0" u="none" strike="noStrike">
                <a:solidFill>
                  <a:srgbClr val="DCE9EC"/>
                </a:solidFill>
                <a:effectLst/>
                <a:uFillTx/>
                <a:latin typeface="Calibri"/>
                <a:ea typeface="Calibri"/>
              </a:rPr>
              <a:t>Preprocessing, booster, calibrator and threshold travel together in a single joblib file.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 11"/>
          <p:cNvSpPr/>
          <p:nvPr/>
        </p:nvSpPr>
        <p:spPr>
          <a:xfrm>
            <a:off x="502920" y="4370760"/>
            <a:ext cx="55774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2634A"/>
                </a:solidFill>
                <a:effectLst/>
                <a:uFillTx/>
                <a:latin typeface="Calibri"/>
                <a:ea typeface="Calibri"/>
              </a:rPr>
              <a:t>Two serving bugs offline metrics could never have caught: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 12"/>
          <p:cNvSpPr/>
          <p:nvPr/>
        </p:nvSpPr>
        <p:spPr>
          <a:xfrm>
            <a:off x="502920" y="4645080"/>
            <a:ext cx="55774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r>
              <a:rPr lang="en-US" sz="930" b="0" u="none" strike="noStrike">
                <a:solidFill>
                  <a:srgbClr val="C9DCE3"/>
                </a:solidFill>
                <a:effectLst/>
                <a:uFillTx/>
                <a:latin typeface="Calibri"/>
                <a:ea typeface="Calibri"/>
              </a:rPr>
              <a:t>• Feature engineering required the readmitted label — which doesn’t exist at discharge.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930" b="0" u="none" strike="noStrike">
                <a:solidFill>
                  <a:srgbClr val="C9DCE3"/>
                </a:solidFill>
                <a:effectLst/>
                <a:uFillTx/>
                <a:latin typeface="Calibri"/>
                <a:ea typeface="Calibri"/>
              </a:rPr>
              <a:t>• prior_encounters was counted per-batch — a single-row request always came out zero, killing the model’s strongest feature.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 13"/>
          <p:cNvSpPr/>
          <p:nvPr/>
        </p:nvSpPr>
        <p:spPr>
          <a:xfrm>
            <a:off x="502920" y="5330880"/>
            <a:ext cx="55774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930" b="0" i="1" u="none" strike="noStrike">
                <a:solidFill>
                  <a:srgbClr val="8FAAB5"/>
                </a:solidFill>
                <a:effectLst/>
                <a:uFillTx/>
                <a:latin typeface="Calibri"/>
                <a:ea typeface="Calibri"/>
              </a:rPr>
              <a:t>Monitor flag rate, realised-vs-predicted readmission rate, calibration drift and subgroup gaps — on a schedule, not once at launch.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 14"/>
          <p:cNvSpPr/>
          <p:nvPr/>
        </p:nvSpPr>
        <p:spPr>
          <a:xfrm>
            <a:off x="6400800" y="1691640"/>
            <a:ext cx="5257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60" strike="noStrike">
                <a:solidFill>
                  <a:srgbClr val="F2634A"/>
                </a:solidFill>
                <a:effectLst/>
                <a:uFillTx/>
                <a:latin typeface="Calibri"/>
                <a:ea typeface="Calibri"/>
              </a:rPr>
              <a:t>WHAT WE’D SAY TO A HOSPITAL — honest about the ceiling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" name="Shape 15"/>
          <p:cNvSpPr/>
          <p:nvPr/>
        </p:nvSpPr>
        <p:spPr>
          <a:xfrm>
            <a:off x="6400800" y="2039040"/>
            <a:ext cx="91080" cy="91080"/>
          </a:xfrm>
          <a:prstGeom prst="ellipse">
            <a:avLst/>
          </a:prstGeom>
          <a:solidFill>
            <a:srgbClr val="F26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9440" rIns="90000" bIns="194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 16"/>
          <p:cNvSpPr/>
          <p:nvPr/>
        </p:nvSpPr>
        <p:spPr>
          <a:xfrm>
            <a:off x="6629400" y="1938600"/>
            <a:ext cx="50288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7000"/>
              </a:lnSpc>
              <a:tabLst>
                <a:tab pos="0" algn="l"/>
              </a:tabLst>
            </a:pPr>
            <a:r>
              <a:rPr lang="en-US" sz="98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Discrimination is modest — and that’s a ceiling on method.  </a:t>
            </a:r>
            <a:r>
              <a:rPr lang="en-US" sz="980" b="0" u="none" strike="noStrike">
                <a:solidFill>
                  <a:srgbClr val="C9DCE3"/>
                </a:solidFill>
                <a:effectLst/>
                <a:uFillTx/>
                <a:latin typeface="Calibri"/>
                <a:ea typeface="Calibri"/>
              </a:rPr>
              <a:t>0.684 sits inside the 0.64–0.70 band published for this dataset. Seven approaches converged there.</a:t>
            </a:r>
            <a:endParaRPr lang="en-US" sz="9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" name="Shape 17"/>
          <p:cNvSpPr/>
          <p:nvPr/>
        </p:nvSpPr>
        <p:spPr>
          <a:xfrm>
            <a:off x="6400800" y="2770560"/>
            <a:ext cx="91080" cy="91080"/>
          </a:xfrm>
          <a:prstGeom prst="ellipse">
            <a:avLst/>
          </a:prstGeom>
          <a:solidFill>
            <a:srgbClr val="F26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9440" rIns="90000" bIns="194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 18"/>
          <p:cNvSpPr/>
          <p:nvPr/>
        </p:nvSpPr>
        <p:spPr>
          <a:xfrm>
            <a:off x="6629400" y="2670120"/>
            <a:ext cx="50288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7000"/>
              </a:lnSpc>
              <a:tabLst>
                <a:tab pos="0" algn="l"/>
              </a:tabLst>
            </a:pPr>
            <a:r>
              <a:rPr lang="en-US" sz="98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Insurance coding is not physiology.  </a:t>
            </a:r>
            <a:r>
              <a:rPr lang="en-US" sz="980" b="0" u="none" strike="noStrike">
                <a:solidFill>
                  <a:srgbClr val="C9DCE3"/>
                </a:solidFill>
                <a:effectLst/>
                <a:uFillTx/>
                <a:latin typeface="Calibri"/>
                <a:ea typeface="Calibri"/>
              </a:rPr>
              <a:t>payer_code_Unknown is a top-6 driver — it may not transfer to a new hospital; first thing to re-examine on local data.</a:t>
            </a:r>
            <a:endParaRPr lang="en-US" sz="9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" name="Shape 19"/>
          <p:cNvSpPr/>
          <p:nvPr/>
        </p:nvSpPr>
        <p:spPr>
          <a:xfrm>
            <a:off x="6400800" y="3502080"/>
            <a:ext cx="91080" cy="91080"/>
          </a:xfrm>
          <a:prstGeom prst="ellipse">
            <a:avLst/>
          </a:prstGeom>
          <a:solidFill>
            <a:srgbClr val="F26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9440" rIns="90000" bIns="194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 20"/>
          <p:cNvSpPr/>
          <p:nvPr/>
        </p:nvSpPr>
        <p:spPr>
          <a:xfrm>
            <a:off x="6629400" y="3401640"/>
            <a:ext cx="50288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7000"/>
              </a:lnSpc>
              <a:tabLst>
                <a:tab pos="0" algn="l"/>
              </a:tabLst>
            </a:pPr>
            <a:r>
              <a:rPr lang="en-US" sz="98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The data is 1999–2008.  </a:t>
            </a:r>
            <a:r>
              <a:rPr lang="en-US" sz="980" b="0" u="none" strike="noStrike">
                <a:solidFill>
                  <a:srgbClr val="C9DCE3"/>
                </a:solidFill>
                <a:effectLst/>
                <a:uFillTx/>
                <a:latin typeface="Calibri"/>
                <a:ea typeface="Calibri"/>
              </a:rPr>
              <a:t>Coding standards, drug availability and discharge policy have all moved. Recalibration is mandatory.</a:t>
            </a:r>
            <a:endParaRPr lang="en-US" sz="9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" name="Shape 21"/>
          <p:cNvSpPr/>
          <p:nvPr/>
        </p:nvSpPr>
        <p:spPr>
          <a:xfrm>
            <a:off x="6400800" y="4233600"/>
            <a:ext cx="91080" cy="91080"/>
          </a:xfrm>
          <a:prstGeom prst="ellipse">
            <a:avLst/>
          </a:prstGeom>
          <a:solidFill>
            <a:srgbClr val="F26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9440" rIns="90000" bIns="194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 22"/>
          <p:cNvSpPr/>
          <p:nvPr/>
        </p:nvSpPr>
        <p:spPr>
          <a:xfrm>
            <a:off x="6629400" y="4133160"/>
            <a:ext cx="50288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7000"/>
              </a:lnSpc>
              <a:tabLst>
                <a:tab pos="0" algn="l"/>
              </a:tabLst>
            </a:pPr>
            <a:r>
              <a:rPr lang="en-US" sz="98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The oldest patients cannot be ranked well — and we know why.  </a:t>
            </a:r>
            <a:r>
              <a:rPr lang="en-US" sz="980" b="0" u="none" strike="noStrike">
                <a:solidFill>
                  <a:srgbClr val="C9DCE3"/>
                </a:solidFill>
                <a:effectLst/>
                <a:uFillTx/>
                <a:latin typeface="Calibri"/>
                <a:ea typeface="Calibri"/>
              </a:rPr>
              <a:t>Every feature’s signal decays with age. Three fixes failed; it needs frailty data this dataset lacks.</a:t>
            </a:r>
            <a:endParaRPr lang="en-US" sz="9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" name="Shape 23"/>
          <p:cNvSpPr/>
          <p:nvPr/>
        </p:nvSpPr>
        <p:spPr>
          <a:xfrm>
            <a:off x="502920" y="5989320"/>
            <a:ext cx="11182680" cy="502560"/>
          </a:xfrm>
          <a:prstGeom prst="roundRect">
            <a:avLst>
              <a:gd name="adj" fmla="val 14545"/>
            </a:avLst>
          </a:prstGeom>
          <a:solidFill>
            <a:srgbClr val="0F3D4F"/>
          </a:solidFill>
          <a:ln w="9525">
            <a:solidFill>
              <a:srgbClr val="1C546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 24"/>
          <p:cNvSpPr/>
          <p:nvPr/>
        </p:nvSpPr>
        <p:spPr>
          <a:xfrm>
            <a:off x="731520" y="5989320"/>
            <a:ext cx="10698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6FC6D9"/>
                </a:solidFill>
                <a:effectLst/>
                <a:uFillTx/>
                <a:latin typeface="Courier New"/>
                <a:ea typeface="Courier New"/>
              </a:rPr>
              <a:t>github.com/sgoel2be24-cyber/hospital-readmission-risk</a:t>
            </a:r>
            <a:r>
              <a:rPr lang="en-US" sz="950" b="0" u="none" strike="noStrike">
                <a:solidFill>
                  <a:srgbClr val="8FAAB5"/>
                </a:solidFill>
                <a:effectLst/>
                <a:uFillTx/>
                <a:latin typeface="Courier New"/>
                <a:ea typeface="Courier New"/>
              </a:rPr>
              <a:t>    make setup &amp;&amp; make data &amp;&amp; make train   ·   27 tests   ·   ~60s end to end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 25"/>
          <p:cNvSpPr/>
          <p:nvPr/>
        </p:nvSpPr>
        <p:spPr>
          <a:xfrm>
            <a:off x="11597400" y="6492240"/>
            <a:ext cx="3654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E97A6"/>
                </a:solidFill>
                <a:effectLst/>
                <a:uFillTx/>
                <a:latin typeface="Calibri"/>
                <a:ea typeface="Calibri"/>
              </a:rPr>
              <a:t>9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LibreOffice/26.2.5.2$Linux_X86_64 LibreOffice_project/620$Build-2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2026-08-08T10:35:49Z</dcterms:created>
  <dc:creator>PptxGenJS</dc:creator>
  <dc:description/>
  <dc:language>en-US</dc:language>
  <cp:lastModifiedBy/>
  <dcterms:modified xsi:type="dcterms:W3CDTF">2026-08-08T16:17:30Z</dcterms:modified>
  <cp:revision>2</cp:revision>
  <dc:subject>PptxGenJS Presentation</dc:subject>
  <dc:title>PptxGenJS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9</vt:i4>
  </property>
  <property fmtid="{D5CDD505-2E9C-101B-9397-08002B2CF9AE}" pid="3" name="PresentationFormat">
    <vt:lpwstr>On-screen Show (16:9)</vt:lpwstr>
  </property>
  <property fmtid="{D5CDD505-2E9C-101B-9397-08002B2CF9AE}" pid="4" name="Slides">
    <vt:i4>9</vt:i4>
  </property>
</Properties>
</file>