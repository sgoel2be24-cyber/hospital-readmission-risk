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harts/chart1.xml" ContentType="application/vnd.openxmlformats-officedocument.drawingml.chart+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E3B"/>
                </a:solidFill>
                <a:latin typeface="Calibri"/>
              </a:defRPr>
            </a:pPr>
            <a:r>
              <a:rPr sz="1300" b="0" i="0" u="none" strike="noStrike">
                <a:solidFill>
                  <a:srgbClr val="0B2E3B"/>
                </a:solidFill>
                <a:latin typeface="Calibri"/>
              </a:rPr>
              <a:t>Test PR-AUC  (base rate 0.113)</a:t>
            </a:r>
          </a:p>
        </c:rich>
      </c:tx>
      <c:layout/>
      <c:overlay val="0"/>
    </c:title>
    <c:autoTitleDeleted val="0"/>
    <c:plotArea>
      <c:layout/>
      <c:barChart>
        <c:barDir val="col"/>
        <c:grouping val="clustered"/>
        <c:varyColors val="0"/>
        <c:ser>
          <c:idx val="0"/>
          <c:order val="0"/>
          <c:tx>
            <c:strRef>
              <c:f>Sheet1!$B$1</c:f>
              <c:strCache>
                <c:ptCount val="1"/>
                <c:pt idx="0">
                  <c:v>Test PR-AUC</c:v>
                </c:pt>
              </c:strCache>
            </c:strRef>
          </c:tx>
          <c:spPr>
            <a:solidFill>
              <a:srgbClr val="12556B"/>
            </a:solidFill>
            <a:effectLst/>
          </c:spPr>
          <c:invertIfNegative val="0"/>
          <c:dLbls>
            <c:numFmt formatCode="0.000" sourceLinked="0"/>
            <c:txPr>
              <a:bodyPr/>
              <a:lstStyle/>
              <a:p>
                <a:pPr>
                  <a:defRPr b="0" i="0" strike="noStrike" sz="1000" u="none">
                    <a:solidFill>
                      <a:srgbClr val="0B2E3B"/>
                    </a:solidFill>
                    <a:latin typeface="Arial"/>
                  </a:defRPr>
                </a:pPr>
              </a:p>
            </c:txPr>
            <c:showLegendKey val="0"/>
            <c:showVal val="1"/>
            <c:showCatName val="0"/>
            <c:showSerName val="0"/>
            <c:showPercent val="0"/>
            <c:showBubbleSize val="0"/>
            <c:showLeaderLines val="0"/>
          </c:dLbls>
          <c:dPt>
            <c:idx val="0"/>
            <c:invertIfNegative val="0"/>
            <c:bubble3D val="0"/>
            <c:spPr>
              <a:solidFill>
                <a:srgbClr val="12556B"/>
              </a:solidFill>
              <a:effectLst/>
            </c:spPr>
          </c:dPt>
          <c:dPt>
            <c:idx val="1"/>
            <c:invertIfNegative val="0"/>
            <c:bubble3D val="0"/>
            <c:spPr>
              <a:solidFill>
                <a:srgbClr val="12556B"/>
              </a:solidFill>
              <a:effectLst/>
            </c:spPr>
          </c:dPt>
          <c:dPt>
            <c:idx val="2"/>
            <c:invertIfNegative val="0"/>
            <c:bubble3D val="0"/>
            <c:spPr>
              <a:solidFill>
                <a:srgbClr val="12556B"/>
              </a:solidFill>
              <a:effectLst/>
            </c:spPr>
          </c:dPt>
          <c:dPt>
            <c:idx val="3"/>
            <c:invertIfNegative val="0"/>
            <c:bubble3D val="0"/>
            <c:spPr>
              <a:solidFill>
                <a:srgbClr val="12556B"/>
              </a:solidFill>
              <a:effectLst/>
            </c:spPr>
          </c:dPt>
          <c:dPt>
            <c:idx val="4"/>
            <c:invertIfNegative val="0"/>
            <c:bubble3D val="0"/>
            <c:spPr>
              <a:solidFill>
                <a:srgbClr val="F2634A"/>
              </a:solidFill>
              <a:effectLst/>
            </c:spPr>
          </c:dPt>
          <c:dPt>
            <c:idx val="5"/>
            <c:invertIfNegative val="0"/>
            <c:bubble3D val="0"/>
            <c:spPr>
              <a:solidFill>
                <a:srgbClr val="12556B"/>
              </a:solidFill>
              <a:effectLst/>
            </c:spPr>
          </c:dPt>
          <c:cat>
            <c:multiLvlStrRef>
              <c:f>Sheet1!$A$2:$A$7</c:f>
              <c:multiLvlStrCache>
                <c:ptCount val="6"/>
                <c:lvl>
                  <c:pt idx="0">
                    <c:v>Dummy</c:v>
                  </c:pt>
                  <c:pt idx="1">
                    <c:v>Logistic reg.</c:v>
                  </c:pt>
                  <c:pt idx="2">
                    <c:v>Random forest</c:v>
                  </c:pt>
                  <c:pt idx="3">
                    <c:v>XGBoost</c:v>
                  </c:pt>
                  <c:pt idx="4">
                    <c:v>LightGBM</c:v>
                  </c:pt>
                  <c:pt idx="5">
                    <c:v>MLP</c:v>
                  </c:pt>
                </c:lvl>
              </c:multiLvlStrCache>
            </c:multiLvlStrRef>
          </c:cat>
          <c:val>
            <c:numRef>
              <c:f>Sheet1!$B$2:$B$7</c:f>
              <c:numCache>
                <c:formatCode>General</c:formatCode>
                <c:ptCount val="6"/>
                <c:pt idx="0">
                  <c:v>0.114</c:v>
                </c:pt>
                <c:pt idx="1">
                  <c:v>0.213</c:v>
                </c:pt>
                <c:pt idx="2">
                  <c:v>0.225</c:v>
                </c:pt>
                <c:pt idx="3">
                  <c:v>0.235</c:v>
                </c:pt>
                <c:pt idx="4">
                  <c:v>0.238</c:v>
                </c:pt>
                <c:pt idx="5">
                  <c:v>0.222</c:v>
                </c:pt>
              </c:numCache>
            </c:numRef>
          </c:val>
        </c:ser>
        <c:dLbls>
          <c:numFmt formatCode="0.000" sourceLinked="0"/>
          <c:txPr>
            <a:bodyPr/>
            <a:lstStyle/>
            <a:p>
              <a:pPr>
                <a:defRPr b="0" i="0" strike="noStrike" sz="1000" u="none">
                  <a:solidFill>
                    <a:srgbClr val="0B2E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7683"/>
                </a:solidFill>
                <a:latin typeface="Arial"/>
              </a:defRPr>
            </a:pPr>
            <a:endParaRPr lang="en-US"/>
          </a:p>
        </c:txPr>
        <c:crossAx val="2094734552"/>
        <c:crosses val="autoZero"/>
        <c:auto val="1"/>
        <c:lblAlgn val="ctr"/>
        <c:noMultiLvlLbl val="1"/>
      </c:catAx>
      <c:valAx>
        <c:axId val="2094734552"/>
        <c:scaling>
          <c:orientation val="minMax"/>
          <c:max val="0.28"/>
          <c:min val="0"/>
        </c:scaling>
        <c:delete val="0"/>
        <c:axPos val="l"/>
        <c:majorGridlines>
          <c:spPr>
            <a:ln w="12700" cap="flat">
              <a:solidFill>
                <a:srgbClr val="E3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768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is the point: this is not 'who will be readmitted' but 'given we can call 20% of discharges, which 20%'. Every modelling decision follows from that. Headline: 40.2% of readmissions caught by calling the top-ranked fifth.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metric choice, threshold, calibration — is a consequence of this reframing.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death/hospice filter is the one cleaning step that changes the label rather than the features. Also worth mentioning: max_glu_serum uses the literal string 'None' for 'never tested' — pandas turns that into NaN by default and destroys an informative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Published results for this dataset sit at 0.64–0.70. If someone reports 0.85, they split by row. Our three leakage guards are each covered by a test that fails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Reproducible end to end: make setup, make data, make tune, make train, make experiments, make explain, make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MLP exception is informative: because it is unweighted, it ends up the best-calibrated model while ranking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LightGBM over XGBoost: validation PR-AUC, and it is genuinely a coin flip. Saying so is more credible than claiming a 0.0003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accuracy question from judges. Answer with the 88.6% baseline. Accuracy is reported in metrics.json for completeness; it selected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uncalibrated curves sitting below the diagonal are the class-weighting distortion made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Capacity-sweep rows use test-quantile thresholds, so they differ marginally from the deployed 40.2%/23.3%, where the threshold is fixed 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Per-patient reason codes ship with every score — a nurse needs the three facts behind a number, not the number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Ensembling buying nothing tells you the three tree models make correlated errors — they read the same limited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Protected attributes are kept as features on purpose. Dropping race does not remove its influence — it is reconstructable from other columns — it only removes the ability to measure the disparity.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from 1999–2008. Recalibration on recent local data is mandatory before any real use,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credibility rather than on a number. The limitations slide is the one that separates a model that was measured from a model that was demoed.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B"/>
        </a:solidFill>
      </p:bgPr>
    </p:bg>
    <p:spTree>
      <p:nvGrpSpPr>
        <p:cNvPr id="1" name=""/>
        <p:cNvGrpSpPr/>
        <p:nvPr/>
      </p:nvGrpSpPr>
      <p:grpSpPr>
        <a:xfrm>
          <a:off x="0" y="0"/>
          <a:ext cx="0" cy="0"/>
          <a:chOff x="0" y="0"/>
          <a:chExt cx="0" cy="0"/>
        </a:xfrm>
      </p:grpSpPr>
      <p:sp>
        <p:nvSpPr>
          <p:cNvPr id="2" name="Shape 0"/>
          <p:cNvSpPr/>
          <p:nvPr/>
        </p:nvSpPr>
        <p:spPr>
          <a:xfrm>
            <a:off x="8686800" y="-1737360"/>
            <a:ext cx="5852160" cy="5852160"/>
          </a:xfrm>
          <a:prstGeom prst="ellipse">
            <a:avLst/>
          </a:prstGeom>
          <a:solidFill>
            <a:srgbClr val="12556B">
              <a:alpha val="55000"/>
            </a:srgbClr>
          </a:solidFill>
          <a:ln w="12700">
            <a:solidFill>
              <a:srgbClr val="333333"/>
            </a:solidFill>
            <a:prstDash val="solid"/>
          </a:ln>
        </p:spPr>
      </p:sp>
      <p:sp>
        <p:nvSpPr>
          <p:cNvPr id="3" name="Shape 1"/>
          <p:cNvSpPr/>
          <p:nvPr/>
        </p:nvSpPr>
        <p:spPr>
          <a:xfrm>
            <a:off x="10058400" y="3291840"/>
            <a:ext cx="3840480" cy="3840480"/>
          </a:xfrm>
          <a:prstGeom prst="ellipse">
            <a:avLst/>
          </a:prstGeom>
          <a:solidFill>
            <a:srgbClr val="2E8FA8">
              <a:alpha val="30000"/>
            </a:srgbClr>
          </a:solidFill>
          <a:ln w="12700">
            <a:solidFill>
              <a:srgbClr val="333333"/>
            </a:solidFill>
            <a:prstDash val="solid"/>
          </a:ln>
        </p:spPr>
      </p:sp>
      <p:sp>
        <p:nvSpPr>
          <p:cNvPr id="4" name="Text 2"/>
          <p:cNvSpPr/>
          <p:nvPr/>
        </p:nvSpPr>
        <p:spPr>
          <a:xfrm>
            <a:off x="566928" y="1298448"/>
            <a:ext cx="8412480" cy="274320"/>
          </a:xfrm>
          <a:prstGeom prst="rect">
            <a:avLst/>
          </a:prstGeom>
          <a:noFill/>
          <a:ln/>
        </p:spPr>
        <p:txBody>
          <a:bodyPr wrap="square" lIns="0" tIns="0" rIns="0" bIns="0" rtlCol="0" anchor="ctr"/>
          <a:lstStyle/>
          <a:p>
            <a:pPr indent="0" marL="0">
              <a:buNone/>
            </a:pPr>
            <a:r>
              <a:rPr lang="en-US" sz="1200" b="1" spc="240" kern="0" dirty="0">
                <a:solidFill>
                  <a:srgbClr val="2E8FA8"/>
                </a:solidFill>
                <a:latin typeface="Calibri" pitchFamily="34" charset="0"/>
                <a:ea typeface="Calibri" pitchFamily="34" charset="-122"/>
                <a:cs typeface="Calibri" pitchFamily="34" charset="-120"/>
              </a:rPr>
              <a:t>ML BUBBLE 2026  ·  TE-BE DESIGN &amp; SOLVE</a:t>
            </a:r>
            <a:endParaRPr lang="en-US" sz="1200" dirty="0"/>
          </a:p>
        </p:txBody>
      </p:sp>
      <p:sp>
        <p:nvSpPr>
          <p:cNvPr id="5" name="Text 3"/>
          <p:cNvSpPr/>
          <p:nvPr/>
        </p:nvSpPr>
        <p:spPr>
          <a:xfrm>
            <a:off x="566928" y="1783080"/>
            <a:ext cx="8229600" cy="178308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Predicting 30-Day</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Hospital Readmission</a:t>
            </a:r>
            <a:endParaRPr lang="en-US" sz="4600" dirty="0"/>
          </a:p>
        </p:txBody>
      </p:sp>
      <p:sp>
        <p:nvSpPr>
          <p:cNvPr id="6" name="Text 4"/>
          <p:cNvSpPr/>
          <p:nvPr/>
        </p:nvSpPr>
        <p:spPr>
          <a:xfrm>
            <a:off x="566928" y="3767328"/>
            <a:ext cx="7772400" cy="731520"/>
          </a:xfrm>
          <a:prstGeom prst="rect">
            <a:avLst/>
          </a:prstGeom>
          <a:noFill/>
          <a:ln/>
        </p:spPr>
        <p:txBody>
          <a:bodyPr wrap="square" lIns="0" tIns="0" rIns="0" bIns="0" rtlCol="0" anchor="ctr"/>
          <a:lstStyle/>
          <a:p>
            <a:pPr indent="0" marL="0">
              <a:buNone/>
            </a:pPr>
            <a:r>
              <a:rPr lang="en-US" sz="1500" dirty="0">
                <a:solidFill>
                  <a:srgbClr val="C9DCE3"/>
                </a:solidFill>
                <a:latin typeface="Calibri" pitchFamily="34" charset="0"/>
                <a:ea typeface="Calibri" pitchFamily="34" charset="-122"/>
                <a:cs typeface="Calibri" pitchFamily="34" charset="-120"/>
              </a:rPr>
              <a:t>Turning 101,766 discharge records into a ranked call list for a follow-up team that can only reach one patient in five.</a:t>
            </a:r>
            <a:endParaRPr lang="en-US" sz="1500" dirty="0"/>
          </a:p>
        </p:txBody>
      </p:sp>
      <p:sp>
        <p:nvSpPr>
          <p:cNvPr id="7" name="Text 5"/>
          <p:cNvSpPr/>
          <p:nvPr/>
        </p:nvSpPr>
        <p:spPr>
          <a:xfrm>
            <a:off x="566928" y="4828032"/>
            <a:ext cx="2560320" cy="548640"/>
          </a:xfrm>
          <a:prstGeom prst="rect">
            <a:avLst/>
          </a:prstGeom>
          <a:noFill/>
          <a:ln/>
        </p:spPr>
        <p:txBody>
          <a:bodyPr wrap="square" lIns="0" tIns="0" rIns="0" bIns="0" rtlCol="0" anchor="ctr"/>
          <a:lstStyle/>
          <a:p>
            <a:pPr indent="0" marL="0">
              <a:buNone/>
            </a:pPr>
            <a:r>
              <a:rPr lang="en-US" sz="3000" b="1" dirty="0">
                <a:solidFill>
                  <a:srgbClr val="F2634A"/>
                </a:solidFill>
                <a:latin typeface="Cambria" pitchFamily="34" charset="0"/>
                <a:ea typeface="Cambria" pitchFamily="34" charset="-122"/>
                <a:cs typeface="Cambria" pitchFamily="34" charset="-120"/>
              </a:rPr>
              <a:t>40.2%</a:t>
            </a:r>
            <a:endParaRPr lang="en-US" sz="3000" dirty="0"/>
          </a:p>
        </p:txBody>
      </p:sp>
      <p:sp>
        <p:nvSpPr>
          <p:cNvPr id="8" name="Text 6"/>
          <p:cNvSpPr/>
          <p:nvPr/>
        </p:nvSpPr>
        <p:spPr>
          <a:xfrm>
            <a:off x="566928" y="5358384"/>
            <a:ext cx="2560320" cy="384048"/>
          </a:xfrm>
          <a:prstGeom prst="rect">
            <a:avLst/>
          </a:prstGeom>
          <a:noFill/>
          <a:ln/>
        </p:spPr>
        <p:txBody>
          <a:bodyPr wrap="square" lIns="0" tIns="0" rIns="0" bIns="0" rtlCol="0" anchor="ctr"/>
          <a:lstStyle/>
          <a:p>
            <a:pPr indent="0" marL="0">
              <a:buNone/>
            </a:pPr>
            <a:r>
              <a:rPr lang="en-US" sz="1100" dirty="0">
                <a:solidFill>
                  <a:srgbClr val="C9DCE3"/>
                </a:solidFill>
                <a:latin typeface="Calibri" pitchFamily="34" charset="0"/>
                <a:ea typeface="Calibri" pitchFamily="34" charset="-122"/>
                <a:cs typeface="Calibri" pitchFamily="34" charset="-120"/>
              </a:rPr>
              <a:t>of readmissions caught</a:t>
            </a:r>
            <a:endParaRPr lang="en-US" sz="1100" dirty="0"/>
          </a:p>
        </p:txBody>
      </p:sp>
      <p:sp>
        <p:nvSpPr>
          <p:cNvPr id="9" name="Text 7"/>
          <p:cNvSpPr/>
          <p:nvPr/>
        </p:nvSpPr>
        <p:spPr>
          <a:xfrm>
            <a:off x="3355848" y="4828032"/>
            <a:ext cx="2560320" cy="548640"/>
          </a:xfrm>
          <a:prstGeom prst="rect">
            <a:avLst/>
          </a:prstGeom>
          <a:noFill/>
          <a:ln/>
        </p:spPr>
        <p:txBody>
          <a:bodyPr wrap="square" lIns="0" tIns="0" rIns="0" bIns="0" rtlCol="0" anchor="ctr"/>
          <a:lstStyle/>
          <a:p>
            <a:pPr indent="0" marL="0">
              <a:buNone/>
            </a:pPr>
            <a:r>
              <a:rPr lang="en-US" sz="3000" b="1" dirty="0">
                <a:solidFill>
                  <a:srgbClr val="F2634A"/>
                </a:solidFill>
                <a:latin typeface="Cambria" pitchFamily="34" charset="0"/>
                <a:ea typeface="Cambria" pitchFamily="34" charset="-122"/>
                <a:cs typeface="Cambria" pitchFamily="34" charset="-120"/>
              </a:rPr>
              <a:t>2.05×</a:t>
            </a:r>
            <a:endParaRPr lang="en-US" sz="3000" dirty="0"/>
          </a:p>
        </p:txBody>
      </p:sp>
      <p:sp>
        <p:nvSpPr>
          <p:cNvPr id="10" name="Text 8"/>
          <p:cNvSpPr/>
          <p:nvPr/>
        </p:nvSpPr>
        <p:spPr>
          <a:xfrm>
            <a:off x="3355848" y="5358384"/>
            <a:ext cx="2560320" cy="384048"/>
          </a:xfrm>
          <a:prstGeom prst="rect">
            <a:avLst/>
          </a:prstGeom>
          <a:noFill/>
          <a:ln/>
        </p:spPr>
        <p:txBody>
          <a:bodyPr wrap="square" lIns="0" tIns="0" rIns="0" bIns="0" rtlCol="0" anchor="ctr"/>
          <a:lstStyle/>
          <a:p>
            <a:pPr indent="0" marL="0">
              <a:buNone/>
            </a:pPr>
            <a:r>
              <a:rPr lang="en-US" sz="1100" dirty="0">
                <a:solidFill>
                  <a:srgbClr val="C9DCE3"/>
                </a:solidFill>
                <a:latin typeface="Calibri" pitchFamily="34" charset="0"/>
                <a:ea typeface="Calibri" pitchFamily="34" charset="-122"/>
                <a:cs typeface="Calibri" pitchFamily="34" charset="-120"/>
              </a:rPr>
              <a:t>lift over random calling</a:t>
            </a:r>
            <a:endParaRPr lang="en-US" sz="1100" dirty="0"/>
          </a:p>
        </p:txBody>
      </p:sp>
      <p:sp>
        <p:nvSpPr>
          <p:cNvPr id="11" name="Text 9"/>
          <p:cNvSpPr/>
          <p:nvPr/>
        </p:nvSpPr>
        <p:spPr>
          <a:xfrm>
            <a:off x="6144768" y="4828032"/>
            <a:ext cx="2560320" cy="548640"/>
          </a:xfrm>
          <a:prstGeom prst="rect">
            <a:avLst/>
          </a:prstGeom>
          <a:noFill/>
          <a:ln/>
        </p:spPr>
        <p:txBody>
          <a:bodyPr wrap="square" lIns="0" tIns="0" rIns="0" bIns="0" rtlCol="0" anchor="ctr"/>
          <a:lstStyle/>
          <a:p>
            <a:pPr indent="0" marL="0">
              <a:buNone/>
            </a:pPr>
            <a:r>
              <a:rPr lang="en-US" sz="3000" b="1" dirty="0">
                <a:solidFill>
                  <a:srgbClr val="F2634A"/>
                </a:solidFill>
                <a:latin typeface="Cambria" pitchFamily="34" charset="0"/>
                <a:ea typeface="Cambria" pitchFamily="34" charset="-122"/>
                <a:cs typeface="Cambria" pitchFamily="34" charset="-120"/>
              </a:rPr>
              <a:t>0.238</a:t>
            </a:r>
            <a:endParaRPr lang="en-US" sz="3000" dirty="0"/>
          </a:p>
        </p:txBody>
      </p:sp>
      <p:sp>
        <p:nvSpPr>
          <p:cNvPr id="12" name="Text 10"/>
          <p:cNvSpPr/>
          <p:nvPr/>
        </p:nvSpPr>
        <p:spPr>
          <a:xfrm>
            <a:off x="6144768" y="5358384"/>
            <a:ext cx="2560320" cy="384048"/>
          </a:xfrm>
          <a:prstGeom prst="rect">
            <a:avLst/>
          </a:prstGeom>
          <a:noFill/>
          <a:ln/>
        </p:spPr>
        <p:txBody>
          <a:bodyPr wrap="square" lIns="0" tIns="0" rIns="0" bIns="0" rtlCol="0" anchor="ctr"/>
          <a:lstStyle/>
          <a:p>
            <a:pPr indent="0" marL="0">
              <a:buNone/>
            </a:pPr>
            <a:r>
              <a:rPr lang="en-US" sz="1100" dirty="0">
                <a:solidFill>
                  <a:srgbClr val="C9DCE3"/>
                </a:solidFill>
                <a:latin typeface="Calibri" pitchFamily="34" charset="0"/>
                <a:ea typeface="Calibri" pitchFamily="34" charset="-122"/>
                <a:cs typeface="Calibri" pitchFamily="34" charset="-120"/>
              </a:rPr>
              <a:t>PR-AUC vs 0.113 base rate</a:t>
            </a:r>
            <a:endParaRPr lang="en-US" sz="1100" dirty="0"/>
          </a:p>
        </p:txBody>
      </p:sp>
      <p:sp>
        <p:nvSpPr>
          <p:cNvPr id="13" name="Text 11"/>
          <p:cNvSpPr/>
          <p:nvPr/>
        </p:nvSpPr>
        <p:spPr>
          <a:xfrm>
            <a:off x="566928" y="6089904"/>
            <a:ext cx="10058400" cy="274320"/>
          </a:xfrm>
          <a:prstGeom prst="rect">
            <a:avLst/>
          </a:prstGeom>
          <a:noFill/>
          <a:ln/>
        </p:spPr>
        <p:txBody>
          <a:bodyPr wrap="square" lIns="0" tIns="0" rIns="0" bIns="0" rtlCol="0" anchor="ctr"/>
          <a:lstStyle/>
          <a:p>
            <a:pPr indent="0" marL="0">
              <a:buNone/>
            </a:pPr>
            <a:r>
              <a:rPr lang="en-US" sz="1050" i="1" dirty="0">
                <a:solidFill>
                  <a:srgbClr val="7E9AA5"/>
                </a:solidFill>
                <a:latin typeface="Calibri" pitchFamily="34" charset="0"/>
                <a:ea typeface="Calibri" pitchFamily="34" charset="-122"/>
                <a:cs typeface="Calibri" pitchFamily="34" charset="-120"/>
              </a:rPr>
              <a:t>Held-out test set · 19,773 encounters · 13,998 patients unseen in training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THE QUESTION</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A capacity problem, not a prediction problem</a:t>
            </a:r>
            <a:endParaRPr lang="en-US" sz="3200" dirty="0"/>
          </a:p>
        </p:txBody>
      </p:sp>
      <p:sp>
        <p:nvSpPr>
          <p:cNvPr id="4" name="Shape 2"/>
          <p:cNvSpPr/>
          <p:nvPr/>
        </p:nvSpPr>
        <p:spPr>
          <a:xfrm>
            <a:off x="566928" y="1572768"/>
            <a:ext cx="5138928" cy="4041648"/>
          </a:xfrm>
          <a:prstGeom prst="roundRect">
            <a:avLst>
              <a:gd name="adj" fmla="val 1810"/>
            </a:avLst>
          </a:prstGeom>
          <a:solidFill>
            <a:srgbClr val="EEF4F6"/>
          </a:solidFill>
          <a:ln w="12700">
            <a:solidFill>
              <a:srgbClr val="EEF4F6"/>
            </a:solidFill>
            <a:prstDash val="solid"/>
          </a:ln>
        </p:spPr>
      </p:sp>
      <p:sp>
        <p:nvSpPr>
          <p:cNvPr id="5" name="Text 3"/>
          <p:cNvSpPr/>
          <p:nvPr/>
        </p:nvSpPr>
        <p:spPr>
          <a:xfrm>
            <a:off x="877824" y="1810512"/>
            <a:ext cx="4517136" cy="310896"/>
          </a:xfrm>
          <a:prstGeom prst="rect">
            <a:avLst/>
          </a:prstGeom>
          <a:noFill/>
          <a:ln/>
        </p:spPr>
        <p:txBody>
          <a:bodyPr wrap="square" lIns="0" tIns="0" rIns="0" bIns="0" rtlCol="0" anchor="ctr"/>
          <a:lstStyle/>
          <a:p>
            <a:pPr indent="0" marL="0">
              <a:buNone/>
            </a:pPr>
            <a:r>
              <a:rPr lang="en-US" sz="1600" b="1" dirty="0">
                <a:solidFill>
                  <a:srgbClr val="0B2E3B"/>
                </a:solidFill>
                <a:latin typeface="Cambria" pitchFamily="34" charset="0"/>
                <a:ea typeface="Cambria" pitchFamily="34" charset="-122"/>
                <a:cs typeface="Cambria" pitchFamily="34" charset="-120"/>
              </a:rPr>
              <a:t>What a hospital actually faces</a:t>
            </a:r>
            <a:endParaRPr lang="en-US" sz="1600" dirty="0"/>
          </a:p>
        </p:txBody>
      </p:sp>
      <p:sp>
        <p:nvSpPr>
          <p:cNvPr id="6" name="Text 4"/>
          <p:cNvSpPr/>
          <p:nvPr/>
        </p:nvSpPr>
        <p:spPr>
          <a:xfrm>
            <a:off x="877824" y="2231136"/>
            <a:ext cx="4517136" cy="3108960"/>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F3D49"/>
                </a:solidFill>
                <a:latin typeface="Calibri" pitchFamily="34" charset="0"/>
                <a:ea typeface="Calibri" pitchFamily="34" charset="-122"/>
                <a:cs typeface="Calibri" pitchFamily="34" charset="-120"/>
              </a:rPr>
              <a:t>About 1 in 9 diabetic discharges returns within 30 days.</a:t>
            </a:r>
            <a:endParaRPr lang="en-US" sz="1400" dirty="0"/>
          </a:p>
          <a:p>
            <a:pPr marL="342900" indent="-342900">
              <a:lnSpc>
                <a:spcPts val="2000"/>
              </a:lnSpc>
              <a:spcAft>
                <a:spcPts val="1000"/>
              </a:spcAft>
              <a:buSzPct val="100000"/>
              <a:buChar char="•"/>
            </a:pPr>
            <a:r>
              <a:rPr lang="en-US" sz="1400" dirty="0">
                <a:solidFill>
                  <a:srgbClr val="1F3D49"/>
                </a:solidFill>
                <a:latin typeface="Calibri" pitchFamily="34" charset="0"/>
                <a:ea typeface="Calibri" pitchFamily="34" charset="-122"/>
                <a:cs typeface="Calibri" pitchFamily="34" charset="-120"/>
              </a:rPr>
              <a:t>Many are preventable — a phone call, a medication check, an earlier appointment.</a:t>
            </a:r>
            <a:endParaRPr lang="en-US" sz="1400" dirty="0"/>
          </a:p>
          <a:p>
            <a:pPr marL="342900" indent="-342900">
              <a:lnSpc>
                <a:spcPts val="2000"/>
              </a:lnSpc>
              <a:spcAft>
                <a:spcPts val="1000"/>
              </a:spcAft>
              <a:buSzPct val="100000"/>
              <a:buChar char="•"/>
            </a:pPr>
            <a:r>
              <a:rPr lang="en-US" sz="1400" dirty="0">
                <a:solidFill>
                  <a:srgbClr val="1F3D49"/>
                </a:solidFill>
                <a:latin typeface="Calibri" pitchFamily="34" charset="0"/>
                <a:ea typeface="Calibri" pitchFamily="34" charset="-122"/>
                <a:cs typeface="Calibri" pitchFamily="34" charset="-120"/>
              </a:rPr>
              <a:t>A discharge-planning team can reach only a fraction of patients per day.</a:t>
            </a:r>
            <a:endParaRPr lang="en-US" sz="1400" dirty="0"/>
          </a:p>
          <a:p>
            <a:pPr marL="342900" indent="-342900">
              <a:lnSpc>
                <a:spcPts val="2000"/>
              </a:lnSpc>
              <a:spcAft>
                <a:spcPts val="1000"/>
              </a:spcAft>
              <a:buSzPct val="100000"/>
              <a:buChar char="•"/>
            </a:pPr>
            <a:r>
              <a:rPr lang="en-US" sz="1400" dirty="0">
                <a:solidFill>
                  <a:srgbClr val="1F3D49"/>
                </a:solidFill>
                <a:latin typeface="Calibri" pitchFamily="34" charset="0"/>
                <a:ea typeface="Calibri" pitchFamily="34" charset="-122"/>
                <a:cs typeface="Calibri" pitchFamily="34" charset="-120"/>
              </a:rPr>
              <a:t>So the useful question is which patients get that scarce attention.</a:t>
            </a:r>
            <a:endParaRPr lang="en-US" sz="1400" dirty="0"/>
          </a:p>
        </p:txBody>
      </p:sp>
      <p:sp>
        <p:nvSpPr>
          <p:cNvPr id="7" name="Text 5"/>
          <p:cNvSpPr/>
          <p:nvPr/>
        </p:nvSpPr>
        <p:spPr>
          <a:xfrm>
            <a:off x="6053328" y="1700784"/>
            <a:ext cx="5577840" cy="274320"/>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Reframed</a:t>
            </a:r>
            <a:endParaRPr lang="en-US" sz="1100" dirty="0"/>
          </a:p>
        </p:txBody>
      </p:sp>
      <p:sp>
        <p:nvSpPr>
          <p:cNvPr id="8" name="Text 6"/>
          <p:cNvSpPr/>
          <p:nvPr/>
        </p:nvSpPr>
        <p:spPr>
          <a:xfrm>
            <a:off x="6053328" y="2048256"/>
            <a:ext cx="5577840" cy="1572768"/>
          </a:xfrm>
          <a:prstGeom prst="rect">
            <a:avLst/>
          </a:prstGeom>
          <a:noFill/>
          <a:ln/>
        </p:spPr>
        <p:txBody>
          <a:bodyPr wrap="square" lIns="0" tIns="0" rIns="0" bIns="0" rtlCol="0" anchor="ctr"/>
          <a:lstStyle/>
          <a:p>
            <a:pPr indent="0" marL="0">
              <a:lnSpc>
                <a:spcPts val="3400"/>
              </a:lnSpc>
              <a:buNone/>
            </a:pPr>
            <a:r>
              <a:rPr lang="en-US" sz="2700" b="1" dirty="0">
                <a:solidFill>
                  <a:srgbClr val="12556B"/>
                </a:solidFill>
                <a:latin typeface="Cambria" pitchFamily="34" charset="0"/>
                <a:ea typeface="Cambria" pitchFamily="34" charset="-122"/>
                <a:cs typeface="Cambria" pitchFamily="34" charset="-120"/>
              </a:rPr>
              <a:t>“We can call 20% of</a:t>
            </a:r>
            <a:endParaRPr lang="en-US" sz="2700" dirty="0"/>
          </a:p>
          <a:p>
            <a:pPr indent="0" marL="0">
              <a:lnSpc>
                <a:spcPts val="3400"/>
              </a:lnSpc>
              <a:buNone/>
            </a:pPr>
            <a:r>
              <a:rPr lang="en-US" sz="2700" b="1" dirty="0">
                <a:solidFill>
                  <a:srgbClr val="12556B"/>
                </a:solidFill>
                <a:latin typeface="Cambria" pitchFamily="34" charset="0"/>
                <a:ea typeface="Cambria" pitchFamily="34" charset="-122"/>
                <a:cs typeface="Cambria" pitchFamily="34" charset="-120"/>
              </a:rPr>
              <a:t>today's discharges.</a:t>
            </a:r>
            <a:endParaRPr lang="en-US" sz="2700" dirty="0"/>
          </a:p>
          <a:p>
            <a:pPr indent="0" marL="0">
              <a:lnSpc>
                <a:spcPts val="3400"/>
              </a:lnSpc>
              <a:buNone/>
            </a:pPr>
            <a:r>
              <a:rPr lang="en-US" sz="2700" b="1" dirty="0">
                <a:solidFill>
                  <a:srgbClr val="12556B"/>
                </a:solidFill>
                <a:latin typeface="Cambria" pitchFamily="34" charset="0"/>
                <a:ea typeface="Cambria" pitchFamily="34" charset="-122"/>
                <a:cs typeface="Cambria" pitchFamily="34" charset="-120"/>
              </a:rPr>
              <a:t>Which 20%?”</a:t>
            </a:r>
            <a:endParaRPr lang="en-US" sz="2700" dirty="0"/>
          </a:p>
        </p:txBody>
      </p:sp>
      <p:sp>
        <p:nvSpPr>
          <p:cNvPr id="9" name="Text 7"/>
          <p:cNvSpPr/>
          <p:nvPr/>
        </p:nvSpPr>
        <p:spPr>
          <a:xfrm>
            <a:off x="6053328" y="3712464"/>
            <a:ext cx="5577840" cy="1005840"/>
          </a:xfrm>
          <a:prstGeom prst="rect">
            <a:avLst/>
          </a:prstGeom>
          <a:noFill/>
          <a:ln/>
        </p:spPr>
        <p:txBody>
          <a:bodyPr wrap="square" lIns="0" tIns="0" rIns="0" bIns="0" rtlCol="0" anchor="ctr"/>
          <a:lstStyle/>
          <a:p>
            <a:pPr indent="0" marL="0">
              <a:lnSpc>
                <a:spcPts val="1900"/>
              </a:lnSpc>
              <a:buNone/>
            </a:pPr>
            <a:r>
              <a:rPr lang="en-US" sz="1350" dirty="0">
                <a:solidFill>
                  <a:srgbClr val="1F3D49"/>
                </a:solidFill>
                <a:latin typeface="Calibri" pitchFamily="34" charset="0"/>
                <a:ea typeface="Calibri" pitchFamily="34" charset="-122"/>
                <a:cs typeface="Calibri" pitchFamily="34" charset="-120"/>
              </a:rPr>
              <a:t>That reframing changes what counts as success. The team works down a ranked list, so ranking quality matters more than absolute probability — and the decision threshold comes from budget, not from an arbitrary 0.5 cutoff.</a:t>
            </a:r>
            <a:endParaRPr lang="en-US" sz="1350" dirty="0"/>
          </a:p>
        </p:txBody>
      </p:sp>
      <p:sp>
        <p:nvSpPr>
          <p:cNvPr id="10" name="Shape 8"/>
          <p:cNvSpPr/>
          <p:nvPr/>
        </p:nvSpPr>
        <p:spPr>
          <a:xfrm>
            <a:off x="6053328" y="4791456"/>
            <a:ext cx="5577840" cy="822960"/>
          </a:xfrm>
          <a:prstGeom prst="roundRect">
            <a:avLst>
              <a:gd name="adj" fmla="val 8889"/>
            </a:avLst>
          </a:prstGeom>
          <a:solidFill>
            <a:srgbClr val="FBE4E0"/>
          </a:solidFill>
          <a:ln w="12700">
            <a:solidFill>
              <a:srgbClr val="FBE4E0"/>
            </a:solidFill>
            <a:prstDash val="solid"/>
          </a:ln>
        </p:spPr>
      </p:sp>
      <p:sp>
        <p:nvSpPr>
          <p:cNvPr id="11" name="Text 9"/>
          <p:cNvSpPr/>
          <p:nvPr/>
        </p:nvSpPr>
        <p:spPr>
          <a:xfrm>
            <a:off x="6309360" y="4791456"/>
            <a:ext cx="5065776" cy="822960"/>
          </a:xfrm>
          <a:prstGeom prst="rect">
            <a:avLst/>
          </a:prstGeom>
          <a:noFill/>
          <a:ln/>
        </p:spPr>
        <p:txBody>
          <a:bodyPr wrap="square" lIns="0" tIns="0" rIns="0" bIns="0" rtlCol="0" anchor="ctr"/>
          <a:lstStyle/>
          <a:p>
            <a:pPr indent="0" marL="0">
              <a:buNone/>
            </a:pPr>
            <a:r>
              <a:rPr lang="en-US" sz="1250" b="1" dirty="0">
                <a:solidFill>
                  <a:srgbClr val="9E3423"/>
                </a:solidFill>
                <a:latin typeface="Calibri" pitchFamily="34" charset="0"/>
                <a:ea typeface="Calibri" pitchFamily="34" charset="-122"/>
                <a:cs typeface="Calibri" pitchFamily="34" charset="-120"/>
              </a:rPr>
              <a:t>Consequence: the model is optimised for PR-AUC and recall-at-capacity — never accuracy.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THE DATA</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Diabetes 130-US Hospitals, 1999–2008</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UCI ML Repository dataset 296 · 10 years of care across 130 hospitals · downloaded reproducibly via make data</a:t>
            </a:r>
            <a:endParaRPr lang="en-US" sz="1250" dirty="0"/>
          </a:p>
        </p:txBody>
      </p:sp>
      <p:sp>
        <p:nvSpPr>
          <p:cNvPr id="5" name="Shape 3"/>
          <p:cNvSpPr/>
          <p:nvPr/>
        </p:nvSpPr>
        <p:spPr>
          <a:xfrm>
            <a:off x="566928" y="1737360"/>
            <a:ext cx="2596896" cy="1298448"/>
          </a:xfrm>
          <a:prstGeom prst="roundRect">
            <a:avLst>
              <a:gd name="adj" fmla="val 5634"/>
            </a:avLst>
          </a:prstGeom>
          <a:solidFill>
            <a:srgbClr val="EEF4F6"/>
          </a:solidFill>
          <a:ln w="12700">
            <a:solidFill>
              <a:srgbClr val="EEF4F6"/>
            </a:solidFill>
            <a:prstDash val="solid"/>
          </a:ln>
        </p:spPr>
      </p:sp>
      <p:sp>
        <p:nvSpPr>
          <p:cNvPr id="6" name="Text 4"/>
          <p:cNvSpPr/>
          <p:nvPr/>
        </p:nvSpPr>
        <p:spPr>
          <a:xfrm>
            <a:off x="804672" y="1810512"/>
            <a:ext cx="2194560" cy="676656"/>
          </a:xfrm>
          <a:prstGeom prst="rect">
            <a:avLst/>
          </a:prstGeom>
          <a:noFill/>
          <a:ln/>
        </p:spPr>
        <p:txBody>
          <a:bodyPr wrap="square" lIns="0" tIns="0" rIns="0" bIns="0" rtlCol="0" anchor="ctr"/>
          <a:lstStyle/>
          <a:p>
            <a:pPr indent="0" marL="0">
              <a:buNone/>
            </a:pPr>
            <a:r>
              <a:rPr lang="en-US" sz="2600" b="1" dirty="0">
                <a:solidFill>
                  <a:srgbClr val="0B2E3B"/>
                </a:solidFill>
                <a:latin typeface="Cambria" pitchFamily="34" charset="0"/>
                <a:ea typeface="Cambria" pitchFamily="34" charset="-122"/>
                <a:cs typeface="Cambria" pitchFamily="34" charset="-120"/>
              </a:rPr>
              <a:t>101,766</a:t>
            </a:r>
            <a:endParaRPr lang="en-US" sz="2600" dirty="0"/>
          </a:p>
        </p:txBody>
      </p:sp>
      <p:sp>
        <p:nvSpPr>
          <p:cNvPr id="7" name="Text 5"/>
          <p:cNvSpPr/>
          <p:nvPr/>
        </p:nvSpPr>
        <p:spPr>
          <a:xfrm>
            <a:off x="804672" y="2487168"/>
            <a:ext cx="2194560" cy="475488"/>
          </a:xfrm>
          <a:prstGeom prst="rect">
            <a:avLst/>
          </a:prstGeom>
          <a:noFill/>
          <a:ln/>
        </p:spPr>
        <p:txBody>
          <a:bodyPr wrap="square" lIns="0" tIns="0" rIns="0" bIns="0" rtlCol="0" anchor="t"/>
          <a:lstStyle/>
          <a:p>
            <a:pPr indent="0" marL="0">
              <a:buNone/>
            </a:pPr>
            <a:r>
              <a:rPr lang="en-US" sz="1150" dirty="0">
                <a:solidFill>
                  <a:srgbClr val="5A7683"/>
                </a:solidFill>
                <a:latin typeface="Calibri" pitchFamily="34" charset="0"/>
                <a:ea typeface="Calibri" pitchFamily="34" charset="-122"/>
                <a:cs typeface="Calibri" pitchFamily="34" charset="-120"/>
              </a:rPr>
              <a:t>raw encounters</a:t>
            </a:r>
            <a:endParaRPr lang="en-US" sz="1150" dirty="0"/>
          </a:p>
        </p:txBody>
      </p:sp>
      <p:sp>
        <p:nvSpPr>
          <p:cNvPr id="8" name="Shape 6"/>
          <p:cNvSpPr/>
          <p:nvPr/>
        </p:nvSpPr>
        <p:spPr>
          <a:xfrm>
            <a:off x="3364992" y="1737360"/>
            <a:ext cx="2596896" cy="1298448"/>
          </a:xfrm>
          <a:prstGeom prst="roundRect">
            <a:avLst>
              <a:gd name="adj" fmla="val 5634"/>
            </a:avLst>
          </a:prstGeom>
          <a:solidFill>
            <a:srgbClr val="EEF4F6"/>
          </a:solidFill>
          <a:ln w="12700">
            <a:solidFill>
              <a:srgbClr val="EEF4F6"/>
            </a:solidFill>
            <a:prstDash val="solid"/>
          </a:ln>
        </p:spPr>
      </p:sp>
      <p:sp>
        <p:nvSpPr>
          <p:cNvPr id="9" name="Text 7"/>
          <p:cNvSpPr/>
          <p:nvPr/>
        </p:nvSpPr>
        <p:spPr>
          <a:xfrm>
            <a:off x="3602736" y="1810512"/>
            <a:ext cx="2194560" cy="676656"/>
          </a:xfrm>
          <a:prstGeom prst="rect">
            <a:avLst/>
          </a:prstGeom>
          <a:noFill/>
          <a:ln/>
        </p:spPr>
        <p:txBody>
          <a:bodyPr wrap="square" lIns="0" tIns="0" rIns="0" bIns="0" rtlCol="0" anchor="ctr"/>
          <a:lstStyle/>
          <a:p>
            <a:pPr indent="0" marL="0">
              <a:buNone/>
            </a:pPr>
            <a:r>
              <a:rPr lang="en-US" sz="2600" b="1" dirty="0">
                <a:solidFill>
                  <a:srgbClr val="0B2E3B"/>
                </a:solidFill>
                <a:latin typeface="Cambria" pitchFamily="34" charset="0"/>
                <a:ea typeface="Cambria" pitchFamily="34" charset="-122"/>
                <a:cs typeface="Cambria" pitchFamily="34" charset="-120"/>
              </a:rPr>
              <a:t>71,518</a:t>
            </a:r>
            <a:endParaRPr lang="en-US" sz="2600" dirty="0"/>
          </a:p>
        </p:txBody>
      </p:sp>
      <p:sp>
        <p:nvSpPr>
          <p:cNvPr id="10" name="Text 8"/>
          <p:cNvSpPr/>
          <p:nvPr/>
        </p:nvSpPr>
        <p:spPr>
          <a:xfrm>
            <a:off x="3602736" y="2487168"/>
            <a:ext cx="2194560" cy="475488"/>
          </a:xfrm>
          <a:prstGeom prst="rect">
            <a:avLst/>
          </a:prstGeom>
          <a:noFill/>
          <a:ln/>
        </p:spPr>
        <p:txBody>
          <a:bodyPr wrap="square" lIns="0" tIns="0" rIns="0" bIns="0" rtlCol="0" anchor="t"/>
          <a:lstStyle/>
          <a:p>
            <a:pPr indent="0" marL="0">
              <a:buNone/>
            </a:pPr>
            <a:r>
              <a:rPr lang="en-US" sz="1150" dirty="0">
                <a:solidFill>
                  <a:srgbClr val="5A7683"/>
                </a:solidFill>
                <a:latin typeface="Calibri" pitchFamily="34" charset="0"/>
                <a:ea typeface="Calibri" pitchFamily="34" charset="-122"/>
                <a:cs typeface="Calibri" pitchFamily="34" charset="-120"/>
              </a:rPr>
              <a:t>distinct patients</a:t>
            </a:r>
            <a:endParaRPr lang="en-US" sz="1150" dirty="0"/>
          </a:p>
        </p:txBody>
      </p:sp>
      <p:sp>
        <p:nvSpPr>
          <p:cNvPr id="11" name="Shape 9"/>
          <p:cNvSpPr/>
          <p:nvPr/>
        </p:nvSpPr>
        <p:spPr>
          <a:xfrm>
            <a:off x="6163056" y="1737360"/>
            <a:ext cx="2596896" cy="1298448"/>
          </a:xfrm>
          <a:prstGeom prst="roundRect">
            <a:avLst>
              <a:gd name="adj" fmla="val 5634"/>
            </a:avLst>
          </a:prstGeom>
          <a:solidFill>
            <a:srgbClr val="EEF4F6"/>
          </a:solidFill>
          <a:ln w="12700">
            <a:solidFill>
              <a:srgbClr val="EEF4F6"/>
            </a:solidFill>
            <a:prstDash val="solid"/>
          </a:ln>
        </p:spPr>
      </p:sp>
      <p:sp>
        <p:nvSpPr>
          <p:cNvPr id="12" name="Text 10"/>
          <p:cNvSpPr/>
          <p:nvPr/>
        </p:nvSpPr>
        <p:spPr>
          <a:xfrm>
            <a:off x="6400800" y="1810512"/>
            <a:ext cx="2194560" cy="676656"/>
          </a:xfrm>
          <a:prstGeom prst="rect">
            <a:avLst/>
          </a:prstGeom>
          <a:noFill/>
          <a:ln/>
        </p:spPr>
        <p:txBody>
          <a:bodyPr wrap="square" lIns="0" tIns="0" rIns="0" bIns="0" rtlCol="0" anchor="ctr"/>
          <a:lstStyle/>
          <a:p>
            <a:pPr indent="0" marL="0">
              <a:buNone/>
            </a:pPr>
            <a:r>
              <a:rPr lang="en-US" sz="2600" b="1" dirty="0">
                <a:solidFill>
                  <a:srgbClr val="0B2E3B"/>
                </a:solidFill>
                <a:latin typeface="Cambria" pitchFamily="34" charset="0"/>
                <a:ea typeface="Cambria" pitchFamily="34" charset="-122"/>
                <a:cs typeface="Cambria" pitchFamily="34" charset="-120"/>
              </a:rPr>
              <a:t>50</a:t>
            </a:r>
            <a:endParaRPr lang="en-US" sz="2600" dirty="0"/>
          </a:p>
        </p:txBody>
      </p:sp>
      <p:sp>
        <p:nvSpPr>
          <p:cNvPr id="13" name="Text 11"/>
          <p:cNvSpPr/>
          <p:nvPr/>
        </p:nvSpPr>
        <p:spPr>
          <a:xfrm>
            <a:off x="6400800" y="2487168"/>
            <a:ext cx="2194560" cy="475488"/>
          </a:xfrm>
          <a:prstGeom prst="rect">
            <a:avLst/>
          </a:prstGeom>
          <a:noFill/>
          <a:ln/>
        </p:spPr>
        <p:txBody>
          <a:bodyPr wrap="square" lIns="0" tIns="0" rIns="0" bIns="0" rtlCol="0" anchor="t"/>
          <a:lstStyle/>
          <a:p>
            <a:pPr indent="0" marL="0">
              <a:buNone/>
            </a:pPr>
            <a:r>
              <a:rPr lang="en-US" sz="1150" dirty="0">
                <a:solidFill>
                  <a:srgbClr val="5A7683"/>
                </a:solidFill>
                <a:latin typeface="Calibri" pitchFamily="34" charset="0"/>
                <a:ea typeface="Calibri" pitchFamily="34" charset="-122"/>
                <a:cs typeface="Calibri" pitchFamily="34" charset="-120"/>
              </a:rPr>
              <a:t>raw columns</a:t>
            </a:r>
            <a:endParaRPr lang="en-US" sz="1150" dirty="0"/>
          </a:p>
        </p:txBody>
      </p:sp>
      <p:sp>
        <p:nvSpPr>
          <p:cNvPr id="14" name="Shape 12"/>
          <p:cNvSpPr/>
          <p:nvPr/>
        </p:nvSpPr>
        <p:spPr>
          <a:xfrm>
            <a:off x="8961120" y="1737360"/>
            <a:ext cx="2596896" cy="1298448"/>
          </a:xfrm>
          <a:prstGeom prst="roundRect">
            <a:avLst>
              <a:gd name="adj" fmla="val 5634"/>
            </a:avLst>
          </a:prstGeom>
          <a:solidFill>
            <a:srgbClr val="EEF4F6"/>
          </a:solidFill>
          <a:ln w="12700">
            <a:solidFill>
              <a:srgbClr val="EEF4F6"/>
            </a:solidFill>
            <a:prstDash val="solid"/>
          </a:ln>
        </p:spPr>
      </p:sp>
      <p:sp>
        <p:nvSpPr>
          <p:cNvPr id="15" name="Text 13"/>
          <p:cNvSpPr/>
          <p:nvPr/>
        </p:nvSpPr>
        <p:spPr>
          <a:xfrm>
            <a:off x="9198864" y="1810512"/>
            <a:ext cx="2194560" cy="676656"/>
          </a:xfrm>
          <a:prstGeom prst="rect">
            <a:avLst/>
          </a:prstGeom>
          <a:noFill/>
          <a:ln/>
        </p:spPr>
        <p:txBody>
          <a:bodyPr wrap="square" lIns="0" tIns="0" rIns="0" bIns="0" rtlCol="0" anchor="ctr"/>
          <a:lstStyle/>
          <a:p>
            <a:pPr indent="0" marL="0">
              <a:buNone/>
            </a:pPr>
            <a:r>
              <a:rPr lang="en-US" sz="2600" b="1" dirty="0">
                <a:solidFill>
                  <a:srgbClr val="F2634A"/>
                </a:solidFill>
                <a:latin typeface="Cambria" pitchFamily="34" charset="0"/>
                <a:ea typeface="Cambria" pitchFamily="34" charset="-122"/>
                <a:cs typeface="Cambria" pitchFamily="34" charset="-120"/>
              </a:rPr>
              <a:t>11.4%</a:t>
            </a:r>
            <a:endParaRPr lang="en-US" sz="2600" dirty="0"/>
          </a:p>
        </p:txBody>
      </p:sp>
      <p:sp>
        <p:nvSpPr>
          <p:cNvPr id="16" name="Text 14"/>
          <p:cNvSpPr/>
          <p:nvPr/>
        </p:nvSpPr>
        <p:spPr>
          <a:xfrm>
            <a:off x="9198864" y="2487168"/>
            <a:ext cx="2194560" cy="475488"/>
          </a:xfrm>
          <a:prstGeom prst="rect">
            <a:avLst/>
          </a:prstGeom>
          <a:noFill/>
          <a:ln/>
        </p:spPr>
        <p:txBody>
          <a:bodyPr wrap="square" lIns="0" tIns="0" rIns="0" bIns="0" rtlCol="0" anchor="t"/>
          <a:lstStyle/>
          <a:p>
            <a:pPr indent="0" marL="0">
              <a:buNone/>
            </a:pPr>
            <a:r>
              <a:rPr lang="en-US" sz="1150" dirty="0">
                <a:solidFill>
                  <a:srgbClr val="5A7683"/>
                </a:solidFill>
                <a:latin typeface="Calibri" pitchFamily="34" charset="0"/>
                <a:ea typeface="Calibri" pitchFamily="34" charset="-122"/>
                <a:cs typeface="Calibri" pitchFamily="34" charset="-120"/>
              </a:rPr>
              <a:t>readmitted &lt;30 days</a:t>
            </a:r>
            <a:endParaRPr lang="en-US" sz="1150" dirty="0"/>
          </a:p>
        </p:txBody>
      </p:sp>
      <p:sp>
        <p:nvSpPr>
          <p:cNvPr id="17" name="Text 15"/>
          <p:cNvSpPr/>
          <p:nvPr/>
        </p:nvSpPr>
        <p:spPr>
          <a:xfrm>
            <a:off x="566928" y="3310128"/>
            <a:ext cx="5212080" cy="292608"/>
          </a:xfrm>
          <a:prstGeom prst="rect">
            <a:avLst/>
          </a:prstGeom>
          <a:noFill/>
          <a:ln/>
        </p:spPr>
        <p:txBody>
          <a:bodyPr wrap="square" lIns="0" tIns="0" rIns="0" bIns="0" rtlCol="0" anchor="ctr"/>
          <a:lstStyle/>
          <a:p>
            <a:pPr indent="0" marL="0">
              <a:buNone/>
            </a:pPr>
            <a:r>
              <a:rPr lang="en-US" sz="1600" b="1" dirty="0">
                <a:solidFill>
                  <a:srgbClr val="0B2E3B"/>
                </a:solidFill>
                <a:latin typeface="Cambria" pitchFamily="34" charset="0"/>
                <a:ea typeface="Cambria" pitchFamily="34" charset="-122"/>
                <a:cs typeface="Cambria" pitchFamily="34" charset="-120"/>
              </a:rPr>
              <a:t>Target definition</a:t>
            </a:r>
            <a:endParaRPr lang="en-US" sz="1600" dirty="0"/>
          </a:p>
        </p:txBody>
      </p:sp>
      <p:sp>
        <p:nvSpPr>
          <p:cNvPr id="18" name="Text 16"/>
          <p:cNvSpPr/>
          <p:nvPr/>
        </p:nvSpPr>
        <p:spPr>
          <a:xfrm>
            <a:off x="566928" y="3694176"/>
            <a:ext cx="5212080" cy="1517904"/>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readmitted has three values: &lt;30, &gt;30, NO</a:t>
            </a:r>
            <a:endParaRPr lang="en-US" sz="1300" dirty="0"/>
          </a:p>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Binarised to &lt;30 vs everything else — the window used by readmission-penalty programmes</a:t>
            </a:r>
            <a:endParaRPr lang="en-US" sz="1300" dirty="0"/>
          </a:p>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A return 14 months later is not a discharge-planning failure, so &gt;30 is a negative</a:t>
            </a:r>
            <a:endParaRPr lang="en-US" sz="1300" dirty="0"/>
          </a:p>
        </p:txBody>
      </p:sp>
      <p:sp>
        <p:nvSpPr>
          <p:cNvPr id="19" name="Text 17"/>
          <p:cNvSpPr/>
          <p:nvPr/>
        </p:nvSpPr>
        <p:spPr>
          <a:xfrm>
            <a:off x="6053328" y="3310128"/>
            <a:ext cx="5577840" cy="292608"/>
          </a:xfrm>
          <a:prstGeom prst="rect">
            <a:avLst/>
          </a:prstGeom>
          <a:noFill/>
          <a:ln/>
        </p:spPr>
        <p:txBody>
          <a:bodyPr wrap="square" lIns="0" tIns="0" rIns="0" bIns="0" rtlCol="0" anchor="ctr"/>
          <a:lstStyle/>
          <a:p>
            <a:pPr indent="0" marL="0">
              <a:buNone/>
            </a:pPr>
            <a:r>
              <a:rPr lang="en-US" sz="1600" b="1" dirty="0">
                <a:solidFill>
                  <a:srgbClr val="0B2E3B"/>
                </a:solidFill>
                <a:latin typeface="Cambria" pitchFamily="34" charset="0"/>
                <a:ea typeface="Cambria" pitchFamily="34" charset="-122"/>
                <a:cs typeface="Cambria" pitchFamily="34" charset="-120"/>
              </a:rPr>
              <a:t>Cleaning that changes the label</a:t>
            </a:r>
            <a:endParaRPr lang="en-US" sz="1600" dirty="0"/>
          </a:p>
        </p:txBody>
      </p:sp>
      <p:sp>
        <p:nvSpPr>
          <p:cNvPr id="20" name="Text 18"/>
          <p:cNvSpPr/>
          <p:nvPr/>
        </p:nvSpPr>
        <p:spPr>
          <a:xfrm>
            <a:off x="6053328" y="3694176"/>
            <a:ext cx="5577840" cy="173736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2,423 death / hospice discharges removed — those patients cannot be readmitted, and labelling them 'not readmitted' teaches the model that dying is a good outcome</a:t>
            </a:r>
            <a:endParaRPr lang="en-US" sz="1300" dirty="0"/>
          </a:p>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weight dropped (97% missing); examide and citoglipton are constant</a:t>
            </a:r>
            <a:endParaRPr lang="en-US" sz="1300" dirty="0"/>
          </a:p>
          <a:p>
            <a:pPr marL="342900" indent="-342900">
              <a:lnSpc>
                <a:spcPts val="1800"/>
              </a:lnSpc>
              <a:spcAft>
                <a:spcPts val="800"/>
              </a:spcAft>
              <a:buSzPct val="100000"/>
              <a:buChar char="•"/>
            </a:pPr>
            <a:r>
              <a:rPr lang="en-US" sz="1300" dirty="0">
                <a:solidFill>
                  <a:srgbClr val="1F3D49"/>
                </a:solidFill>
                <a:latin typeface="Calibri" pitchFamily="34" charset="0"/>
                <a:ea typeface="Calibri" pitchFamily="34" charset="-122"/>
                <a:cs typeface="Calibri" pitchFamily="34" charset="-120"/>
              </a:rPr>
              <a:t>'?' kept as an explicit Unknown category — missingness here is administrative, and it carries signal</a:t>
            </a:r>
            <a:endParaRPr lang="en-US" sz="1300" dirty="0"/>
          </a:p>
        </p:txBody>
      </p:sp>
      <p:sp>
        <p:nvSpPr>
          <p:cNvPr id="21" name="Text 19"/>
          <p:cNvSpPr/>
          <p:nvPr/>
        </p:nvSpPr>
        <p:spPr>
          <a:xfrm>
            <a:off x="566928" y="6163056"/>
            <a:ext cx="11057839" cy="237744"/>
          </a:xfrm>
          <a:prstGeom prst="rect">
            <a:avLst/>
          </a:prstGeom>
          <a:noFill/>
          <a:ln/>
        </p:spPr>
        <p:txBody>
          <a:bodyPr wrap="square" lIns="0" tIns="0" rIns="0" bIns="0" rtlCol="0" anchor="ctr"/>
          <a:lstStyle/>
          <a:p>
            <a:pPr indent="0" marL="0">
              <a:buNone/>
            </a:pPr>
            <a:r>
              <a:rPr lang="en-US" sz="950" i="1" dirty="0">
                <a:solidFill>
                  <a:srgbClr val="9AB0B9"/>
                </a:solidFill>
                <a:latin typeface="Calibri" pitchFamily="34" charset="0"/>
                <a:ea typeface="Calibri" pitchFamily="34" charset="-122"/>
                <a:cs typeface="Calibri" pitchFamily="34" charset="-120"/>
              </a:rPr>
              <a:t>99,340 encounters and 39 engineered features survive to modelling.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THE TRAP</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99,340 encounters belong to only 69,987 patients</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300" dirty="0">
                <a:solidFill>
                  <a:srgbClr val="5A7683"/>
                </a:solidFill>
                <a:latin typeface="Calibri" pitchFamily="34" charset="0"/>
                <a:ea typeface="Calibri" pitchFamily="34" charset="-122"/>
                <a:cs typeface="Calibri" pitchFamily="34" charset="-120"/>
              </a:rPr>
              <a:t>The single decision that separates an honest result from a meaningless one.</a:t>
            </a:r>
            <a:endParaRPr lang="en-US" sz="1300" dirty="0"/>
          </a:p>
        </p:txBody>
      </p:sp>
      <p:sp>
        <p:nvSpPr>
          <p:cNvPr id="5" name="Shape 3"/>
          <p:cNvSpPr/>
          <p:nvPr/>
        </p:nvSpPr>
        <p:spPr>
          <a:xfrm>
            <a:off x="566928" y="1773936"/>
            <a:ext cx="5358384" cy="3054096"/>
          </a:xfrm>
          <a:prstGeom prst="roundRect">
            <a:avLst>
              <a:gd name="adj" fmla="val 2395"/>
            </a:avLst>
          </a:prstGeom>
          <a:solidFill>
            <a:srgbClr val="FBE4E0"/>
          </a:solidFill>
          <a:ln w="12700">
            <a:solidFill>
              <a:srgbClr val="FBE4E0"/>
            </a:solidFill>
            <a:prstDash val="solid"/>
          </a:ln>
        </p:spPr>
      </p:sp>
      <p:sp>
        <p:nvSpPr>
          <p:cNvPr id="6" name="Text 4"/>
          <p:cNvSpPr/>
          <p:nvPr/>
        </p:nvSpPr>
        <p:spPr>
          <a:xfrm>
            <a:off x="877824" y="1993392"/>
            <a:ext cx="4736592" cy="365760"/>
          </a:xfrm>
          <a:prstGeom prst="rect">
            <a:avLst/>
          </a:prstGeom>
          <a:noFill/>
          <a:ln/>
        </p:spPr>
        <p:txBody>
          <a:bodyPr wrap="square" lIns="0" tIns="0" rIns="0" bIns="0" rtlCol="0" anchor="ctr"/>
          <a:lstStyle/>
          <a:p>
            <a:pPr indent="0" marL="0">
              <a:buNone/>
            </a:pPr>
            <a:r>
              <a:rPr lang="en-US" sz="1800" b="1" dirty="0">
                <a:solidFill>
                  <a:srgbClr val="9E3423"/>
                </a:solidFill>
                <a:latin typeface="Cambria" pitchFamily="34" charset="0"/>
                <a:ea typeface="Cambria" pitchFamily="34" charset="-122"/>
                <a:cs typeface="Cambria" pitchFamily="34" charset="-120"/>
              </a:rPr>
              <a:t>✕   Split by row</a:t>
            </a:r>
            <a:endParaRPr lang="en-US" sz="1800" dirty="0"/>
          </a:p>
        </p:txBody>
      </p:sp>
      <p:sp>
        <p:nvSpPr>
          <p:cNvPr id="7" name="Text 5"/>
          <p:cNvSpPr/>
          <p:nvPr/>
        </p:nvSpPr>
        <p:spPr>
          <a:xfrm>
            <a:off x="877824" y="2432304"/>
            <a:ext cx="4736592"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50" dirty="0">
                <a:solidFill>
                  <a:srgbClr val="7A2A1C"/>
                </a:solidFill>
                <a:latin typeface="Calibri" pitchFamily="34" charset="0"/>
                <a:ea typeface="Calibri" pitchFamily="34" charset="-122"/>
                <a:cs typeface="Calibri" pitchFamily="34" charset="-120"/>
              </a:rPr>
              <a:t>The same patient lands in train and test</a:t>
            </a:r>
            <a:endParaRPr lang="en-US" sz="1350" dirty="0"/>
          </a:p>
          <a:p>
            <a:pPr marL="342900" indent="-342900">
              <a:lnSpc>
                <a:spcPts val="1900"/>
              </a:lnSpc>
              <a:spcAft>
                <a:spcPts val="800"/>
              </a:spcAft>
              <a:buSzPct val="100000"/>
              <a:buChar char="•"/>
            </a:pPr>
            <a:r>
              <a:rPr lang="en-US" sz="1350" dirty="0">
                <a:solidFill>
                  <a:srgbClr val="7A2A1C"/>
                </a:solidFill>
                <a:latin typeface="Calibri" pitchFamily="34" charset="0"/>
                <a:ea typeface="Calibri" pitchFamily="34" charset="-122"/>
                <a:cs typeface="Calibri" pitchFamily="34" charset="-120"/>
              </a:rPr>
              <a:t>The model memorises individuals instead of learning transferable risk</a:t>
            </a:r>
            <a:endParaRPr lang="en-US" sz="1350" dirty="0"/>
          </a:p>
          <a:p>
            <a:pPr marL="342900" indent="-342900">
              <a:lnSpc>
                <a:spcPts val="1900"/>
              </a:lnSpc>
              <a:spcAft>
                <a:spcPts val="800"/>
              </a:spcAft>
              <a:buSzPct val="100000"/>
              <a:buChar char="•"/>
            </a:pPr>
            <a:r>
              <a:rPr lang="en-US" sz="1350" dirty="0">
                <a:solidFill>
                  <a:srgbClr val="7A2A1C"/>
                </a:solidFill>
                <a:latin typeface="Calibri" pitchFamily="34" charset="0"/>
                <a:ea typeface="Calibri" pitchFamily="34" charset="-122"/>
                <a:cs typeface="Calibri" pitchFamily="34" charset="-120"/>
              </a:rPr>
              <a:t>Every metric comes out inflated</a:t>
            </a:r>
            <a:endParaRPr lang="en-US" sz="1350" dirty="0"/>
          </a:p>
          <a:p>
            <a:pPr marL="342900" indent="-342900">
              <a:lnSpc>
                <a:spcPts val="1900"/>
              </a:lnSpc>
              <a:spcAft>
                <a:spcPts val="800"/>
              </a:spcAft>
              <a:buSzPct val="100000"/>
              <a:buChar char="•"/>
            </a:pPr>
            <a:r>
              <a:rPr lang="en-US" sz="1350" dirty="0">
                <a:solidFill>
                  <a:srgbClr val="7A2A1C"/>
                </a:solidFill>
                <a:latin typeface="Calibri" pitchFamily="34" charset="0"/>
                <a:ea typeface="Calibri" pitchFamily="34" charset="-122"/>
                <a:cs typeface="Calibri" pitchFamily="34" charset="-120"/>
              </a:rPr>
              <a:t>One patient appears 40 times</a:t>
            </a:r>
            <a:endParaRPr lang="en-US" sz="1350" dirty="0"/>
          </a:p>
        </p:txBody>
      </p:sp>
      <p:sp>
        <p:nvSpPr>
          <p:cNvPr id="8" name="Shape 6"/>
          <p:cNvSpPr/>
          <p:nvPr/>
        </p:nvSpPr>
        <p:spPr>
          <a:xfrm>
            <a:off x="6263640" y="1773936"/>
            <a:ext cx="5358384" cy="3054096"/>
          </a:xfrm>
          <a:prstGeom prst="roundRect">
            <a:avLst>
              <a:gd name="adj" fmla="val 2395"/>
            </a:avLst>
          </a:prstGeom>
          <a:solidFill>
            <a:srgbClr val="E2F0E9"/>
          </a:solidFill>
          <a:ln w="12700">
            <a:solidFill>
              <a:srgbClr val="E2F0E9"/>
            </a:solidFill>
            <a:prstDash val="solid"/>
          </a:ln>
        </p:spPr>
      </p:sp>
      <p:sp>
        <p:nvSpPr>
          <p:cNvPr id="9" name="Text 7"/>
          <p:cNvSpPr/>
          <p:nvPr/>
        </p:nvSpPr>
        <p:spPr>
          <a:xfrm>
            <a:off x="6574536" y="1993392"/>
            <a:ext cx="4736592" cy="365760"/>
          </a:xfrm>
          <a:prstGeom prst="rect">
            <a:avLst/>
          </a:prstGeom>
          <a:noFill/>
          <a:ln/>
        </p:spPr>
        <p:txBody>
          <a:bodyPr wrap="square" lIns="0" tIns="0" rIns="0" bIns="0" rtlCol="0" anchor="ctr"/>
          <a:lstStyle/>
          <a:p>
            <a:pPr indent="0" marL="0">
              <a:buNone/>
            </a:pPr>
            <a:r>
              <a:rPr lang="en-US" sz="1800" b="1" dirty="0">
                <a:solidFill>
                  <a:srgbClr val="1F5F44"/>
                </a:solidFill>
                <a:latin typeface="Cambria" pitchFamily="34" charset="0"/>
                <a:ea typeface="Cambria" pitchFamily="34" charset="-122"/>
                <a:cs typeface="Cambria" pitchFamily="34" charset="-120"/>
              </a:rPr>
              <a:t>✓   Split by patient_nbr</a:t>
            </a:r>
            <a:endParaRPr lang="en-US" sz="1800" dirty="0"/>
          </a:p>
        </p:txBody>
      </p:sp>
      <p:sp>
        <p:nvSpPr>
          <p:cNvPr id="10" name="Text 8"/>
          <p:cNvSpPr/>
          <p:nvPr/>
        </p:nvSpPr>
        <p:spPr>
          <a:xfrm>
            <a:off x="6574536" y="2432304"/>
            <a:ext cx="4736592" cy="210312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350" dirty="0">
                <a:solidFill>
                  <a:srgbClr val="1D4D39"/>
                </a:solidFill>
                <a:latin typeface="Calibri" pitchFamily="34" charset="0"/>
                <a:ea typeface="Calibri" pitchFamily="34" charset="-122"/>
                <a:cs typeface="Calibri" pitchFamily="34" charset="-120"/>
              </a:rPr>
              <a:t>GroupShuffleSplit for train / val / test</a:t>
            </a:r>
            <a:endParaRPr lang="en-US" sz="1350" dirty="0"/>
          </a:p>
          <a:p>
            <a:pPr marL="342900" indent="-342900">
              <a:lnSpc>
                <a:spcPts val="1900"/>
              </a:lnSpc>
              <a:spcAft>
                <a:spcPts val="800"/>
              </a:spcAft>
              <a:buSzPct val="100000"/>
              <a:buChar char="•"/>
            </a:pPr>
            <a:r>
              <a:rPr lang="en-US" sz="1350" dirty="0">
                <a:solidFill>
                  <a:srgbClr val="1D4D39"/>
                </a:solidFill>
                <a:latin typeface="Calibri" pitchFamily="34" charset="0"/>
                <a:ea typeface="Calibri" pitchFamily="34" charset="-122"/>
                <a:cs typeface="Calibri" pitchFamily="34" charset="-120"/>
              </a:rPr>
              <a:t>GroupKFold for every cross-validation</a:t>
            </a:r>
            <a:endParaRPr lang="en-US" sz="1350" dirty="0"/>
          </a:p>
          <a:p>
            <a:pPr marL="342900" indent="-342900">
              <a:lnSpc>
                <a:spcPts val="1900"/>
              </a:lnSpc>
              <a:spcAft>
                <a:spcPts val="800"/>
              </a:spcAft>
              <a:buSzPct val="100000"/>
              <a:buChar char="•"/>
            </a:pPr>
            <a:r>
              <a:rPr lang="en-US" sz="1350" dirty="0">
                <a:solidFill>
                  <a:srgbClr val="1D4D39"/>
                </a:solidFill>
                <a:latin typeface="Calibri" pitchFamily="34" charset="0"/>
                <a:ea typeface="Calibri" pitchFamily="34" charset="-122"/>
                <a:cs typeface="Calibri" pitchFamily="34" charset="-120"/>
              </a:rPr>
              <a:t>No patient can appear on both sides</a:t>
            </a:r>
            <a:endParaRPr lang="en-US" sz="1350" dirty="0"/>
          </a:p>
          <a:p>
            <a:pPr marL="342900" indent="-342900">
              <a:lnSpc>
                <a:spcPts val="1900"/>
              </a:lnSpc>
              <a:spcAft>
                <a:spcPts val="800"/>
              </a:spcAft>
              <a:buSzPct val="100000"/>
              <a:buChar char="•"/>
            </a:pPr>
            <a:r>
              <a:rPr lang="en-US" sz="1350" dirty="0">
                <a:solidFill>
                  <a:srgbClr val="1D4D39"/>
                </a:solidFill>
                <a:latin typeface="Calibri" pitchFamily="34" charset="0"/>
                <a:ea typeface="Calibri" pitchFamily="34" charset="-122"/>
                <a:cs typeface="Calibri" pitchFamily="34" charset="-120"/>
              </a:rPr>
              <a:t>Enforced by a test, not by convention</a:t>
            </a:r>
            <a:endParaRPr lang="en-US" sz="1350" dirty="0"/>
          </a:p>
        </p:txBody>
      </p:sp>
      <p:sp>
        <p:nvSpPr>
          <p:cNvPr id="11" name="Shape 9"/>
          <p:cNvSpPr/>
          <p:nvPr/>
        </p:nvSpPr>
        <p:spPr>
          <a:xfrm>
            <a:off x="566928" y="4882896"/>
            <a:ext cx="11057839" cy="969264"/>
          </a:xfrm>
          <a:prstGeom prst="roundRect">
            <a:avLst>
              <a:gd name="adj" fmla="val 7547"/>
            </a:avLst>
          </a:prstGeom>
          <a:solidFill>
            <a:srgbClr val="0B2E3B"/>
          </a:solidFill>
          <a:ln w="12700">
            <a:solidFill>
              <a:srgbClr val="0B2E3B"/>
            </a:solidFill>
            <a:prstDash val="solid"/>
          </a:ln>
        </p:spPr>
      </p:sp>
      <p:sp>
        <p:nvSpPr>
          <p:cNvPr id="12" name="Text 10"/>
          <p:cNvSpPr/>
          <p:nvPr/>
        </p:nvSpPr>
        <p:spPr>
          <a:xfrm>
            <a:off x="896112" y="5029200"/>
            <a:ext cx="6035040" cy="329184"/>
          </a:xfrm>
          <a:prstGeom prst="rect">
            <a:avLst/>
          </a:prstGeom>
          <a:noFill/>
          <a:ln/>
        </p:spPr>
        <p:txBody>
          <a:bodyPr wrap="square" lIns="0" tIns="0" rIns="0" bIns="0" rtlCol="0" anchor="ctr"/>
          <a:lstStyle/>
          <a:p>
            <a:pPr indent="0" marL="0">
              <a:buNone/>
            </a:pPr>
            <a:r>
              <a:rPr lang="en-US" sz="1300" b="1" dirty="0">
                <a:solidFill>
                  <a:srgbClr val="8FD4C8"/>
                </a:solidFill>
                <a:latin typeface="Courier New" pitchFamily="34" charset="0"/>
                <a:ea typeface="Courier New" pitchFamily="34" charset="-122"/>
                <a:cs typeface="Courier New" pitchFamily="34" charset="-120"/>
              </a:rPr>
              <a:t>test_split_never_puts_a_patient_on_both_sides</a:t>
            </a:r>
            <a:endParaRPr lang="en-US" sz="1300" dirty="0"/>
          </a:p>
        </p:txBody>
      </p:sp>
      <p:sp>
        <p:nvSpPr>
          <p:cNvPr id="13" name="Text 11"/>
          <p:cNvSpPr/>
          <p:nvPr/>
        </p:nvSpPr>
        <p:spPr>
          <a:xfrm>
            <a:off x="896112" y="5358384"/>
            <a:ext cx="10241280" cy="329184"/>
          </a:xfrm>
          <a:prstGeom prst="rect">
            <a:avLst/>
          </a:prstGeom>
          <a:noFill/>
          <a:ln/>
        </p:spPr>
        <p:txBody>
          <a:bodyPr wrap="square" lIns="0" tIns="0" rIns="0" bIns="0" rtlCol="0" anchor="ctr"/>
          <a:lstStyle/>
          <a:p>
            <a:pPr indent="0" marL="0">
              <a:buNone/>
            </a:pPr>
            <a:r>
              <a:rPr lang="en-US" sz="1200" dirty="0">
                <a:solidFill>
                  <a:srgbClr val="C9DCE3"/>
                </a:solidFill>
                <a:latin typeface="Calibri" pitchFamily="34" charset="0"/>
                <a:ea typeface="Calibri" pitchFamily="34" charset="-122"/>
                <a:cs typeface="Calibri" pitchFamily="34" charset="-120"/>
              </a:rPr>
              <a:t>Two further leakage paths are closed the same way: identifiers dropped after splitting, unscoreable outcomes removed.</a:t>
            </a:r>
            <a:endParaRPr lang="en-US" sz="1200" dirty="0"/>
          </a:p>
        </p:txBody>
      </p:sp>
      <p:sp>
        <p:nvSpPr>
          <p:cNvPr id="14" name="Text 12"/>
          <p:cNvSpPr/>
          <p:nvPr/>
        </p:nvSpPr>
        <p:spPr>
          <a:xfrm>
            <a:off x="566928" y="6163056"/>
            <a:ext cx="11057839" cy="237744"/>
          </a:xfrm>
          <a:prstGeom prst="rect">
            <a:avLst/>
          </a:prstGeom>
          <a:noFill/>
          <a:ln/>
        </p:spPr>
        <p:txBody>
          <a:bodyPr wrap="square" lIns="0" tIns="0" rIns="0" bIns="0" rtlCol="0" anchor="ctr"/>
          <a:lstStyle/>
          <a:p>
            <a:pPr indent="0" marL="0">
              <a:buNone/>
            </a:pPr>
            <a:r>
              <a:rPr lang="en-US" sz="950" i="1" dirty="0">
                <a:solidFill>
                  <a:srgbClr val="9AB0B9"/>
                </a:solidFill>
                <a:latin typeface="Calibri" pitchFamily="34" charset="0"/>
                <a:ea typeface="Calibri" pitchFamily="34" charset="-122"/>
                <a:cs typeface="Calibri" pitchFamily="34" charset="-120"/>
              </a:rPr>
              <a:t>A materially higher ROC-AUC on this dataset almost always means a leaked split rather than a better model.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From raw encounter to ranked call list</a:t>
            </a:r>
            <a:endParaRPr lang="en-US" sz="3200" dirty="0"/>
          </a:p>
        </p:txBody>
      </p:sp>
      <p:sp>
        <p:nvSpPr>
          <p:cNvPr id="4" name="Shape 2"/>
          <p:cNvSpPr/>
          <p:nvPr/>
        </p:nvSpPr>
        <p:spPr>
          <a:xfrm>
            <a:off x="566928" y="1700784"/>
            <a:ext cx="2084832" cy="2432304"/>
          </a:xfrm>
          <a:prstGeom prst="roundRect">
            <a:avLst>
              <a:gd name="adj" fmla="val 3509"/>
            </a:avLst>
          </a:prstGeom>
          <a:solidFill>
            <a:srgbClr val="EEF4F6"/>
          </a:solidFill>
          <a:ln w="12700">
            <a:solidFill>
              <a:srgbClr val="EEF4F6"/>
            </a:solidFill>
            <a:prstDash val="solid"/>
          </a:ln>
        </p:spPr>
      </p:sp>
      <p:sp>
        <p:nvSpPr>
          <p:cNvPr id="5" name="Shape 3"/>
          <p:cNvSpPr/>
          <p:nvPr/>
        </p:nvSpPr>
        <p:spPr>
          <a:xfrm>
            <a:off x="786384" y="1901952"/>
            <a:ext cx="420624" cy="420624"/>
          </a:xfrm>
          <a:prstGeom prst="ellipse">
            <a:avLst/>
          </a:prstGeom>
          <a:solidFill>
            <a:srgbClr val="12556B"/>
          </a:solidFill>
          <a:ln w="12700">
            <a:solidFill>
              <a:srgbClr val="12556B"/>
            </a:solidFill>
            <a:prstDash val="solid"/>
          </a:ln>
        </p:spPr>
      </p:sp>
      <p:sp>
        <p:nvSpPr>
          <p:cNvPr id="6" name="Text 4"/>
          <p:cNvSpPr/>
          <p:nvPr/>
        </p:nvSpPr>
        <p:spPr>
          <a:xfrm>
            <a:off x="786384" y="19019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786384" y="2432304"/>
            <a:ext cx="1645920"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Clean</a:t>
            </a:r>
            <a:endParaRPr lang="en-US" sz="1500" dirty="0"/>
          </a:p>
        </p:txBody>
      </p:sp>
      <p:sp>
        <p:nvSpPr>
          <p:cNvPr id="8" name="Text 6"/>
          <p:cNvSpPr/>
          <p:nvPr/>
        </p:nvSpPr>
        <p:spPr>
          <a:xfrm>
            <a:off x="786384" y="2779776"/>
            <a:ext cx="1645920" cy="146304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Remove death/hospice</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discharges. Keep '?' as</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an explicit category.</a:t>
            </a:r>
            <a:endParaRPr lang="en-US" sz="1150" dirty="0"/>
          </a:p>
        </p:txBody>
      </p:sp>
      <p:sp>
        <p:nvSpPr>
          <p:cNvPr id="9" name="Shape 7"/>
          <p:cNvSpPr/>
          <p:nvPr/>
        </p:nvSpPr>
        <p:spPr>
          <a:xfrm>
            <a:off x="2825496" y="1700784"/>
            <a:ext cx="2084832" cy="2432304"/>
          </a:xfrm>
          <a:prstGeom prst="roundRect">
            <a:avLst>
              <a:gd name="adj" fmla="val 3509"/>
            </a:avLst>
          </a:prstGeom>
          <a:solidFill>
            <a:srgbClr val="EEF4F6"/>
          </a:solidFill>
          <a:ln w="12700">
            <a:solidFill>
              <a:srgbClr val="EEF4F6"/>
            </a:solidFill>
            <a:prstDash val="solid"/>
          </a:ln>
        </p:spPr>
      </p:sp>
      <p:sp>
        <p:nvSpPr>
          <p:cNvPr id="10" name="Shape 8"/>
          <p:cNvSpPr/>
          <p:nvPr/>
        </p:nvSpPr>
        <p:spPr>
          <a:xfrm>
            <a:off x="3044952" y="1901952"/>
            <a:ext cx="420624" cy="420624"/>
          </a:xfrm>
          <a:prstGeom prst="ellipse">
            <a:avLst/>
          </a:prstGeom>
          <a:solidFill>
            <a:srgbClr val="12556B"/>
          </a:solidFill>
          <a:ln w="12700">
            <a:solidFill>
              <a:srgbClr val="12556B"/>
            </a:solidFill>
            <a:prstDash val="solid"/>
          </a:ln>
        </p:spPr>
      </p:sp>
      <p:sp>
        <p:nvSpPr>
          <p:cNvPr id="11" name="Text 9"/>
          <p:cNvSpPr/>
          <p:nvPr/>
        </p:nvSpPr>
        <p:spPr>
          <a:xfrm>
            <a:off x="3044952" y="19019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3044952" y="2432304"/>
            <a:ext cx="1645920"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Engineer</a:t>
            </a:r>
            <a:endParaRPr lang="en-US" sz="1500" dirty="0"/>
          </a:p>
        </p:txBody>
      </p:sp>
      <p:sp>
        <p:nvSpPr>
          <p:cNvPr id="13" name="Text 11"/>
          <p:cNvSpPr/>
          <p:nvPr/>
        </p:nvSpPr>
        <p:spPr>
          <a:xfrm>
            <a:off x="3044952" y="2779776"/>
            <a:ext cx="1645920" cy="146304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2,000+ ICD-9 codes into</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9 chapters. Utilisation</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and regimen-churn features.</a:t>
            </a:r>
            <a:endParaRPr lang="en-US" sz="1150" dirty="0"/>
          </a:p>
        </p:txBody>
      </p:sp>
      <p:sp>
        <p:nvSpPr>
          <p:cNvPr id="14" name="Shape 12"/>
          <p:cNvSpPr/>
          <p:nvPr/>
        </p:nvSpPr>
        <p:spPr>
          <a:xfrm>
            <a:off x="5084064" y="1700784"/>
            <a:ext cx="2084832" cy="2432304"/>
          </a:xfrm>
          <a:prstGeom prst="roundRect">
            <a:avLst>
              <a:gd name="adj" fmla="val 3509"/>
            </a:avLst>
          </a:prstGeom>
          <a:solidFill>
            <a:srgbClr val="EEF4F6"/>
          </a:solidFill>
          <a:ln w="12700">
            <a:solidFill>
              <a:srgbClr val="EEF4F6"/>
            </a:solidFill>
            <a:prstDash val="solid"/>
          </a:ln>
        </p:spPr>
      </p:sp>
      <p:sp>
        <p:nvSpPr>
          <p:cNvPr id="15" name="Shape 13"/>
          <p:cNvSpPr/>
          <p:nvPr/>
        </p:nvSpPr>
        <p:spPr>
          <a:xfrm>
            <a:off x="5303520" y="1901952"/>
            <a:ext cx="420624" cy="420624"/>
          </a:xfrm>
          <a:prstGeom prst="ellipse">
            <a:avLst/>
          </a:prstGeom>
          <a:solidFill>
            <a:srgbClr val="12556B"/>
          </a:solidFill>
          <a:ln w="12700">
            <a:solidFill>
              <a:srgbClr val="12556B"/>
            </a:solidFill>
            <a:prstDash val="solid"/>
          </a:ln>
        </p:spPr>
      </p:sp>
      <p:sp>
        <p:nvSpPr>
          <p:cNvPr id="16" name="Text 14"/>
          <p:cNvSpPr/>
          <p:nvPr/>
        </p:nvSpPr>
        <p:spPr>
          <a:xfrm>
            <a:off x="5303520" y="19019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5303520" y="2432304"/>
            <a:ext cx="1645920"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Split</a:t>
            </a:r>
            <a:endParaRPr lang="en-US" sz="1500" dirty="0"/>
          </a:p>
        </p:txBody>
      </p:sp>
      <p:sp>
        <p:nvSpPr>
          <p:cNvPr id="18" name="Text 16"/>
          <p:cNvSpPr/>
          <p:nvPr/>
        </p:nvSpPr>
        <p:spPr>
          <a:xfrm>
            <a:off x="5303520" y="2779776"/>
            <a:ext cx="1645920" cy="146304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GroupShuffleSplit on</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patient_nbr. Train / val /</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test = 63.6k / 16.0k / 19.8k.</a:t>
            </a:r>
            <a:endParaRPr lang="en-US" sz="1150" dirty="0"/>
          </a:p>
        </p:txBody>
      </p:sp>
      <p:sp>
        <p:nvSpPr>
          <p:cNvPr id="19" name="Shape 17"/>
          <p:cNvSpPr/>
          <p:nvPr/>
        </p:nvSpPr>
        <p:spPr>
          <a:xfrm>
            <a:off x="7342632" y="1700784"/>
            <a:ext cx="2084832" cy="2432304"/>
          </a:xfrm>
          <a:prstGeom prst="roundRect">
            <a:avLst>
              <a:gd name="adj" fmla="val 3509"/>
            </a:avLst>
          </a:prstGeom>
          <a:solidFill>
            <a:srgbClr val="EEF4F6"/>
          </a:solidFill>
          <a:ln w="12700">
            <a:solidFill>
              <a:srgbClr val="EEF4F6"/>
            </a:solidFill>
            <a:prstDash val="solid"/>
          </a:ln>
        </p:spPr>
      </p:sp>
      <p:sp>
        <p:nvSpPr>
          <p:cNvPr id="20" name="Shape 18"/>
          <p:cNvSpPr/>
          <p:nvPr/>
        </p:nvSpPr>
        <p:spPr>
          <a:xfrm>
            <a:off x="7562088" y="1901952"/>
            <a:ext cx="420624" cy="420624"/>
          </a:xfrm>
          <a:prstGeom prst="ellipse">
            <a:avLst/>
          </a:prstGeom>
          <a:solidFill>
            <a:srgbClr val="12556B"/>
          </a:solidFill>
          <a:ln w="12700">
            <a:solidFill>
              <a:srgbClr val="12556B"/>
            </a:solidFill>
            <a:prstDash val="solid"/>
          </a:ln>
        </p:spPr>
      </p:sp>
      <p:sp>
        <p:nvSpPr>
          <p:cNvPr id="21" name="Text 19"/>
          <p:cNvSpPr/>
          <p:nvPr/>
        </p:nvSpPr>
        <p:spPr>
          <a:xfrm>
            <a:off x="7562088" y="19019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2" name="Text 20"/>
          <p:cNvSpPr/>
          <p:nvPr/>
        </p:nvSpPr>
        <p:spPr>
          <a:xfrm>
            <a:off x="7562088" y="2432304"/>
            <a:ext cx="1645920"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Compare</a:t>
            </a:r>
            <a:endParaRPr lang="en-US" sz="1500" dirty="0"/>
          </a:p>
        </p:txBody>
      </p:sp>
      <p:sp>
        <p:nvSpPr>
          <p:cNvPr id="23" name="Text 21"/>
          <p:cNvSpPr/>
          <p:nvPr/>
        </p:nvSpPr>
        <p:spPr>
          <a:xfrm>
            <a:off x="7562088" y="2779776"/>
            <a:ext cx="1645920" cy="146304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6 models under 5-fold</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GroupKFold. Winner picked</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on validation PR-AUC.</a:t>
            </a:r>
            <a:endParaRPr lang="en-US" sz="1150" dirty="0"/>
          </a:p>
        </p:txBody>
      </p:sp>
      <p:sp>
        <p:nvSpPr>
          <p:cNvPr id="24" name="Shape 22"/>
          <p:cNvSpPr/>
          <p:nvPr/>
        </p:nvSpPr>
        <p:spPr>
          <a:xfrm>
            <a:off x="9601200" y="1700784"/>
            <a:ext cx="2084832" cy="2432304"/>
          </a:xfrm>
          <a:prstGeom prst="roundRect">
            <a:avLst>
              <a:gd name="adj" fmla="val 3509"/>
            </a:avLst>
          </a:prstGeom>
          <a:solidFill>
            <a:srgbClr val="EEF4F6"/>
          </a:solidFill>
          <a:ln w="12700">
            <a:solidFill>
              <a:srgbClr val="EEF4F6"/>
            </a:solidFill>
            <a:prstDash val="solid"/>
          </a:ln>
        </p:spPr>
      </p:sp>
      <p:sp>
        <p:nvSpPr>
          <p:cNvPr id="25" name="Shape 23"/>
          <p:cNvSpPr/>
          <p:nvPr/>
        </p:nvSpPr>
        <p:spPr>
          <a:xfrm>
            <a:off x="9820656" y="1901952"/>
            <a:ext cx="420624" cy="420624"/>
          </a:xfrm>
          <a:prstGeom prst="ellipse">
            <a:avLst/>
          </a:prstGeom>
          <a:solidFill>
            <a:srgbClr val="F2634A"/>
          </a:solidFill>
          <a:ln w="12700">
            <a:solidFill>
              <a:srgbClr val="F2634A"/>
            </a:solidFill>
            <a:prstDash val="solid"/>
          </a:ln>
        </p:spPr>
      </p:sp>
      <p:sp>
        <p:nvSpPr>
          <p:cNvPr id="26" name="Text 24"/>
          <p:cNvSpPr/>
          <p:nvPr/>
        </p:nvSpPr>
        <p:spPr>
          <a:xfrm>
            <a:off x="9820656" y="19019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9820656" y="2432304"/>
            <a:ext cx="1645920"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Calibrate</a:t>
            </a:r>
            <a:endParaRPr lang="en-US" sz="1500" dirty="0"/>
          </a:p>
        </p:txBody>
      </p:sp>
      <p:sp>
        <p:nvSpPr>
          <p:cNvPr id="28" name="Text 26"/>
          <p:cNvSpPr/>
          <p:nvPr/>
        </p:nvSpPr>
        <p:spPr>
          <a:xfrm>
            <a:off x="9820656" y="2779776"/>
            <a:ext cx="1645920" cy="146304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Platt scaling, then a</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threshold set from</a:t>
            </a:r>
            <a:endParaRPr lang="en-US" sz="1150" dirty="0"/>
          </a:p>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follow-up capacity.</a:t>
            </a:r>
            <a:endParaRPr lang="en-US" sz="1150" dirty="0"/>
          </a:p>
        </p:txBody>
      </p:sp>
      <p:sp>
        <p:nvSpPr>
          <p:cNvPr id="29" name="Shape 27"/>
          <p:cNvSpPr/>
          <p:nvPr/>
        </p:nvSpPr>
        <p:spPr>
          <a:xfrm>
            <a:off x="566928" y="4681728"/>
            <a:ext cx="11057839" cy="1243584"/>
          </a:xfrm>
          <a:prstGeom prst="roundRect">
            <a:avLst>
              <a:gd name="adj" fmla="val 5882"/>
            </a:avLst>
          </a:prstGeom>
          <a:solidFill>
            <a:srgbClr val="0B2E3B"/>
          </a:solidFill>
          <a:ln w="12700">
            <a:solidFill>
              <a:srgbClr val="0B2E3B"/>
            </a:solidFill>
            <a:prstDash val="solid"/>
          </a:ln>
        </p:spPr>
      </p:sp>
      <p:sp>
        <p:nvSpPr>
          <p:cNvPr id="30" name="Text 28"/>
          <p:cNvSpPr/>
          <p:nvPr/>
        </p:nvSpPr>
        <p:spPr>
          <a:xfrm>
            <a:off x="896112" y="4846320"/>
            <a:ext cx="1042416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test set is read exactly once, at the very end.</a:t>
            </a:r>
            <a:endParaRPr lang="en-US" sz="1600" dirty="0"/>
          </a:p>
        </p:txBody>
      </p:sp>
      <p:sp>
        <p:nvSpPr>
          <p:cNvPr id="31" name="Text 29"/>
          <p:cNvSpPr/>
          <p:nvPr/>
        </p:nvSpPr>
        <p:spPr>
          <a:xfrm>
            <a:off x="896112" y="5212080"/>
            <a:ext cx="10424160" cy="566928"/>
          </a:xfrm>
          <a:prstGeom prst="rect">
            <a:avLst/>
          </a:prstGeom>
          <a:noFill/>
          <a:ln/>
        </p:spPr>
        <p:txBody>
          <a:bodyPr wrap="square" lIns="0" tIns="0" rIns="0" bIns="0" rtlCol="0" anchor="ctr"/>
          <a:lstStyle/>
          <a:p>
            <a:pPr indent="0" marL="0">
              <a:lnSpc>
                <a:spcPts val="1700"/>
              </a:lnSpc>
              <a:buNone/>
            </a:pPr>
            <a:r>
              <a:rPr lang="en-US" sz="1250" dirty="0">
                <a:solidFill>
                  <a:srgbClr val="C9DCE3"/>
                </a:solidFill>
                <a:latin typeface="Calibri" pitchFamily="34" charset="0"/>
                <a:ea typeface="Calibri" pitchFamily="34" charset="-122"/>
                <a:cs typeface="Calibri" pitchFamily="34" charset="-120"/>
              </a:rPr>
              <a:t>Model choice, hyperparameters, the calibration method and the decision threshold are all fixed against validation. That discipline is what makes 0.684 an estimate of future performance rather than the best of a dozen peeks.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CLASS IMBALANCE</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11.4% positives — handled explicitly, not hopefully</a:t>
            </a:r>
            <a:endParaRPr lang="en-US" sz="3200" dirty="0"/>
          </a:p>
        </p:txBody>
      </p:sp>
      <p:sp>
        <p:nvSpPr>
          <p:cNvPr id="4" name="Text 2"/>
          <p:cNvSpPr/>
          <p:nvPr/>
        </p:nvSpPr>
        <p:spPr>
          <a:xfrm>
            <a:off x="566928" y="1316736"/>
            <a:ext cx="11057839" cy="310896"/>
          </a:xfrm>
          <a:prstGeom prst="rect">
            <a:avLst/>
          </a:prstGeom>
          <a:noFill/>
          <a:ln/>
        </p:spPr>
        <p:txBody>
          <a:bodyPr wrap="square" lIns="0" tIns="0" rIns="0" bIns="0" rtlCol="0" anchor="ctr"/>
          <a:lstStyle/>
          <a:p>
            <a:pPr indent="0" marL="0">
              <a:buNone/>
            </a:pPr>
            <a:r>
              <a:rPr lang="en-US" sz="1300" dirty="0">
                <a:solidFill>
                  <a:srgbClr val="5A7683"/>
                </a:solidFill>
                <a:latin typeface="Calibri" pitchFamily="34" charset="0"/>
                <a:ea typeface="Calibri" pitchFamily="34" charset="-122"/>
                <a:cs typeface="Calibri" pitchFamily="34" charset="-120"/>
              </a:rPr>
              <a:t>Left alone, every model collapses to predicting 'no readmission' for everyone. That scores 88.6% accuracy and catches nothing.</a:t>
            </a:r>
            <a:endParaRPr lang="en-US" sz="1300" dirty="0"/>
          </a:p>
        </p:txBody>
      </p:sp>
      <p:sp>
        <p:nvSpPr>
          <p:cNvPr id="5" name="Shape 3"/>
          <p:cNvSpPr/>
          <p:nvPr/>
        </p:nvSpPr>
        <p:spPr>
          <a:xfrm>
            <a:off x="566928" y="1773936"/>
            <a:ext cx="5760720" cy="475488"/>
          </a:xfrm>
          <a:prstGeom prst="roundRect">
            <a:avLst>
              <a:gd name="adj" fmla="val 15385"/>
            </a:avLst>
          </a:prstGeom>
          <a:solidFill>
            <a:srgbClr val="EEF4F6"/>
          </a:solidFill>
          <a:ln w="12700">
            <a:solidFill>
              <a:srgbClr val="EEF4F6"/>
            </a:solidFill>
            <a:prstDash val="solid"/>
          </a:ln>
        </p:spPr>
      </p:sp>
      <p:sp>
        <p:nvSpPr>
          <p:cNvPr id="6" name="Shape 4"/>
          <p:cNvSpPr/>
          <p:nvPr/>
        </p:nvSpPr>
        <p:spPr>
          <a:xfrm>
            <a:off x="749808" y="1911096"/>
            <a:ext cx="201168" cy="201168"/>
          </a:xfrm>
          <a:prstGeom prst="ellipse">
            <a:avLst/>
          </a:prstGeom>
          <a:solidFill>
            <a:srgbClr val="12556B"/>
          </a:solidFill>
          <a:ln w="12700">
            <a:solidFill>
              <a:srgbClr val="333333"/>
            </a:solidFill>
            <a:prstDash val="solid"/>
          </a:ln>
        </p:spPr>
      </p:sp>
      <p:sp>
        <p:nvSpPr>
          <p:cNvPr id="7" name="Text 5"/>
          <p:cNvSpPr/>
          <p:nvPr/>
        </p:nvSpPr>
        <p:spPr>
          <a:xfrm>
            <a:off x="1078992" y="1773936"/>
            <a:ext cx="2011680" cy="475488"/>
          </a:xfrm>
          <a:prstGeom prst="rect">
            <a:avLst/>
          </a:prstGeom>
          <a:noFill/>
          <a:ln/>
        </p:spPr>
        <p:txBody>
          <a:bodyPr wrap="square" lIns="0" tIns="0" rIns="0" bIns="0" rtlCol="0" anchor="ctr"/>
          <a:lstStyle/>
          <a:p>
            <a:pPr indent="0" marL="0">
              <a:buNone/>
            </a:pPr>
            <a:r>
              <a:rPr lang="en-US" sz="1250" b="1" dirty="0">
                <a:solidFill>
                  <a:srgbClr val="0B2E3B"/>
                </a:solidFill>
                <a:latin typeface="Calibri" pitchFamily="34" charset="0"/>
                <a:ea typeface="Calibri" pitchFamily="34" charset="-122"/>
                <a:cs typeface="Calibri" pitchFamily="34" charset="-120"/>
              </a:rPr>
              <a:t>Logistic regression</a:t>
            </a:r>
            <a:endParaRPr lang="en-US" sz="1250" dirty="0"/>
          </a:p>
        </p:txBody>
      </p:sp>
      <p:sp>
        <p:nvSpPr>
          <p:cNvPr id="8" name="Text 6"/>
          <p:cNvSpPr/>
          <p:nvPr/>
        </p:nvSpPr>
        <p:spPr>
          <a:xfrm>
            <a:off x="3054096" y="1773936"/>
            <a:ext cx="3145536" cy="475488"/>
          </a:xfrm>
          <a:prstGeom prst="rect">
            <a:avLst/>
          </a:prstGeom>
          <a:noFill/>
          <a:ln/>
        </p:spPr>
        <p:txBody>
          <a:bodyPr wrap="square" lIns="0" tIns="0" rIns="0" bIns="0" rtlCol="0" anchor="ctr"/>
          <a:lstStyle/>
          <a:p>
            <a:pPr indent="0" marL="0">
              <a:buNone/>
            </a:pPr>
            <a:r>
              <a:rPr lang="en-US" sz="1000" dirty="0">
                <a:solidFill>
                  <a:srgbClr val="34525E"/>
                </a:solidFill>
                <a:latin typeface="Courier New" pitchFamily="34" charset="0"/>
                <a:ea typeface="Courier New" pitchFamily="34" charset="-122"/>
                <a:cs typeface="Courier New" pitchFamily="34" charset="-120"/>
              </a:rPr>
              <a:t>class_weight='balanced'</a:t>
            </a:r>
            <a:endParaRPr lang="en-US" sz="1000" dirty="0"/>
          </a:p>
        </p:txBody>
      </p:sp>
      <p:sp>
        <p:nvSpPr>
          <p:cNvPr id="9" name="Shape 7"/>
          <p:cNvSpPr/>
          <p:nvPr/>
        </p:nvSpPr>
        <p:spPr>
          <a:xfrm>
            <a:off x="566928" y="2340864"/>
            <a:ext cx="5760720" cy="475488"/>
          </a:xfrm>
          <a:prstGeom prst="roundRect">
            <a:avLst>
              <a:gd name="adj" fmla="val 15385"/>
            </a:avLst>
          </a:prstGeom>
          <a:solidFill>
            <a:srgbClr val="EEF4F6"/>
          </a:solidFill>
          <a:ln w="12700">
            <a:solidFill>
              <a:srgbClr val="EEF4F6"/>
            </a:solidFill>
            <a:prstDash val="solid"/>
          </a:ln>
        </p:spPr>
      </p:sp>
      <p:sp>
        <p:nvSpPr>
          <p:cNvPr id="10" name="Shape 8"/>
          <p:cNvSpPr/>
          <p:nvPr/>
        </p:nvSpPr>
        <p:spPr>
          <a:xfrm>
            <a:off x="749808" y="2478024"/>
            <a:ext cx="201168" cy="201168"/>
          </a:xfrm>
          <a:prstGeom prst="ellipse">
            <a:avLst/>
          </a:prstGeom>
          <a:solidFill>
            <a:srgbClr val="12556B"/>
          </a:solidFill>
          <a:ln w="12700">
            <a:solidFill>
              <a:srgbClr val="333333"/>
            </a:solidFill>
            <a:prstDash val="solid"/>
          </a:ln>
        </p:spPr>
      </p:sp>
      <p:sp>
        <p:nvSpPr>
          <p:cNvPr id="11" name="Text 9"/>
          <p:cNvSpPr/>
          <p:nvPr/>
        </p:nvSpPr>
        <p:spPr>
          <a:xfrm>
            <a:off x="1078992" y="2340864"/>
            <a:ext cx="2011680" cy="475488"/>
          </a:xfrm>
          <a:prstGeom prst="rect">
            <a:avLst/>
          </a:prstGeom>
          <a:noFill/>
          <a:ln/>
        </p:spPr>
        <p:txBody>
          <a:bodyPr wrap="square" lIns="0" tIns="0" rIns="0" bIns="0" rtlCol="0" anchor="ctr"/>
          <a:lstStyle/>
          <a:p>
            <a:pPr indent="0" marL="0">
              <a:buNone/>
            </a:pPr>
            <a:r>
              <a:rPr lang="en-US" sz="1250" b="1" dirty="0">
                <a:solidFill>
                  <a:srgbClr val="0B2E3B"/>
                </a:solidFill>
                <a:latin typeface="Calibri" pitchFamily="34" charset="0"/>
                <a:ea typeface="Calibri" pitchFamily="34" charset="-122"/>
                <a:cs typeface="Calibri" pitchFamily="34" charset="-120"/>
              </a:rPr>
              <a:t>Random forest</a:t>
            </a:r>
            <a:endParaRPr lang="en-US" sz="1250" dirty="0"/>
          </a:p>
        </p:txBody>
      </p:sp>
      <p:sp>
        <p:nvSpPr>
          <p:cNvPr id="12" name="Text 10"/>
          <p:cNvSpPr/>
          <p:nvPr/>
        </p:nvSpPr>
        <p:spPr>
          <a:xfrm>
            <a:off x="3054096" y="2340864"/>
            <a:ext cx="3145536" cy="475488"/>
          </a:xfrm>
          <a:prstGeom prst="rect">
            <a:avLst/>
          </a:prstGeom>
          <a:noFill/>
          <a:ln/>
        </p:spPr>
        <p:txBody>
          <a:bodyPr wrap="square" lIns="0" tIns="0" rIns="0" bIns="0" rtlCol="0" anchor="ctr"/>
          <a:lstStyle/>
          <a:p>
            <a:pPr indent="0" marL="0">
              <a:buNone/>
            </a:pPr>
            <a:r>
              <a:rPr lang="en-US" sz="1000" dirty="0">
                <a:solidFill>
                  <a:srgbClr val="34525E"/>
                </a:solidFill>
                <a:latin typeface="Courier New" pitchFamily="34" charset="0"/>
                <a:ea typeface="Courier New" pitchFamily="34" charset="-122"/>
                <a:cs typeface="Courier New" pitchFamily="34" charset="-120"/>
              </a:rPr>
              <a:t>class_weight='balanced_subsample'</a:t>
            </a:r>
            <a:endParaRPr lang="en-US" sz="1000" dirty="0"/>
          </a:p>
        </p:txBody>
      </p:sp>
      <p:sp>
        <p:nvSpPr>
          <p:cNvPr id="13" name="Shape 11"/>
          <p:cNvSpPr/>
          <p:nvPr/>
        </p:nvSpPr>
        <p:spPr>
          <a:xfrm>
            <a:off x="566928" y="2907792"/>
            <a:ext cx="5760720" cy="475488"/>
          </a:xfrm>
          <a:prstGeom prst="roundRect">
            <a:avLst>
              <a:gd name="adj" fmla="val 15385"/>
            </a:avLst>
          </a:prstGeom>
          <a:solidFill>
            <a:srgbClr val="EEF4F6"/>
          </a:solidFill>
          <a:ln w="12700">
            <a:solidFill>
              <a:srgbClr val="EEF4F6"/>
            </a:solidFill>
            <a:prstDash val="solid"/>
          </a:ln>
        </p:spPr>
      </p:sp>
      <p:sp>
        <p:nvSpPr>
          <p:cNvPr id="14" name="Shape 12"/>
          <p:cNvSpPr/>
          <p:nvPr/>
        </p:nvSpPr>
        <p:spPr>
          <a:xfrm>
            <a:off x="749808" y="3044952"/>
            <a:ext cx="201168" cy="201168"/>
          </a:xfrm>
          <a:prstGeom prst="ellipse">
            <a:avLst/>
          </a:prstGeom>
          <a:solidFill>
            <a:srgbClr val="12556B"/>
          </a:solidFill>
          <a:ln w="12700">
            <a:solidFill>
              <a:srgbClr val="333333"/>
            </a:solidFill>
            <a:prstDash val="solid"/>
          </a:ln>
        </p:spPr>
      </p:sp>
      <p:sp>
        <p:nvSpPr>
          <p:cNvPr id="15" name="Text 13"/>
          <p:cNvSpPr/>
          <p:nvPr/>
        </p:nvSpPr>
        <p:spPr>
          <a:xfrm>
            <a:off x="1078992" y="2907792"/>
            <a:ext cx="2011680" cy="475488"/>
          </a:xfrm>
          <a:prstGeom prst="rect">
            <a:avLst/>
          </a:prstGeom>
          <a:noFill/>
          <a:ln/>
        </p:spPr>
        <p:txBody>
          <a:bodyPr wrap="square" lIns="0" tIns="0" rIns="0" bIns="0" rtlCol="0" anchor="ctr"/>
          <a:lstStyle/>
          <a:p>
            <a:pPr indent="0" marL="0">
              <a:buNone/>
            </a:pPr>
            <a:r>
              <a:rPr lang="en-US" sz="1250" b="1" dirty="0">
                <a:solidFill>
                  <a:srgbClr val="0B2E3B"/>
                </a:solidFill>
                <a:latin typeface="Calibri" pitchFamily="34" charset="0"/>
                <a:ea typeface="Calibri" pitchFamily="34" charset="-122"/>
                <a:cs typeface="Calibri" pitchFamily="34" charset="-120"/>
              </a:rPr>
              <a:t>XGBoost</a:t>
            </a:r>
            <a:endParaRPr lang="en-US" sz="1250" dirty="0"/>
          </a:p>
        </p:txBody>
      </p:sp>
      <p:sp>
        <p:nvSpPr>
          <p:cNvPr id="16" name="Text 14"/>
          <p:cNvSpPr/>
          <p:nvPr/>
        </p:nvSpPr>
        <p:spPr>
          <a:xfrm>
            <a:off x="3054096" y="2907792"/>
            <a:ext cx="3145536" cy="475488"/>
          </a:xfrm>
          <a:prstGeom prst="rect">
            <a:avLst/>
          </a:prstGeom>
          <a:noFill/>
          <a:ln/>
        </p:spPr>
        <p:txBody>
          <a:bodyPr wrap="square" lIns="0" tIns="0" rIns="0" bIns="0" rtlCol="0" anchor="ctr"/>
          <a:lstStyle/>
          <a:p>
            <a:pPr indent="0" marL="0">
              <a:buNone/>
            </a:pPr>
            <a:r>
              <a:rPr lang="en-US" sz="1000" dirty="0">
                <a:solidFill>
                  <a:srgbClr val="34525E"/>
                </a:solidFill>
                <a:latin typeface="Courier New" pitchFamily="34" charset="0"/>
                <a:ea typeface="Courier New" pitchFamily="34" charset="-122"/>
                <a:cs typeface="Courier New" pitchFamily="34" charset="-120"/>
              </a:rPr>
              <a:t>scale_pos_weight ≈ 7.8</a:t>
            </a:r>
            <a:endParaRPr lang="en-US" sz="1000" dirty="0"/>
          </a:p>
        </p:txBody>
      </p:sp>
      <p:sp>
        <p:nvSpPr>
          <p:cNvPr id="17" name="Shape 15"/>
          <p:cNvSpPr/>
          <p:nvPr/>
        </p:nvSpPr>
        <p:spPr>
          <a:xfrm>
            <a:off x="566928" y="3474720"/>
            <a:ext cx="5760720" cy="475488"/>
          </a:xfrm>
          <a:prstGeom prst="roundRect">
            <a:avLst>
              <a:gd name="adj" fmla="val 15385"/>
            </a:avLst>
          </a:prstGeom>
          <a:solidFill>
            <a:srgbClr val="EEF4F6"/>
          </a:solidFill>
          <a:ln w="12700">
            <a:solidFill>
              <a:srgbClr val="EEF4F6"/>
            </a:solidFill>
            <a:prstDash val="solid"/>
          </a:ln>
        </p:spPr>
      </p:sp>
      <p:sp>
        <p:nvSpPr>
          <p:cNvPr id="18" name="Shape 16"/>
          <p:cNvSpPr/>
          <p:nvPr/>
        </p:nvSpPr>
        <p:spPr>
          <a:xfrm>
            <a:off x="749808" y="3611880"/>
            <a:ext cx="201168" cy="201168"/>
          </a:xfrm>
          <a:prstGeom prst="ellipse">
            <a:avLst/>
          </a:prstGeom>
          <a:solidFill>
            <a:srgbClr val="F2634A"/>
          </a:solidFill>
          <a:ln w="12700">
            <a:solidFill>
              <a:srgbClr val="333333"/>
            </a:solidFill>
            <a:prstDash val="solid"/>
          </a:ln>
        </p:spPr>
      </p:sp>
      <p:sp>
        <p:nvSpPr>
          <p:cNvPr id="19" name="Text 17"/>
          <p:cNvSpPr/>
          <p:nvPr/>
        </p:nvSpPr>
        <p:spPr>
          <a:xfrm>
            <a:off x="1078992" y="3474720"/>
            <a:ext cx="2011680" cy="475488"/>
          </a:xfrm>
          <a:prstGeom prst="rect">
            <a:avLst/>
          </a:prstGeom>
          <a:noFill/>
          <a:ln/>
        </p:spPr>
        <p:txBody>
          <a:bodyPr wrap="square" lIns="0" tIns="0" rIns="0" bIns="0" rtlCol="0" anchor="ctr"/>
          <a:lstStyle/>
          <a:p>
            <a:pPr indent="0" marL="0">
              <a:buNone/>
            </a:pPr>
            <a:r>
              <a:rPr lang="en-US" sz="1250" b="1" dirty="0">
                <a:solidFill>
                  <a:srgbClr val="0B2E3B"/>
                </a:solidFill>
                <a:latin typeface="Calibri" pitchFamily="34" charset="0"/>
                <a:ea typeface="Calibri" pitchFamily="34" charset="-122"/>
                <a:cs typeface="Calibri" pitchFamily="34" charset="-120"/>
              </a:rPr>
              <a:t>LightGBM</a:t>
            </a:r>
            <a:endParaRPr lang="en-US" sz="1250" dirty="0"/>
          </a:p>
        </p:txBody>
      </p:sp>
      <p:sp>
        <p:nvSpPr>
          <p:cNvPr id="20" name="Text 18"/>
          <p:cNvSpPr/>
          <p:nvPr/>
        </p:nvSpPr>
        <p:spPr>
          <a:xfrm>
            <a:off x="3054096" y="3474720"/>
            <a:ext cx="3145536" cy="475488"/>
          </a:xfrm>
          <a:prstGeom prst="rect">
            <a:avLst/>
          </a:prstGeom>
          <a:noFill/>
          <a:ln/>
        </p:spPr>
        <p:txBody>
          <a:bodyPr wrap="square" lIns="0" tIns="0" rIns="0" bIns="0" rtlCol="0" anchor="ctr"/>
          <a:lstStyle/>
          <a:p>
            <a:pPr indent="0" marL="0">
              <a:buNone/>
            </a:pPr>
            <a:r>
              <a:rPr lang="en-US" sz="1000" dirty="0">
                <a:solidFill>
                  <a:srgbClr val="34525E"/>
                </a:solidFill>
                <a:latin typeface="Courier New" pitchFamily="34" charset="0"/>
                <a:ea typeface="Courier New" pitchFamily="34" charset="-122"/>
                <a:cs typeface="Courier New" pitchFamily="34" charset="-120"/>
              </a:rPr>
              <a:t>class_weight='balanced'</a:t>
            </a:r>
            <a:endParaRPr lang="en-US" sz="1000" dirty="0"/>
          </a:p>
        </p:txBody>
      </p:sp>
      <p:sp>
        <p:nvSpPr>
          <p:cNvPr id="21" name="Shape 19"/>
          <p:cNvSpPr/>
          <p:nvPr/>
        </p:nvSpPr>
        <p:spPr>
          <a:xfrm>
            <a:off x="566928" y="4041648"/>
            <a:ext cx="5760720" cy="475488"/>
          </a:xfrm>
          <a:prstGeom prst="roundRect">
            <a:avLst>
              <a:gd name="adj" fmla="val 15385"/>
            </a:avLst>
          </a:prstGeom>
          <a:solidFill>
            <a:srgbClr val="EEF4F6"/>
          </a:solidFill>
          <a:ln w="12700">
            <a:solidFill>
              <a:srgbClr val="EEF4F6"/>
            </a:solidFill>
            <a:prstDash val="solid"/>
          </a:ln>
        </p:spPr>
      </p:sp>
      <p:sp>
        <p:nvSpPr>
          <p:cNvPr id="22" name="Shape 20"/>
          <p:cNvSpPr/>
          <p:nvPr/>
        </p:nvSpPr>
        <p:spPr>
          <a:xfrm>
            <a:off x="749808" y="4178808"/>
            <a:ext cx="201168" cy="201168"/>
          </a:xfrm>
          <a:prstGeom prst="ellipse">
            <a:avLst/>
          </a:prstGeom>
          <a:solidFill>
            <a:srgbClr val="5A7683"/>
          </a:solidFill>
          <a:ln w="12700">
            <a:solidFill>
              <a:srgbClr val="333333"/>
            </a:solidFill>
            <a:prstDash val="solid"/>
          </a:ln>
        </p:spPr>
      </p:sp>
      <p:sp>
        <p:nvSpPr>
          <p:cNvPr id="23" name="Text 21"/>
          <p:cNvSpPr/>
          <p:nvPr/>
        </p:nvSpPr>
        <p:spPr>
          <a:xfrm>
            <a:off x="1078992" y="4041648"/>
            <a:ext cx="2011680" cy="475488"/>
          </a:xfrm>
          <a:prstGeom prst="rect">
            <a:avLst/>
          </a:prstGeom>
          <a:noFill/>
          <a:ln/>
        </p:spPr>
        <p:txBody>
          <a:bodyPr wrap="square" lIns="0" tIns="0" rIns="0" bIns="0" rtlCol="0" anchor="ctr"/>
          <a:lstStyle/>
          <a:p>
            <a:pPr indent="0" marL="0">
              <a:buNone/>
            </a:pPr>
            <a:r>
              <a:rPr lang="en-US" sz="1250" b="1" dirty="0">
                <a:solidFill>
                  <a:srgbClr val="0B2E3B"/>
                </a:solidFill>
                <a:latin typeface="Calibri" pitchFamily="34" charset="0"/>
                <a:ea typeface="Calibri" pitchFamily="34" charset="-122"/>
                <a:cs typeface="Calibri" pitchFamily="34" charset="-120"/>
              </a:rPr>
              <a:t>MLP</a:t>
            </a:r>
            <a:endParaRPr lang="en-US" sz="1250" dirty="0"/>
          </a:p>
        </p:txBody>
      </p:sp>
      <p:sp>
        <p:nvSpPr>
          <p:cNvPr id="24" name="Text 22"/>
          <p:cNvSpPr/>
          <p:nvPr/>
        </p:nvSpPr>
        <p:spPr>
          <a:xfrm>
            <a:off x="3054096" y="4041648"/>
            <a:ext cx="3145536" cy="475488"/>
          </a:xfrm>
          <a:prstGeom prst="rect">
            <a:avLst/>
          </a:prstGeom>
          <a:noFill/>
          <a:ln/>
        </p:spPr>
        <p:txBody>
          <a:bodyPr wrap="square" lIns="0" tIns="0" rIns="0" bIns="0" rtlCol="0" anchor="ctr"/>
          <a:lstStyle/>
          <a:p>
            <a:pPr indent="0" marL="0">
              <a:buNone/>
            </a:pPr>
            <a:r>
              <a:rPr lang="en-US" sz="1000" dirty="0">
                <a:solidFill>
                  <a:srgbClr val="34525E"/>
                </a:solidFill>
                <a:latin typeface="Courier New" pitchFamily="34" charset="0"/>
                <a:ea typeface="Courier New" pitchFamily="34" charset="-122"/>
                <a:cs typeface="Courier New" pitchFamily="34" charset="-120"/>
              </a:rPr>
              <a:t>none available — judged on ranking</a:t>
            </a:r>
            <a:endParaRPr lang="en-US" sz="1000" dirty="0"/>
          </a:p>
        </p:txBody>
      </p:sp>
      <p:sp>
        <p:nvSpPr>
          <p:cNvPr id="25" name="Shape 23"/>
          <p:cNvSpPr/>
          <p:nvPr/>
        </p:nvSpPr>
        <p:spPr>
          <a:xfrm>
            <a:off x="6620256" y="1773936"/>
            <a:ext cx="5010912" cy="2139696"/>
          </a:xfrm>
          <a:prstGeom prst="roundRect">
            <a:avLst>
              <a:gd name="adj" fmla="val 3419"/>
            </a:avLst>
          </a:prstGeom>
          <a:solidFill>
            <a:srgbClr val="E2F0E9"/>
          </a:solidFill>
          <a:ln w="12700">
            <a:solidFill>
              <a:srgbClr val="E2F0E9"/>
            </a:solidFill>
            <a:prstDash val="solid"/>
          </a:ln>
        </p:spPr>
      </p:sp>
      <p:sp>
        <p:nvSpPr>
          <p:cNvPr id="26" name="Text 24"/>
          <p:cNvSpPr/>
          <p:nvPr/>
        </p:nvSpPr>
        <p:spPr>
          <a:xfrm>
            <a:off x="6912864" y="1975104"/>
            <a:ext cx="4425696" cy="329184"/>
          </a:xfrm>
          <a:prstGeom prst="rect">
            <a:avLst/>
          </a:prstGeom>
          <a:noFill/>
          <a:ln/>
        </p:spPr>
        <p:txBody>
          <a:bodyPr wrap="square" lIns="0" tIns="0" rIns="0" bIns="0" rtlCol="0" anchor="ctr"/>
          <a:lstStyle/>
          <a:p>
            <a:pPr indent="0" marL="0">
              <a:buNone/>
            </a:pPr>
            <a:r>
              <a:rPr lang="en-US" sz="1500" b="1" dirty="0">
                <a:solidFill>
                  <a:srgbClr val="1F5F44"/>
                </a:solidFill>
                <a:latin typeface="Cambria" pitchFamily="34" charset="0"/>
                <a:ea typeface="Cambria" pitchFamily="34" charset="-122"/>
                <a:cs typeface="Cambria" pitchFamily="34" charset="-120"/>
              </a:rPr>
              <a:t>SMOTE was measured, not assumed away</a:t>
            </a:r>
            <a:endParaRPr lang="en-US" sz="1500" dirty="0"/>
          </a:p>
        </p:txBody>
      </p:sp>
      <p:sp>
        <p:nvSpPr>
          <p:cNvPr id="27" name="Text 25"/>
          <p:cNvSpPr/>
          <p:nvPr/>
        </p:nvSpPr>
        <p:spPr>
          <a:xfrm>
            <a:off x="6912864" y="2359152"/>
            <a:ext cx="4425696" cy="1371600"/>
          </a:xfrm>
          <a:prstGeom prst="rect">
            <a:avLst/>
          </a:prstGeom>
          <a:noFill/>
          <a:ln/>
        </p:spPr>
        <p:txBody>
          <a:bodyPr wrap="square" lIns="0" tIns="0" rIns="0" bIns="0" rtlCol="0" anchor="ctr"/>
          <a:lstStyle/>
          <a:p>
            <a:pPr indent="0" marL="0">
              <a:lnSpc>
                <a:spcPts val="1700"/>
              </a:lnSpc>
              <a:buNone/>
            </a:pPr>
            <a:r>
              <a:rPr lang="en-US" sz="1250" dirty="0">
                <a:solidFill>
                  <a:srgbClr val="1D4D39"/>
                </a:solidFill>
                <a:latin typeface="Calibri" pitchFamily="34" charset="0"/>
                <a:ea typeface="Calibri" pitchFamily="34" charset="-122"/>
                <a:cs typeface="Calibri" pitchFamily="34" charset="-120"/>
              </a:rPr>
              <a:t>Oversampling inside each CV fold scored 0.2194 PR-AUC against 0.2200 for class weighting — no better, and it adds a resampling step to the serving path.</a:t>
            </a:r>
            <a:endParaRPr lang="en-US" sz="1250" dirty="0"/>
          </a:p>
          <a:p>
            <a:pPr indent="0" marL="0">
              <a:lnSpc>
                <a:spcPts val="1700"/>
              </a:lnSpc>
              <a:buNone/>
            </a:pPr>
            <a:endParaRPr lang="en-US" sz="1250" dirty="0"/>
          </a:p>
          <a:p>
            <a:pPr indent="0" marL="0">
              <a:lnSpc>
                <a:spcPts val="1700"/>
              </a:lnSpc>
              <a:buNone/>
            </a:pPr>
            <a:r>
              <a:rPr lang="en-US" sz="1250" dirty="0">
                <a:solidFill>
                  <a:srgbClr val="1D4D39"/>
                </a:solidFill>
                <a:latin typeface="Calibri" pitchFamily="34" charset="0"/>
                <a:ea typeface="Calibri" pitchFamily="34" charset="-122"/>
                <a:cs typeface="Calibri" pitchFamily="34" charset="-120"/>
              </a:rPr>
              <a:t>Class weighting kept on the evidence.</a:t>
            </a:r>
            <a:endParaRPr lang="en-US" sz="1250" dirty="0"/>
          </a:p>
        </p:txBody>
      </p:sp>
      <p:sp>
        <p:nvSpPr>
          <p:cNvPr id="28" name="Shape 26"/>
          <p:cNvSpPr/>
          <p:nvPr/>
        </p:nvSpPr>
        <p:spPr>
          <a:xfrm>
            <a:off x="6620256" y="4059936"/>
            <a:ext cx="5010912" cy="1572768"/>
          </a:xfrm>
          <a:prstGeom prst="roundRect">
            <a:avLst>
              <a:gd name="adj" fmla="val 4651"/>
            </a:avLst>
          </a:prstGeom>
          <a:solidFill>
            <a:srgbClr val="FBE4E0"/>
          </a:solidFill>
          <a:ln w="12700">
            <a:solidFill>
              <a:srgbClr val="FBE4E0"/>
            </a:solidFill>
            <a:prstDash val="solid"/>
          </a:ln>
        </p:spPr>
      </p:sp>
      <p:sp>
        <p:nvSpPr>
          <p:cNvPr id="29" name="Text 27"/>
          <p:cNvSpPr/>
          <p:nvPr/>
        </p:nvSpPr>
        <p:spPr>
          <a:xfrm>
            <a:off x="6912864" y="4242816"/>
            <a:ext cx="4425696" cy="310896"/>
          </a:xfrm>
          <a:prstGeom prst="rect">
            <a:avLst/>
          </a:prstGeom>
          <a:noFill/>
          <a:ln/>
        </p:spPr>
        <p:txBody>
          <a:bodyPr wrap="square" lIns="0" tIns="0" rIns="0" bIns="0" rtlCol="0" anchor="ctr"/>
          <a:lstStyle/>
          <a:p>
            <a:pPr indent="0" marL="0">
              <a:buNone/>
            </a:pPr>
            <a:r>
              <a:rPr lang="en-US" sz="1500" b="1" dirty="0">
                <a:solidFill>
                  <a:srgbClr val="9E3423"/>
                </a:solidFill>
                <a:latin typeface="Cambria" pitchFamily="34" charset="0"/>
                <a:ea typeface="Cambria" pitchFamily="34" charset="-122"/>
                <a:cs typeface="Cambria" pitchFamily="34" charset="-120"/>
              </a:rPr>
              <a:t>The cost of class weighting</a:t>
            </a:r>
            <a:endParaRPr lang="en-US" sz="1500" dirty="0"/>
          </a:p>
        </p:txBody>
      </p:sp>
      <p:sp>
        <p:nvSpPr>
          <p:cNvPr id="30" name="Text 28"/>
          <p:cNvSpPr/>
          <p:nvPr/>
        </p:nvSpPr>
        <p:spPr>
          <a:xfrm>
            <a:off x="6912864" y="4590288"/>
            <a:ext cx="4425696" cy="914400"/>
          </a:xfrm>
          <a:prstGeom prst="rect">
            <a:avLst/>
          </a:prstGeom>
          <a:noFill/>
          <a:ln/>
        </p:spPr>
        <p:txBody>
          <a:bodyPr wrap="square" lIns="0" tIns="0" rIns="0" bIns="0" rtlCol="0" anchor="ctr"/>
          <a:lstStyle/>
          <a:p>
            <a:pPr indent="0" marL="0">
              <a:lnSpc>
                <a:spcPts val="1700"/>
              </a:lnSpc>
              <a:buNone/>
            </a:pPr>
            <a:r>
              <a:rPr lang="en-US" sz="1250" dirty="0">
                <a:solidFill>
                  <a:srgbClr val="7A2A1C"/>
                </a:solidFill>
                <a:latin typeface="Calibri" pitchFamily="34" charset="0"/>
                <a:ea typeface="Calibri" pitchFamily="34" charset="-122"/>
                <a:cs typeface="Calibri" pitchFamily="34" charset="-120"/>
              </a:rPr>
              <a:t>It deliberately distorts predicted probabilities upward. Fine for ranking, wrong for a number a clinician reads — which is why calibration is a separate step.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COMPARATIVE ANALYSIS</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Six models, one selection rule</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5-fold GroupKFold on training patients for selection; a single held-out test evaluation at the end.</a:t>
            </a:r>
            <a:endParaRPr lang="en-US" sz="1250" dirty="0"/>
          </a:p>
        </p:txBody>
      </p:sp>
      <p:graphicFrame>
        <p:nvGraphicFramePr>
          <p:cNvPr id="5" name="Chart 0" descr=""/>
          <p:cNvGraphicFramePr/>
          <p:nvPr/>
        </p:nvGraphicFramePr>
        <p:xfrm>
          <a:off x="566928" y="1737360"/>
          <a:ext cx="5943600" cy="3877056"/>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03136" y="1737360"/>
            <a:ext cx="4828032" cy="1901952"/>
          </a:xfrm>
          <a:prstGeom prst="roundRect">
            <a:avLst>
              <a:gd name="adj" fmla="val 3846"/>
            </a:avLst>
          </a:prstGeom>
          <a:solidFill>
            <a:srgbClr val="EEF4F6"/>
          </a:solidFill>
          <a:ln w="12700">
            <a:solidFill>
              <a:srgbClr val="EEF4F6"/>
            </a:solidFill>
            <a:prstDash val="solid"/>
          </a:ln>
        </p:spPr>
      </p:sp>
      <p:sp>
        <p:nvSpPr>
          <p:cNvPr id="7" name="Text 4"/>
          <p:cNvSpPr/>
          <p:nvPr/>
        </p:nvSpPr>
        <p:spPr>
          <a:xfrm>
            <a:off x="7077456" y="1901952"/>
            <a:ext cx="4279392" cy="329184"/>
          </a:xfrm>
          <a:prstGeom prst="rect">
            <a:avLst/>
          </a:prstGeom>
          <a:noFill/>
          <a:ln/>
        </p:spPr>
        <p:txBody>
          <a:bodyPr wrap="square" lIns="0" tIns="0" rIns="0" bIns="0" rtlCol="0" anchor="ctr"/>
          <a:lstStyle/>
          <a:p>
            <a:pPr indent="0" marL="0">
              <a:buNone/>
            </a:pPr>
            <a:r>
              <a:rPr lang="en-US" sz="1700" b="1" dirty="0">
                <a:solidFill>
                  <a:srgbClr val="0B2E3B"/>
                </a:solidFill>
                <a:latin typeface="Cambria" pitchFamily="34" charset="0"/>
                <a:ea typeface="Cambria" pitchFamily="34" charset="-122"/>
                <a:cs typeface="Cambria" pitchFamily="34" charset="-120"/>
              </a:rPr>
              <a:t>Selected: LightGBM</a:t>
            </a:r>
            <a:endParaRPr lang="en-US" sz="1700" dirty="0"/>
          </a:p>
        </p:txBody>
      </p:sp>
      <p:sp>
        <p:nvSpPr>
          <p:cNvPr id="8" name="Text 5"/>
          <p:cNvSpPr/>
          <p:nvPr/>
        </p:nvSpPr>
        <p:spPr>
          <a:xfrm>
            <a:off x="7077456" y="2286000"/>
            <a:ext cx="4279392" cy="1097280"/>
          </a:xfrm>
          <a:prstGeom prst="rect">
            <a:avLst/>
          </a:prstGeom>
          <a:noFill/>
          <a:ln/>
        </p:spPr>
        <p:txBody>
          <a:bodyPr wrap="square" lIns="0" tIns="0" rIns="0" bIns="0" rtlCol="0" anchor="ctr"/>
          <a:lstStyle/>
          <a:p>
            <a:pPr indent="0" marL="0">
              <a:lnSpc>
                <a:spcPts val="1700"/>
              </a:lnSpc>
              <a:buNone/>
            </a:pPr>
            <a:r>
              <a:rPr lang="en-US" sz="1250" dirty="0">
                <a:solidFill>
                  <a:srgbClr val="34525E"/>
                </a:solidFill>
                <a:latin typeface="Calibri" pitchFamily="34" charset="0"/>
                <a:ea typeface="Calibri" pitchFamily="34" charset="-122"/>
                <a:cs typeface="Calibri" pitchFamily="34" charset="-120"/>
              </a:rPr>
              <a:t>Test PR-AUC 0.238 · ROC-AUC 0.684 · recall 40.2% at 20% capacity. Chosen on validation PR-AUC, before the test set was read.</a:t>
            </a:r>
            <a:endParaRPr lang="en-US" sz="1250" dirty="0"/>
          </a:p>
        </p:txBody>
      </p:sp>
      <p:sp>
        <p:nvSpPr>
          <p:cNvPr id="9" name="Shape 6"/>
          <p:cNvSpPr/>
          <p:nvPr/>
        </p:nvSpPr>
        <p:spPr>
          <a:xfrm>
            <a:off x="6803136" y="3785616"/>
            <a:ext cx="4828032" cy="1828800"/>
          </a:xfrm>
          <a:prstGeom prst="roundRect">
            <a:avLst>
              <a:gd name="adj" fmla="val 4000"/>
            </a:avLst>
          </a:prstGeom>
          <a:solidFill>
            <a:srgbClr val="FFF3E6"/>
          </a:solidFill>
          <a:ln w="12700">
            <a:solidFill>
              <a:srgbClr val="FFF3E6"/>
            </a:solidFill>
            <a:prstDash val="solid"/>
          </a:ln>
        </p:spPr>
      </p:sp>
      <p:sp>
        <p:nvSpPr>
          <p:cNvPr id="10" name="Text 7"/>
          <p:cNvSpPr/>
          <p:nvPr/>
        </p:nvSpPr>
        <p:spPr>
          <a:xfrm>
            <a:off x="7077456" y="3950208"/>
            <a:ext cx="4279392" cy="292608"/>
          </a:xfrm>
          <a:prstGeom prst="rect">
            <a:avLst/>
          </a:prstGeom>
          <a:noFill/>
          <a:ln/>
        </p:spPr>
        <p:txBody>
          <a:bodyPr wrap="square" lIns="0" tIns="0" rIns="0" bIns="0" rtlCol="0" anchor="ctr"/>
          <a:lstStyle/>
          <a:p>
            <a:pPr indent="0" marL="0">
              <a:buNone/>
            </a:pPr>
            <a:r>
              <a:rPr lang="en-US" sz="1500" b="1" dirty="0">
                <a:solidFill>
                  <a:srgbClr val="8A5217"/>
                </a:solidFill>
                <a:latin typeface="Cambria" pitchFamily="34" charset="0"/>
                <a:ea typeface="Cambria" pitchFamily="34" charset="-122"/>
                <a:cs typeface="Cambria" pitchFamily="34" charset="-120"/>
              </a:rPr>
              <a:t>Read honestly</a:t>
            </a:r>
            <a:endParaRPr lang="en-US" sz="1500" dirty="0"/>
          </a:p>
        </p:txBody>
      </p:sp>
      <p:sp>
        <p:nvSpPr>
          <p:cNvPr id="11" name="Text 8"/>
          <p:cNvSpPr/>
          <p:nvPr/>
        </p:nvSpPr>
        <p:spPr>
          <a:xfrm>
            <a:off x="7077456" y="4297680"/>
            <a:ext cx="4279392" cy="1188720"/>
          </a:xfrm>
          <a:prstGeom prst="rect">
            <a:avLst/>
          </a:prstGeom>
          <a:noFill/>
          <a:ln/>
        </p:spPr>
        <p:txBody>
          <a:bodyPr wrap="square" lIns="0" tIns="0" rIns="0" bIns="0" rtlCol="0" anchor="ctr"/>
          <a:lstStyle/>
          <a:p>
            <a:pPr indent="0" marL="0">
              <a:lnSpc>
                <a:spcPts val="1600"/>
              </a:lnSpc>
              <a:buNone/>
            </a:pPr>
            <a:r>
              <a:rPr lang="en-US" sz="1200" dirty="0">
                <a:solidFill>
                  <a:srgbClr val="6B4213"/>
                </a:solidFill>
                <a:latin typeface="Calibri" pitchFamily="34" charset="0"/>
                <a:ea typeface="Calibri" pitchFamily="34" charset="-122"/>
                <a:cs typeface="Calibri" pitchFamily="34" charset="-120"/>
              </a:rPr>
              <a:t>XGBoost is 0.0003 ROC-AUC behind — inside a fold-to-fold standard deviation of 0.006. The defensible claim is that boosting beats linear and bagged models by ~0.02 PR-AUC, and the two boosters are indistinguishable.</a:t>
            </a:r>
            <a:endParaRPr lang="en-US" sz="1200" dirty="0"/>
          </a:p>
        </p:txBody>
      </p:sp>
      <p:sp>
        <p:nvSpPr>
          <p:cNvPr id="12" name="Text 9"/>
          <p:cNvSpPr/>
          <p:nvPr/>
        </p:nvSpPr>
        <p:spPr>
          <a:xfrm>
            <a:off x="566928" y="6163056"/>
            <a:ext cx="11057839" cy="237744"/>
          </a:xfrm>
          <a:prstGeom prst="rect">
            <a:avLst/>
          </a:prstGeom>
          <a:noFill/>
          <a:ln/>
        </p:spPr>
        <p:txBody>
          <a:bodyPr wrap="square" lIns="0" tIns="0" rIns="0" bIns="0" rtlCol="0" anchor="ctr"/>
          <a:lstStyle/>
          <a:p>
            <a:pPr indent="0" marL="0">
              <a:buNone/>
            </a:pPr>
            <a:r>
              <a:rPr lang="en-US" sz="950" i="1" dirty="0">
                <a:solidFill>
                  <a:srgbClr val="9AB0B9"/>
                </a:solidFill>
                <a:latin typeface="Calibri" pitchFamily="34" charset="0"/>
                <a:ea typeface="Calibri" pitchFamily="34" charset="-122"/>
                <a:cs typeface="Calibri" pitchFamily="34" charset="-120"/>
              </a:rPr>
              <a:t>Logistic regression reaches 0.213 — 89% of the boosted result from a fully interpretable model.</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3B"/>
        </a:solidFill>
      </p:bgPr>
    </p:bg>
    <p:spTree>
      <p:nvGrpSpPr>
        <p:cNvPr id="1" name=""/>
        <p:cNvGrpSpPr/>
        <p:nvPr/>
      </p:nvGrpSpPr>
      <p:grpSpPr>
        <a:xfrm>
          <a:off x="0" y="0"/>
          <a:ext cx="0" cy="0"/>
          <a:chOff x="0" y="0"/>
          <a:chExt cx="0" cy="0"/>
        </a:xfrm>
      </p:grpSpPr>
      <p:sp>
        <p:nvSpPr>
          <p:cNvPr id="2" name="Text 0"/>
          <p:cNvSpPr/>
          <p:nvPr/>
        </p:nvSpPr>
        <p:spPr>
          <a:xfrm>
            <a:off x="566928" y="658368"/>
            <a:ext cx="11057839" cy="274320"/>
          </a:xfrm>
          <a:prstGeom prst="rect">
            <a:avLst/>
          </a:prstGeom>
          <a:noFill/>
          <a:ln/>
        </p:spPr>
        <p:txBody>
          <a:bodyPr wrap="square" lIns="0" tIns="0" rIns="0" bIns="0" rtlCol="0" anchor="ctr"/>
          <a:lstStyle/>
          <a:p>
            <a:pPr indent="0" marL="0">
              <a:buNone/>
            </a:pPr>
            <a:r>
              <a:rPr lang="en-US" sz="1100" b="1" spc="240" kern="0" dirty="0">
                <a:solidFill>
                  <a:srgbClr val="2E8FA8"/>
                </a:solidFill>
                <a:latin typeface="Calibri" pitchFamily="34" charset="0"/>
                <a:ea typeface="Calibri" pitchFamily="34" charset="-122"/>
                <a:cs typeface="Calibri" pitchFamily="34" charset="-120"/>
              </a:rPr>
              <a:t>THE METRIC TRAP</a:t>
            </a:r>
            <a:endParaRPr lang="en-US" sz="1100" dirty="0"/>
          </a:p>
        </p:txBody>
      </p:sp>
      <p:sp>
        <p:nvSpPr>
          <p:cNvPr id="3" name="Text 1"/>
          <p:cNvSpPr/>
          <p:nvPr/>
        </p:nvSpPr>
        <p:spPr>
          <a:xfrm>
            <a:off x="566928" y="1042416"/>
            <a:ext cx="10607040" cy="1371600"/>
          </a:xfrm>
          <a:prstGeom prst="rect">
            <a:avLst/>
          </a:prstGeom>
          <a:noFill/>
          <a:ln/>
        </p:spPr>
        <p:txBody>
          <a:bodyPr wrap="square" lIns="0" tIns="0" rIns="0" bIns="0" rtlCol="0" anchor="ctr"/>
          <a:lstStyle/>
          <a:p>
            <a:pPr indent="0" marL="0">
              <a:lnSpc>
                <a:spcPts val="4400"/>
              </a:lnSpc>
              <a:buNone/>
            </a:pPr>
            <a:r>
              <a:rPr lang="en-US" sz="3300" b="1" dirty="0">
                <a:solidFill>
                  <a:srgbClr val="FFFFFF"/>
                </a:solidFill>
                <a:latin typeface="Cambria" pitchFamily="34" charset="0"/>
                <a:ea typeface="Cambria" pitchFamily="34" charset="-122"/>
                <a:cs typeface="Cambria" pitchFamily="34" charset="-120"/>
              </a:rPr>
              <a:t>Our model is 78.2% accurate.</a:t>
            </a:r>
            <a:endParaRPr lang="en-US" sz="3300" dirty="0"/>
          </a:p>
          <a:p>
            <a:pPr indent="0" marL="0">
              <a:lnSpc>
                <a:spcPts val="4400"/>
              </a:lnSpc>
              <a:buNone/>
            </a:pPr>
            <a:r>
              <a:rPr lang="en-US" sz="3300" b="1" dirty="0">
                <a:solidFill>
                  <a:srgbClr val="FFFFFF"/>
                </a:solidFill>
                <a:latin typeface="Cambria" pitchFamily="34" charset="0"/>
                <a:ea typeface="Cambria" pitchFamily="34" charset="-122"/>
                <a:cs typeface="Cambria" pitchFamily="34" charset="-120"/>
              </a:rPr>
              <a:t>A model that does nothing is 88.6% accurate.</a:t>
            </a:r>
            <a:endParaRPr lang="en-US" sz="3300" dirty="0"/>
          </a:p>
        </p:txBody>
      </p:sp>
      <p:sp>
        <p:nvSpPr>
          <p:cNvPr id="4" name="Shape 2"/>
          <p:cNvSpPr/>
          <p:nvPr/>
        </p:nvSpPr>
        <p:spPr>
          <a:xfrm>
            <a:off x="566928" y="2743200"/>
            <a:ext cx="3474720" cy="1920240"/>
          </a:xfrm>
          <a:prstGeom prst="roundRect">
            <a:avLst>
              <a:gd name="adj" fmla="val 3810"/>
            </a:avLst>
          </a:prstGeom>
          <a:solidFill>
            <a:srgbClr val="16404F"/>
          </a:solidFill>
          <a:ln w="12700">
            <a:solidFill>
              <a:srgbClr val="333333"/>
            </a:solidFill>
            <a:prstDash val="solid"/>
          </a:ln>
        </p:spPr>
      </p:sp>
      <p:sp>
        <p:nvSpPr>
          <p:cNvPr id="5" name="Text 3"/>
          <p:cNvSpPr/>
          <p:nvPr/>
        </p:nvSpPr>
        <p:spPr>
          <a:xfrm>
            <a:off x="841248" y="2926080"/>
            <a:ext cx="2926080" cy="658368"/>
          </a:xfrm>
          <a:prstGeom prst="rect">
            <a:avLst/>
          </a:prstGeom>
          <a:noFill/>
          <a:ln/>
        </p:spPr>
        <p:txBody>
          <a:bodyPr wrap="square" lIns="0" tIns="0" rIns="0" bIns="0" rtlCol="0" anchor="ctr"/>
          <a:lstStyle/>
          <a:p>
            <a:pPr indent="0" marL="0">
              <a:buNone/>
            </a:pPr>
            <a:r>
              <a:rPr lang="en-US" sz="3400" b="1" dirty="0">
                <a:solidFill>
                  <a:srgbClr val="F2634A"/>
                </a:solidFill>
                <a:latin typeface="Cambria" pitchFamily="34" charset="0"/>
                <a:ea typeface="Cambria" pitchFamily="34" charset="-122"/>
                <a:cs typeface="Cambria" pitchFamily="34" charset="-120"/>
              </a:rPr>
              <a:t>78.2%</a:t>
            </a:r>
            <a:endParaRPr lang="en-US" sz="3400" dirty="0"/>
          </a:p>
        </p:txBody>
      </p:sp>
      <p:sp>
        <p:nvSpPr>
          <p:cNvPr id="6" name="Text 4"/>
          <p:cNvSpPr/>
          <p:nvPr/>
        </p:nvSpPr>
        <p:spPr>
          <a:xfrm>
            <a:off x="841248" y="3602736"/>
            <a:ext cx="292608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our model</a:t>
            </a:r>
            <a:endParaRPr lang="en-US" sz="1250" dirty="0"/>
          </a:p>
        </p:txBody>
      </p:sp>
      <p:sp>
        <p:nvSpPr>
          <p:cNvPr id="7" name="Text 5"/>
          <p:cNvSpPr/>
          <p:nvPr/>
        </p:nvSpPr>
        <p:spPr>
          <a:xfrm>
            <a:off x="841248" y="3931920"/>
            <a:ext cx="2926080" cy="566928"/>
          </a:xfrm>
          <a:prstGeom prst="rect">
            <a:avLst/>
          </a:prstGeom>
          <a:noFill/>
          <a:ln/>
        </p:spPr>
        <p:txBody>
          <a:bodyPr wrap="square" lIns="0" tIns="0" rIns="0" bIns="0" rtlCol="0" anchor="ctr"/>
          <a:lstStyle/>
          <a:p>
            <a:pPr indent="0" marL="0">
              <a:lnSpc>
                <a:spcPts val="1500"/>
              </a:lnSpc>
              <a:buNone/>
            </a:pPr>
            <a:r>
              <a:rPr lang="en-US" sz="1150" dirty="0">
                <a:solidFill>
                  <a:srgbClr val="C9DCE3"/>
                </a:solidFill>
                <a:latin typeface="Calibri" pitchFamily="34" charset="0"/>
                <a:ea typeface="Calibri" pitchFamily="34" charset="-122"/>
                <a:cs typeface="Calibri" pitchFamily="34" charset="-120"/>
              </a:rPr>
              <a:t>40.2% of readmissions caught</a:t>
            </a:r>
            <a:endParaRPr lang="en-US" sz="1150" dirty="0"/>
          </a:p>
        </p:txBody>
      </p:sp>
      <p:sp>
        <p:nvSpPr>
          <p:cNvPr id="8" name="Shape 6"/>
          <p:cNvSpPr/>
          <p:nvPr/>
        </p:nvSpPr>
        <p:spPr>
          <a:xfrm>
            <a:off x="4279392" y="2743200"/>
            <a:ext cx="3474720" cy="1920240"/>
          </a:xfrm>
          <a:prstGeom prst="roundRect">
            <a:avLst>
              <a:gd name="adj" fmla="val 3810"/>
            </a:avLst>
          </a:prstGeom>
          <a:solidFill>
            <a:srgbClr val="16404F"/>
          </a:solidFill>
          <a:ln w="12700">
            <a:solidFill>
              <a:srgbClr val="333333"/>
            </a:solidFill>
            <a:prstDash val="solid"/>
          </a:ln>
        </p:spPr>
      </p:sp>
      <p:sp>
        <p:nvSpPr>
          <p:cNvPr id="9" name="Text 7"/>
          <p:cNvSpPr/>
          <p:nvPr/>
        </p:nvSpPr>
        <p:spPr>
          <a:xfrm>
            <a:off x="4553712" y="2926080"/>
            <a:ext cx="2926080" cy="658368"/>
          </a:xfrm>
          <a:prstGeom prst="rect">
            <a:avLst/>
          </a:prstGeom>
          <a:noFill/>
          <a:ln/>
        </p:spPr>
        <p:txBody>
          <a:bodyPr wrap="square" lIns="0" tIns="0" rIns="0" bIns="0" rtlCol="0" anchor="ctr"/>
          <a:lstStyle/>
          <a:p>
            <a:pPr indent="0" marL="0">
              <a:buNone/>
            </a:pPr>
            <a:r>
              <a:rPr lang="en-US" sz="3400" b="1" dirty="0">
                <a:solidFill>
                  <a:srgbClr val="6E8B96"/>
                </a:solidFill>
                <a:latin typeface="Cambria" pitchFamily="34" charset="0"/>
                <a:ea typeface="Cambria" pitchFamily="34" charset="-122"/>
                <a:cs typeface="Cambria" pitchFamily="34" charset="-120"/>
              </a:rPr>
              <a:t>88.6%</a:t>
            </a:r>
            <a:endParaRPr lang="en-US" sz="3400" dirty="0"/>
          </a:p>
        </p:txBody>
      </p:sp>
      <p:sp>
        <p:nvSpPr>
          <p:cNvPr id="10" name="Text 8"/>
          <p:cNvSpPr/>
          <p:nvPr/>
        </p:nvSpPr>
        <p:spPr>
          <a:xfrm>
            <a:off x="4553712" y="3602736"/>
            <a:ext cx="292608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“nobody is readmitted”</a:t>
            </a:r>
            <a:endParaRPr lang="en-US" sz="1250" dirty="0"/>
          </a:p>
        </p:txBody>
      </p:sp>
      <p:sp>
        <p:nvSpPr>
          <p:cNvPr id="11" name="Text 9"/>
          <p:cNvSpPr/>
          <p:nvPr/>
        </p:nvSpPr>
        <p:spPr>
          <a:xfrm>
            <a:off x="4553712" y="3931920"/>
            <a:ext cx="2926080" cy="566928"/>
          </a:xfrm>
          <a:prstGeom prst="rect">
            <a:avLst/>
          </a:prstGeom>
          <a:noFill/>
          <a:ln/>
        </p:spPr>
        <p:txBody>
          <a:bodyPr wrap="square" lIns="0" tIns="0" rIns="0" bIns="0" rtlCol="0" anchor="ctr"/>
          <a:lstStyle/>
          <a:p>
            <a:pPr indent="0" marL="0">
              <a:lnSpc>
                <a:spcPts val="1500"/>
              </a:lnSpc>
              <a:buNone/>
            </a:pPr>
            <a:r>
              <a:rPr lang="en-US" sz="1150" dirty="0">
                <a:solidFill>
                  <a:srgbClr val="C9DCE3"/>
                </a:solidFill>
                <a:latin typeface="Calibri" pitchFamily="34" charset="0"/>
                <a:ea typeface="Calibri" pitchFamily="34" charset="-122"/>
                <a:cs typeface="Calibri" pitchFamily="34" charset="-120"/>
              </a:rPr>
              <a:t>0% caught — flags no one</a:t>
            </a:r>
            <a:endParaRPr lang="en-US" sz="1150" dirty="0"/>
          </a:p>
        </p:txBody>
      </p:sp>
      <p:sp>
        <p:nvSpPr>
          <p:cNvPr id="12" name="Shape 10"/>
          <p:cNvSpPr/>
          <p:nvPr/>
        </p:nvSpPr>
        <p:spPr>
          <a:xfrm>
            <a:off x="7991856" y="2743200"/>
            <a:ext cx="3474720" cy="1920240"/>
          </a:xfrm>
          <a:prstGeom prst="roundRect">
            <a:avLst>
              <a:gd name="adj" fmla="val 3810"/>
            </a:avLst>
          </a:prstGeom>
          <a:solidFill>
            <a:srgbClr val="16404F"/>
          </a:solidFill>
          <a:ln w="12700">
            <a:solidFill>
              <a:srgbClr val="333333"/>
            </a:solidFill>
            <a:prstDash val="solid"/>
          </a:ln>
        </p:spPr>
      </p:sp>
      <p:sp>
        <p:nvSpPr>
          <p:cNvPr id="13" name="Text 11"/>
          <p:cNvSpPr/>
          <p:nvPr/>
        </p:nvSpPr>
        <p:spPr>
          <a:xfrm>
            <a:off x="8266176" y="2926080"/>
            <a:ext cx="2926080" cy="658368"/>
          </a:xfrm>
          <a:prstGeom prst="rect">
            <a:avLst/>
          </a:prstGeom>
          <a:noFill/>
          <a:ln/>
        </p:spPr>
        <p:txBody>
          <a:bodyPr wrap="square" lIns="0" tIns="0" rIns="0" bIns="0" rtlCol="0" anchor="ctr"/>
          <a:lstStyle/>
          <a:p>
            <a:pPr indent="0" marL="0">
              <a:buNone/>
            </a:pPr>
            <a:r>
              <a:rPr lang="en-US" sz="3400" b="1" dirty="0">
                <a:solidFill>
                  <a:srgbClr val="6E8B96"/>
                </a:solidFill>
                <a:latin typeface="Cambria" pitchFamily="34" charset="0"/>
                <a:ea typeface="Cambria" pitchFamily="34" charset="-122"/>
                <a:cs typeface="Cambria" pitchFamily="34" charset="-120"/>
              </a:rPr>
              <a:t>88.8%</a:t>
            </a:r>
            <a:endParaRPr lang="en-US" sz="3400" dirty="0"/>
          </a:p>
        </p:txBody>
      </p:sp>
      <p:sp>
        <p:nvSpPr>
          <p:cNvPr id="14" name="Text 12"/>
          <p:cNvSpPr/>
          <p:nvPr/>
        </p:nvSpPr>
        <p:spPr>
          <a:xfrm>
            <a:off x="8266176" y="3602736"/>
            <a:ext cx="292608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best accuracy at any threshold</a:t>
            </a:r>
            <a:endParaRPr lang="en-US" sz="1250" dirty="0"/>
          </a:p>
        </p:txBody>
      </p:sp>
      <p:sp>
        <p:nvSpPr>
          <p:cNvPr id="15" name="Text 13"/>
          <p:cNvSpPr/>
          <p:nvPr/>
        </p:nvSpPr>
        <p:spPr>
          <a:xfrm>
            <a:off x="8266176" y="3931920"/>
            <a:ext cx="2926080" cy="566928"/>
          </a:xfrm>
          <a:prstGeom prst="rect">
            <a:avLst/>
          </a:prstGeom>
          <a:noFill/>
          <a:ln/>
        </p:spPr>
        <p:txBody>
          <a:bodyPr wrap="square" lIns="0" tIns="0" rIns="0" bIns="0" rtlCol="0" anchor="ctr"/>
          <a:lstStyle/>
          <a:p>
            <a:pPr indent="0" marL="0">
              <a:lnSpc>
                <a:spcPts val="1500"/>
              </a:lnSpc>
              <a:buNone/>
            </a:pPr>
            <a:r>
              <a:rPr lang="en-US" sz="1150" dirty="0">
                <a:solidFill>
                  <a:srgbClr val="C9DCE3"/>
                </a:solidFill>
                <a:latin typeface="Calibri" pitchFamily="34" charset="0"/>
                <a:ea typeface="Calibri" pitchFamily="34" charset="-122"/>
                <a:cs typeface="Calibri" pitchFamily="34" charset="-120"/>
              </a:rPr>
              <a:t>flags 0.4% of patients</a:t>
            </a:r>
            <a:endParaRPr lang="en-US" sz="1150" dirty="0"/>
          </a:p>
        </p:txBody>
      </p:sp>
      <p:sp>
        <p:nvSpPr>
          <p:cNvPr id="16" name="Text 14"/>
          <p:cNvSpPr/>
          <p:nvPr/>
        </p:nvSpPr>
        <p:spPr>
          <a:xfrm>
            <a:off x="566928" y="4974336"/>
            <a:ext cx="10607040" cy="603504"/>
          </a:xfrm>
          <a:prstGeom prst="rect">
            <a:avLst/>
          </a:prstGeom>
          <a:noFill/>
          <a:ln/>
        </p:spPr>
        <p:txBody>
          <a:bodyPr wrap="square" lIns="0" tIns="0" rIns="0" bIns="0" rtlCol="0" anchor="ctr"/>
          <a:lstStyle/>
          <a:p>
            <a:pPr indent="0" marL="0">
              <a:lnSpc>
                <a:spcPts val="1900"/>
              </a:lnSpc>
              <a:buNone/>
            </a:pPr>
            <a:r>
              <a:rPr lang="en-US" sz="1400" dirty="0">
                <a:solidFill>
                  <a:srgbClr val="C9DCE3"/>
                </a:solidFill>
                <a:latin typeface="Calibri" pitchFamily="34" charset="0"/>
                <a:ea typeface="Calibri" pitchFamily="34" charset="-122"/>
                <a:cs typeface="Calibri" pitchFamily="34" charset="-120"/>
              </a:rPr>
              <a:t>With an 11% positive rate, accuracy rewards inaction. Optimising it means optimising toward a model that never flags anyone — so nothing in this project was selected using it.</a:t>
            </a:r>
            <a:endParaRPr lang="en-US" sz="1400" dirty="0"/>
          </a:p>
        </p:txBody>
      </p:sp>
      <p:sp>
        <p:nvSpPr>
          <p:cNvPr id="17" name="Text 15"/>
          <p:cNvSpPr/>
          <p:nvPr/>
        </p:nvSpPr>
        <p:spPr>
          <a:xfrm>
            <a:off x="566928" y="5669280"/>
            <a:ext cx="10607040" cy="329184"/>
          </a:xfrm>
          <a:prstGeom prst="rect">
            <a:avLst/>
          </a:prstGeom>
          <a:noFill/>
          <a:ln/>
        </p:spPr>
        <p:txBody>
          <a:bodyPr wrap="square" lIns="0" tIns="0" rIns="0" bIns="0" rtlCol="0" anchor="ctr"/>
          <a:lstStyle/>
          <a:p>
            <a:pPr indent="0" marL="0">
              <a:buNone/>
            </a:pPr>
            <a:r>
              <a:rPr lang="en-US" sz="1250" i="1" dirty="0">
                <a:solidFill>
                  <a:srgbClr val="2E8FA8"/>
                </a:solidFill>
                <a:latin typeface="Calibri" pitchFamily="34" charset="0"/>
                <a:ea typeface="Calibri" pitchFamily="34" charset="-122"/>
                <a:cs typeface="Calibri" pitchFamily="34" charset="-120"/>
              </a:rPr>
              <a:t>This is also why the deployed threshold is 0.166, not 0.5 — at 0.5 the calibrated model flags zero patients.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CALIBRATION</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Making the number mean what it says</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Class weighting is what makes ranking work and probabilities wrong. Platt scaling fixes the probabilities without touching the ranking.</a:t>
            </a:r>
            <a:endParaRPr lang="en-US" sz="1250" dirty="0"/>
          </a:p>
        </p:txBody>
      </p:sp>
      <p:pic>
        <p:nvPicPr>
          <p:cNvPr id="5" name="Image 0" descr="/Users/Shikhar/ML Bubble hackathon/reports/figures/calibration.png">    </p:cNvPr>
          <p:cNvPicPr>
            <a:picLocks noChangeAspect="1"/>
          </p:cNvPicPr>
          <p:nvPr/>
        </p:nvPicPr>
        <p:blipFill>
          <a:blip r:embed="rId1"/>
          <a:stretch>
            <a:fillRect/>
          </a:stretch>
        </p:blipFill>
        <p:spPr>
          <a:xfrm>
            <a:off x="566928" y="1737360"/>
            <a:ext cx="4114800" cy="3877056"/>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01184" y="1883664"/>
          <a:ext cx="6729984" cy="914400"/>
        </p:xfrm>
        <a:graphic>
          <a:graphicData uri="http://schemas.openxmlformats.org/drawingml/2006/table">
            <a:tbl>
              <a:tblPr/>
              <a:tblGrid>
                <a:gridCol w="2286000"/>
                <a:gridCol w="1481328"/>
                <a:gridCol w="1481328"/>
                <a:gridCol w="1481328"/>
              </a:tblGrid>
              <a:tr h="329184">
                <a:tc>
                  <a:txBody>
                    <a:bodyPr/>
                    <a:lstStyle/>
                    <a:p>
                      <a:pPr indent="0" marL="0">
                        <a:buNone/>
                      </a:pP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Brier</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ROC-AUC</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PR-AUC</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LightGBM, raw</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0.2007</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0.6839</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0.2376</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 Platt scaling</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0.0954</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0.6839</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50" dirty="0">
                          <a:solidFill>
                            <a:srgbClr val="1F3D49"/>
                          </a:solidFill>
                          <a:latin typeface="Calibri" pitchFamily="34" charset="0"/>
                          <a:ea typeface="Calibri" pitchFamily="34" charset="-122"/>
                          <a:cs typeface="Calibri" pitchFamily="34" charset="-120"/>
                        </a:rPr>
                        <a:t>0.2376</a:t>
                      </a:r>
                      <a:endParaRPr lang="en-US" sz="12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bl>
          </a:graphicData>
        </a:graphic>
      </p:graphicFrame>
      <p:sp>
        <p:nvSpPr>
          <p:cNvPr id="7" name="Text 3"/>
          <p:cNvSpPr/>
          <p:nvPr/>
        </p:nvSpPr>
        <p:spPr>
          <a:xfrm>
            <a:off x="4901184" y="3127248"/>
            <a:ext cx="6729984"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Brier more than halves. Discrimination is bit-identical.</a:t>
            </a:r>
            <a:endParaRPr lang="en-US" sz="1500" dirty="0"/>
          </a:p>
        </p:txBody>
      </p:sp>
      <p:sp>
        <p:nvSpPr>
          <p:cNvPr id="8" name="Text 4"/>
          <p:cNvSpPr/>
          <p:nvPr/>
        </p:nvSpPr>
        <p:spPr>
          <a:xfrm>
            <a:off x="4901184" y="3493008"/>
            <a:ext cx="6729984" cy="786384"/>
          </a:xfrm>
          <a:prstGeom prst="rect">
            <a:avLst/>
          </a:prstGeom>
          <a:noFill/>
          <a:ln/>
        </p:spPr>
        <p:txBody>
          <a:bodyPr wrap="square" lIns="0" tIns="0" rIns="0" bIns="0" rtlCol="0" anchor="ctr"/>
          <a:lstStyle/>
          <a:p>
            <a:pPr indent="0" marL="0">
              <a:lnSpc>
                <a:spcPts val="1800"/>
              </a:lnSpc>
              <a:buNone/>
            </a:pPr>
            <a:r>
              <a:rPr lang="en-US" sz="1300" dirty="0">
                <a:solidFill>
                  <a:srgbClr val="34525E"/>
                </a:solidFill>
                <a:latin typeface="Calibri" pitchFamily="34" charset="0"/>
                <a:ea typeface="Calibri" pitchFamily="34" charset="-122"/>
                <a:cs typeface="Calibri" pitchFamily="34" charset="-120"/>
              </a:rPr>
              <a:t>Platt scaling is strictly monotonic, so it cannot reorder a single patient — the call list is unchanged while the risk numbers become trustworthy. A predicted 18% now means roughly 18%.</a:t>
            </a:r>
            <a:endParaRPr lang="en-US" sz="1300" dirty="0"/>
          </a:p>
        </p:txBody>
      </p:sp>
      <p:sp>
        <p:nvSpPr>
          <p:cNvPr id="9" name="Shape 5"/>
          <p:cNvSpPr/>
          <p:nvPr/>
        </p:nvSpPr>
        <p:spPr>
          <a:xfrm>
            <a:off x="4901184" y="4407408"/>
            <a:ext cx="6729984" cy="1207008"/>
          </a:xfrm>
          <a:prstGeom prst="roundRect">
            <a:avLst>
              <a:gd name="adj" fmla="val 6061"/>
            </a:avLst>
          </a:prstGeom>
          <a:solidFill>
            <a:srgbClr val="EEF4F6"/>
          </a:solidFill>
          <a:ln w="12700">
            <a:solidFill>
              <a:srgbClr val="EEF4F6"/>
            </a:solidFill>
            <a:prstDash val="solid"/>
          </a:ln>
        </p:spPr>
      </p:sp>
      <p:sp>
        <p:nvSpPr>
          <p:cNvPr id="10" name="Text 6"/>
          <p:cNvSpPr/>
          <p:nvPr/>
        </p:nvSpPr>
        <p:spPr>
          <a:xfrm>
            <a:off x="5175504" y="4553712"/>
            <a:ext cx="6181344" cy="292608"/>
          </a:xfrm>
          <a:prstGeom prst="rect">
            <a:avLst/>
          </a:prstGeom>
          <a:noFill/>
          <a:ln/>
        </p:spPr>
        <p:txBody>
          <a:bodyPr wrap="square" lIns="0" tIns="0" rIns="0" bIns="0" rtlCol="0" anchor="ctr"/>
          <a:lstStyle/>
          <a:p>
            <a:pPr indent="0" marL="0">
              <a:buNone/>
            </a:pPr>
            <a:r>
              <a:rPr lang="en-US" sz="1400" b="1" dirty="0">
                <a:solidFill>
                  <a:srgbClr val="0B2E3B"/>
                </a:solidFill>
                <a:latin typeface="Cambria" pitchFamily="34" charset="0"/>
                <a:ea typeface="Cambria" pitchFamily="34" charset="-122"/>
                <a:cs typeface="Cambria" pitchFamily="34" charset="-120"/>
              </a:rPr>
              <a:t>Why not isotonic?</a:t>
            </a:r>
            <a:endParaRPr lang="en-US" sz="1400" dirty="0"/>
          </a:p>
        </p:txBody>
      </p:sp>
      <p:sp>
        <p:nvSpPr>
          <p:cNvPr id="11" name="Text 7"/>
          <p:cNvSpPr/>
          <p:nvPr/>
        </p:nvSpPr>
        <p:spPr>
          <a:xfrm>
            <a:off x="5175504" y="4864608"/>
            <a:ext cx="6181344" cy="676656"/>
          </a:xfrm>
          <a:prstGeom prst="rect">
            <a:avLst/>
          </a:prstGeom>
          <a:noFill/>
          <a:ln/>
        </p:spPr>
        <p:txBody>
          <a:bodyPr wrap="square" lIns="0" tIns="0" rIns="0" bIns="0" rtlCol="0" anchor="ctr"/>
          <a:lstStyle/>
          <a:p>
            <a:pPr indent="0" marL="0">
              <a:lnSpc>
                <a:spcPts val="1600"/>
              </a:lnSpc>
              <a:buNone/>
            </a:pPr>
            <a:r>
              <a:rPr lang="en-US" sz="1200" dirty="0">
                <a:solidFill>
                  <a:srgbClr val="34525E"/>
                </a:solidFill>
                <a:latin typeface="Calibri" pitchFamily="34" charset="0"/>
                <a:ea typeface="Calibri" pitchFamily="34" charset="-122"/>
                <a:cs typeface="Calibri" pitchFamily="34" charset="-120"/>
              </a:rPr>
              <a:t>It won validation Brier by 0.0005 but is a step function — it ties scores together and cost 0.004 PR-AUC. The rule: among calibrators within 0.002 Brier of the best, take the one that ranks better.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OPERATING POINT</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The threshold is a budget decision</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Precision and recall as a function of how many discharges the follow-up team can call.</a:t>
            </a:r>
            <a:endParaRPr lang="en-US" sz="1250" dirty="0"/>
          </a:p>
        </p:txBody>
      </p:sp>
      <p:pic>
        <p:nvPicPr>
          <p:cNvPr id="5" name="Image 0" descr="/Users/Shikhar/ML Bubble hackathon/reports/figures/capacity_sweep.png">    </p:cNvPr>
          <p:cNvPicPr>
            <a:picLocks noChangeAspect="1"/>
          </p:cNvPicPr>
          <p:nvPr/>
        </p:nvPicPr>
        <p:blipFill>
          <a:blip r:embed="rId1"/>
          <a:stretch>
            <a:fillRect/>
          </a:stretch>
        </p:blipFill>
        <p:spPr>
          <a:xfrm>
            <a:off x="566928" y="1719072"/>
            <a:ext cx="5532120" cy="3895344"/>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55664" y="1810512"/>
          <a:ext cx="5175504" cy="914400"/>
        </p:xfrm>
        <a:graphic>
          <a:graphicData uri="http://schemas.openxmlformats.org/drawingml/2006/table">
            <a:tbl>
              <a:tblPr/>
              <a:tblGrid>
                <a:gridCol w="2212848"/>
                <a:gridCol w="1481328"/>
                <a:gridCol w="1481328"/>
              </a:tblGrid>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Capacity</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27.7%</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20%  ← deployed</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40.6%</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23.1%</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52.9%</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72.1%</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16.4%</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bl>
          </a:graphicData>
        </a:graphic>
      </p:graphicFrame>
      <p:sp>
        <p:nvSpPr>
          <p:cNvPr id="7" name="Text 3"/>
          <p:cNvSpPr/>
          <p:nvPr/>
        </p:nvSpPr>
        <p:spPr>
          <a:xfrm>
            <a:off x="6455664" y="3767328"/>
            <a:ext cx="5175504" cy="566928"/>
          </a:xfrm>
          <a:prstGeom prst="rect">
            <a:avLst/>
          </a:prstGeom>
          <a:noFill/>
          <a:ln/>
        </p:spPr>
        <p:txBody>
          <a:bodyPr wrap="square" lIns="0" tIns="0" rIns="0" bIns="0" rtlCol="0" anchor="ctr"/>
          <a:lstStyle/>
          <a:p>
            <a:pPr indent="0" marL="0">
              <a:lnSpc>
                <a:spcPts val="1900"/>
              </a:lnSpc>
              <a:buNone/>
            </a:pPr>
            <a:r>
              <a:rPr lang="en-US" sz="1400" b="1" dirty="0">
                <a:solidFill>
                  <a:srgbClr val="0B2E3B"/>
                </a:solidFill>
                <a:latin typeface="Cambria" pitchFamily="34" charset="0"/>
                <a:ea typeface="Cambria" pitchFamily="34" charset="-122"/>
                <a:cs typeface="Cambria" pitchFamily="34" charset="-120"/>
              </a:rPr>
              <a:t>Doubling capacity from 20% to 40% buys 23 more points of recall for 5 points of precision.</a:t>
            </a:r>
            <a:endParaRPr lang="en-US" sz="1400" dirty="0"/>
          </a:p>
        </p:txBody>
      </p:sp>
      <p:sp>
        <p:nvSpPr>
          <p:cNvPr id="8" name="Text 4"/>
          <p:cNvSpPr/>
          <p:nvPr/>
        </p:nvSpPr>
        <p:spPr>
          <a:xfrm>
            <a:off x="6455664" y="4425696"/>
            <a:ext cx="5175504" cy="841248"/>
          </a:xfrm>
          <a:prstGeom prst="rect">
            <a:avLst/>
          </a:prstGeom>
          <a:noFill/>
          <a:ln/>
        </p:spPr>
        <p:txBody>
          <a:bodyPr wrap="square" lIns="0" tIns="0" rIns="0" bIns="0" rtlCol="0" anchor="ctr"/>
          <a:lstStyle/>
          <a:p>
            <a:pPr indent="0" marL="0">
              <a:lnSpc>
                <a:spcPts val="1700"/>
              </a:lnSpc>
              <a:buNone/>
            </a:pPr>
            <a:r>
              <a:rPr lang="en-US" sz="1250" dirty="0">
                <a:solidFill>
                  <a:srgbClr val="34525E"/>
                </a:solidFill>
                <a:latin typeface="Calibri" pitchFamily="34" charset="0"/>
                <a:ea typeface="Calibri" pitchFamily="34" charset="-122"/>
                <a:cs typeface="Calibri" pitchFamily="34" charset="-120"/>
              </a:rPr>
              <a:t>Whether that trade is worth taking depends on the cost of a call against the cost of a readmission — a hospital finance question. The model supports either answer without retraining.</a:t>
            </a:r>
            <a:endParaRPr lang="en-US" sz="1250" dirty="0"/>
          </a:p>
        </p:txBody>
      </p:sp>
      <p:sp>
        <p:nvSpPr>
          <p:cNvPr id="9" name="Shape 5"/>
          <p:cNvSpPr/>
          <p:nvPr/>
        </p:nvSpPr>
        <p:spPr>
          <a:xfrm>
            <a:off x="6455664" y="5321808"/>
            <a:ext cx="5175504" cy="566928"/>
          </a:xfrm>
          <a:prstGeom prst="roundRect">
            <a:avLst>
              <a:gd name="adj" fmla="val 12903"/>
            </a:avLst>
          </a:prstGeom>
          <a:solidFill>
            <a:srgbClr val="FBE4E0"/>
          </a:solidFill>
          <a:ln w="12700">
            <a:solidFill>
              <a:srgbClr val="FBE4E0"/>
            </a:solidFill>
            <a:prstDash val="solid"/>
          </a:ln>
        </p:spPr>
      </p:sp>
      <p:sp>
        <p:nvSpPr>
          <p:cNvPr id="10" name="Text 6"/>
          <p:cNvSpPr/>
          <p:nvPr/>
        </p:nvSpPr>
        <p:spPr>
          <a:xfrm>
            <a:off x="6675120" y="5321808"/>
            <a:ext cx="4736592" cy="566928"/>
          </a:xfrm>
          <a:prstGeom prst="rect">
            <a:avLst/>
          </a:prstGeom>
          <a:noFill/>
          <a:ln/>
        </p:spPr>
        <p:txBody>
          <a:bodyPr wrap="square" lIns="0" tIns="0" rIns="0" bIns="0" rtlCol="0" anchor="ctr"/>
          <a:lstStyle/>
          <a:p>
            <a:pPr indent="0" marL="0">
              <a:buNone/>
            </a:pPr>
            <a:r>
              <a:rPr lang="en-US" sz="1200" b="1" dirty="0">
                <a:solidFill>
                  <a:srgbClr val="9E3423"/>
                </a:solidFill>
                <a:latin typeface="Calibri" pitchFamily="34" charset="0"/>
                <a:ea typeface="Calibri" pitchFamily="34" charset="-122"/>
                <a:cs typeface="Calibri" pitchFamily="34" charset="-120"/>
              </a:rPr>
              <a:t>At 20%: 901 true positives, 2,965 false alarms, 1,343 missed.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EXPLAINABILITY</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What the model is actually reading</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Permutation importance on held-out data and SHAP agree on the top of the list.</a:t>
            </a:r>
            <a:endParaRPr lang="en-US" sz="1250" dirty="0"/>
          </a:p>
        </p:txBody>
      </p:sp>
      <p:pic>
        <p:nvPicPr>
          <p:cNvPr id="5" name="Image 0" descr="/Users/Shikhar/ML Bubble hackathon/reports/figures/shap_beeswarm.png">    </p:cNvPr>
          <p:cNvPicPr>
            <a:picLocks noChangeAspect="1"/>
          </p:cNvPicPr>
          <p:nvPr/>
        </p:nvPicPr>
        <p:blipFill>
          <a:blip r:embed="rId1"/>
          <a:stretch>
            <a:fillRect/>
          </a:stretch>
        </p:blipFill>
        <p:spPr>
          <a:xfrm>
            <a:off x="566928" y="1700784"/>
            <a:ext cx="5029200" cy="3931920"/>
          </a:xfrm>
          <a:prstGeom prst="rect">
            <a:avLst/>
          </a:prstGeom>
        </p:spPr>
      </p:pic>
      <p:sp>
        <p:nvSpPr>
          <p:cNvPr id="6" name="Shape 3"/>
          <p:cNvSpPr/>
          <p:nvPr/>
        </p:nvSpPr>
        <p:spPr>
          <a:xfrm>
            <a:off x="5870448" y="1773936"/>
            <a:ext cx="5760720" cy="841248"/>
          </a:xfrm>
          <a:prstGeom prst="roundRect">
            <a:avLst>
              <a:gd name="adj" fmla="val 8696"/>
            </a:avLst>
          </a:prstGeom>
          <a:solidFill>
            <a:srgbClr val="EEF4F6"/>
          </a:solidFill>
          <a:ln w="12700">
            <a:solidFill>
              <a:srgbClr val="EEF4F6"/>
            </a:solidFill>
            <a:prstDash val="solid"/>
          </a:ln>
        </p:spPr>
      </p:sp>
      <p:sp>
        <p:nvSpPr>
          <p:cNvPr id="7" name="Shape 4"/>
          <p:cNvSpPr/>
          <p:nvPr/>
        </p:nvSpPr>
        <p:spPr>
          <a:xfrm>
            <a:off x="6108192" y="2020824"/>
            <a:ext cx="347472" cy="347472"/>
          </a:xfrm>
          <a:prstGeom prst="ellipse">
            <a:avLst/>
          </a:prstGeom>
          <a:solidFill>
            <a:srgbClr val="12556B"/>
          </a:solidFill>
          <a:ln w="12700">
            <a:solidFill>
              <a:srgbClr val="333333"/>
            </a:solidFill>
            <a:prstDash val="solid"/>
          </a:ln>
        </p:spPr>
      </p:sp>
      <p:sp>
        <p:nvSpPr>
          <p:cNvPr id="8" name="Text 5"/>
          <p:cNvSpPr/>
          <p:nvPr/>
        </p:nvSpPr>
        <p:spPr>
          <a:xfrm>
            <a:off x="6108192" y="20208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6"/>
          <p:cNvSpPr/>
          <p:nvPr/>
        </p:nvSpPr>
        <p:spPr>
          <a:xfrm>
            <a:off x="6583680" y="1883664"/>
            <a:ext cx="4846320" cy="310896"/>
          </a:xfrm>
          <a:prstGeom prst="rect">
            <a:avLst/>
          </a:prstGeom>
          <a:noFill/>
          <a:ln/>
        </p:spPr>
        <p:txBody>
          <a:bodyPr wrap="square" lIns="0" tIns="0" rIns="0" bIns="0" rtlCol="0" anchor="ctr"/>
          <a:lstStyle/>
          <a:p>
            <a:pPr indent="0" marL="0">
              <a:buNone/>
            </a:pPr>
            <a:r>
              <a:rPr lang="en-US" sz="1300" b="1" dirty="0">
                <a:solidFill>
                  <a:srgbClr val="0B2E3B"/>
                </a:solidFill>
                <a:latin typeface="Calibri" pitchFamily="34" charset="0"/>
                <a:ea typeface="Calibri" pitchFamily="34" charset="-122"/>
                <a:cs typeface="Calibri" pitchFamily="34" charset="-120"/>
              </a:rPr>
              <a:t>Prior inpatient admissions</a:t>
            </a:r>
            <a:endParaRPr lang="en-US" sz="1300" dirty="0"/>
          </a:p>
        </p:txBody>
      </p:sp>
      <p:sp>
        <p:nvSpPr>
          <p:cNvPr id="10" name="Text 7"/>
          <p:cNvSpPr/>
          <p:nvPr/>
        </p:nvSpPr>
        <p:spPr>
          <a:xfrm>
            <a:off x="6583680" y="2176272"/>
            <a:ext cx="4846320" cy="347472"/>
          </a:xfrm>
          <a:prstGeom prst="rect">
            <a:avLst/>
          </a:prstGeom>
          <a:noFill/>
          <a:ln/>
        </p:spPr>
        <p:txBody>
          <a:bodyPr wrap="square" lIns="0" tIns="0" rIns="0" bIns="0" rtlCol="0" anchor="ctr"/>
          <a:lstStyle/>
          <a:p>
            <a:pPr indent="0" marL="0">
              <a:buNone/>
            </a:pPr>
            <a:r>
              <a:rPr lang="en-US" sz="1150" dirty="0">
                <a:solidFill>
                  <a:srgbClr val="34525E"/>
                </a:solidFill>
                <a:latin typeface="Calibri" pitchFamily="34" charset="0"/>
                <a:ea typeface="Calibri" pitchFamily="34" charset="-122"/>
                <a:cs typeface="Calibri" pitchFamily="34" charset="-120"/>
              </a:rPr>
              <a:t>Utilisation history beats anything measured during the stay.</a:t>
            </a:r>
            <a:endParaRPr lang="en-US" sz="1150" dirty="0"/>
          </a:p>
        </p:txBody>
      </p:sp>
      <p:sp>
        <p:nvSpPr>
          <p:cNvPr id="11" name="Shape 8"/>
          <p:cNvSpPr/>
          <p:nvPr/>
        </p:nvSpPr>
        <p:spPr>
          <a:xfrm>
            <a:off x="5870448" y="2743200"/>
            <a:ext cx="5760720" cy="841248"/>
          </a:xfrm>
          <a:prstGeom prst="roundRect">
            <a:avLst>
              <a:gd name="adj" fmla="val 8696"/>
            </a:avLst>
          </a:prstGeom>
          <a:solidFill>
            <a:srgbClr val="EEF4F6"/>
          </a:solidFill>
          <a:ln w="12700">
            <a:solidFill>
              <a:srgbClr val="EEF4F6"/>
            </a:solidFill>
            <a:prstDash val="solid"/>
          </a:ln>
        </p:spPr>
      </p:sp>
      <p:sp>
        <p:nvSpPr>
          <p:cNvPr id="12" name="Shape 9"/>
          <p:cNvSpPr/>
          <p:nvPr/>
        </p:nvSpPr>
        <p:spPr>
          <a:xfrm>
            <a:off x="6108192" y="2990088"/>
            <a:ext cx="347472" cy="347472"/>
          </a:xfrm>
          <a:prstGeom prst="ellipse">
            <a:avLst/>
          </a:prstGeom>
          <a:solidFill>
            <a:srgbClr val="12556B"/>
          </a:solidFill>
          <a:ln w="12700">
            <a:solidFill>
              <a:srgbClr val="333333"/>
            </a:solidFill>
            <a:prstDash val="solid"/>
          </a:ln>
        </p:spPr>
      </p:sp>
      <p:sp>
        <p:nvSpPr>
          <p:cNvPr id="13" name="Text 10"/>
          <p:cNvSpPr/>
          <p:nvPr/>
        </p:nvSpPr>
        <p:spPr>
          <a:xfrm>
            <a:off x="6108192"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1"/>
          <p:cNvSpPr/>
          <p:nvPr/>
        </p:nvSpPr>
        <p:spPr>
          <a:xfrm>
            <a:off x="6583680" y="2852928"/>
            <a:ext cx="4846320" cy="310896"/>
          </a:xfrm>
          <a:prstGeom prst="rect">
            <a:avLst/>
          </a:prstGeom>
          <a:noFill/>
          <a:ln/>
        </p:spPr>
        <p:txBody>
          <a:bodyPr wrap="square" lIns="0" tIns="0" rIns="0" bIns="0" rtlCol="0" anchor="ctr"/>
          <a:lstStyle/>
          <a:p>
            <a:pPr indent="0" marL="0">
              <a:buNone/>
            </a:pPr>
            <a:r>
              <a:rPr lang="en-US" sz="1300" b="1" dirty="0">
                <a:solidFill>
                  <a:srgbClr val="0B2E3B"/>
                </a:solidFill>
                <a:latin typeface="Calibri" pitchFamily="34" charset="0"/>
                <a:ea typeface="Calibri" pitchFamily="34" charset="-122"/>
                <a:cs typeface="Calibri" pitchFamily="34" charset="-120"/>
              </a:rPr>
              <a:t>Where the patient is discharged to</a:t>
            </a:r>
            <a:endParaRPr lang="en-US" sz="1300" dirty="0"/>
          </a:p>
        </p:txBody>
      </p:sp>
      <p:sp>
        <p:nvSpPr>
          <p:cNvPr id="15" name="Text 12"/>
          <p:cNvSpPr/>
          <p:nvPr/>
        </p:nvSpPr>
        <p:spPr>
          <a:xfrm>
            <a:off x="6583680" y="3145536"/>
            <a:ext cx="4846320" cy="347472"/>
          </a:xfrm>
          <a:prstGeom prst="rect">
            <a:avLst/>
          </a:prstGeom>
          <a:noFill/>
          <a:ln/>
        </p:spPr>
        <p:txBody>
          <a:bodyPr wrap="square" lIns="0" tIns="0" rIns="0" bIns="0" rtlCol="0" anchor="ctr"/>
          <a:lstStyle/>
          <a:p>
            <a:pPr indent="0" marL="0">
              <a:buNone/>
            </a:pPr>
            <a:r>
              <a:rPr lang="en-US" sz="1150" dirty="0">
                <a:solidFill>
                  <a:srgbClr val="34525E"/>
                </a:solidFill>
                <a:latin typeface="Calibri" pitchFamily="34" charset="0"/>
                <a:ea typeface="Calibri" pitchFamily="34" charset="-122"/>
                <a:cs typeface="Calibri" pitchFamily="34" charset="-120"/>
              </a:rPr>
              <a:t>Home lowers risk; a care facility raises it — a proxy for frailty.</a:t>
            </a:r>
            <a:endParaRPr lang="en-US" sz="1150" dirty="0"/>
          </a:p>
        </p:txBody>
      </p:sp>
      <p:sp>
        <p:nvSpPr>
          <p:cNvPr id="16" name="Shape 13"/>
          <p:cNvSpPr/>
          <p:nvPr/>
        </p:nvSpPr>
        <p:spPr>
          <a:xfrm>
            <a:off x="5870448" y="3712464"/>
            <a:ext cx="5760720" cy="841248"/>
          </a:xfrm>
          <a:prstGeom prst="roundRect">
            <a:avLst>
              <a:gd name="adj" fmla="val 8696"/>
            </a:avLst>
          </a:prstGeom>
          <a:solidFill>
            <a:srgbClr val="EEF4F6"/>
          </a:solidFill>
          <a:ln w="12700">
            <a:solidFill>
              <a:srgbClr val="EEF4F6"/>
            </a:solidFill>
            <a:prstDash val="solid"/>
          </a:ln>
        </p:spPr>
      </p:sp>
      <p:sp>
        <p:nvSpPr>
          <p:cNvPr id="17" name="Shape 14"/>
          <p:cNvSpPr/>
          <p:nvPr/>
        </p:nvSpPr>
        <p:spPr>
          <a:xfrm>
            <a:off x="6108192" y="3959352"/>
            <a:ext cx="347472" cy="347472"/>
          </a:xfrm>
          <a:prstGeom prst="ellipse">
            <a:avLst/>
          </a:prstGeom>
          <a:solidFill>
            <a:srgbClr val="12556B"/>
          </a:solidFill>
          <a:ln w="12700">
            <a:solidFill>
              <a:srgbClr val="333333"/>
            </a:solidFill>
            <a:prstDash val="solid"/>
          </a:ln>
        </p:spPr>
      </p:sp>
      <p:sp>
        <p:nvSpPr>
          <p:cNvPr id="18" name="Text 15"/>
          <p:cNvSpPr/>
          <p:nvPr/>
        </p:nvSpPr>
        <p:spPr>
          <a:xfrm>
            <a:off x="6108192" y="39593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6"/>
          <p:cNvSpPr/>
          <p:nvPr/>
        </p:nvSpPr>
        <p:spPr>
          <a:xfrm>
            <a:off x="6583680" y="3822192"/>
            <a:ext cx="4846320" cy="310896"/>
          </a:xfrm>
          <a:prstGeom prst="rect">
            <a:avLst/>
          </a:prstGeom>
          <a:noFill/>
          <a:ln/>
        </p:spPr>
        <p:txBody>
          <a:bodyPr wrap="square" lIns="0" tIns="0" rIns="0" bIns="0" rtlCol="0" anchor="ctr"/>
          <a:lstStyle/>
          <a:p>
            <a:pPr indent="0" marL="0">
              <a:buNone/>
            </a:pPr>
            <a:r>
              <a:rPr lang="en-US" sz="1300" b="1" dirty="0">
                <a:solidFill>
                  <a:srgbClr val="0B2E3B"/>
                </a:solidFill>
                <a:latin typeface="Calibri" pitchFamily="34" charset="0"/>
                <a:ea typeface="Calibri" pitchFamily="34" charset="-122"/>
                <a:cs typeface="Calibri" pitchFamily="34" charset="-120"/>
              </a:rPr>
              <a:t>Depth of prior encounter history</a:t>
            </a:r>
            <a:endParaRPr lang="en-US" sz="1300" dirty="0"/>
          </a:p>
        </p:txBody>
      </p:sp>
      <p:sp>
        <p:nvSpPr>
          <p:cNvPr id="20" name="Text 17"/>
          <p:cNvSpPr/>
          <p:nvPr/>
        </p:nvSpPr>
        <p:spPr>
          <a:xfrm>
            <a:off x="6583680" y="4114800"/>
            <a:ext cx="4846320" cy="347472"/>
          </a:xfrm>
          <a:prstGeom prst="rect">
            <a:avLst/>
          </a:prstGeom>
          <a:noFill/>
          <a:ln/>
        </p:spPr>
        <p:txBody>
          <a:bodyPr wrap="square" lIns="0" tIns="0" rIns="0" bIns="0" rtlCol="0" anchor="ctr"/>
          <a:lstStyle/>
          <a:p>
            <a:pPr indent="0" marL="0">
              <a:buNone/>
            </a:pPr>
            <a:r>
              <a:rPr lang="en-US" sz="1150" dirty="0">
                <a:solidFill>
                  <a:srgbClr val="34525E"/>
                </a:solidFill>
                <a:latin typeface="Calibri" pitchFamily="34" charset="0"/>
                <a:ea typeface="Calibri" pitchFamily="34" charset="-122"/>
                <a:cs typeface="Calibri" pitchFamily="34" charset="-120"/>
              </a:rPr>
              <a:t>How often this patient has been through the system before.</a:t>
            </a:r>
            <a:endParaRPr lang="en-US" sz="1150" dirty="0"/>
          </a:p>
        </p:txBody>
      </p:sp>
      <p:sp>
        <p:nvSpPr>
          <p:cNvPr id="21" name="Shape 18"/>
          <p:cNvSpPr/>
          <p:nvPr/>
        </p:nvSpPr>
        <p:spPr>
          <a:xfrm>
            <a:off x="5870448" y="4681728"/>
            <a:ext cx="5760720" cy="841248"/>
          </a:xfrm>
          <a:prstGeom prst="roundRect">
            <a:avLst>
              <a:gd name="adj" fmla="val 8696"/>
            </a:avLst>
          </a:prstGeom>
          <a:solidFill>
            <a:srgbClr val="EEF4F6"/>
          </a:solidFill>
          <a:ln w="12700">
            <a:solidFill>
              <a:srgbClr val="EEF4F6"/>
            </a:solidFill>
            <a:prstDash val="solid"/>
          </a:ln>
        </p:spPr>
      </p:sp>
      <p:sp>
        <p:nvSpPr>
          <p:cNvPr id="22" name="Shape 19"/>
          <p:cNvSpPr/>
          <p:nvPr/>
        </p:nvSpPr>
        <p:spPr>
          <a:xfrm>
            <a:off x="6108192" y="4928616"/>
            <a:ext cx="347472" cy="347472"/>
          </a:xfrm>
          <a:prstGeom prst="ellipse">
            <a:avLst/>
          </a:prstGeom>
          <a:solidFill>
            <a:srgbClr val="12556B"/>
          </a:solidFill>
          <a:ln w="12700">
            <a:solidFill>
              <a:srgbClr val="333333"/>
            </a:solidFill>
            <a:prstDash val="solid"/>
          </a:ln>
        </p:spPr>
      </p:sp>
      <p:sp>
        <p:nvSpPr>
          <p:cNvPr id="23" name="Text 20"/>
          <p:cNvSpPr/>
          <p:nvPr/>
        </p:nvSpPr>
        <p:spPr>
          <a:xfrm>
            <a:off x="6108192" y="4928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4" name="Text 21"/>
          <p:cNvSpPr/>
          <p:nvPr/>
        </p:nvSpPr>
        <p:spPr>
          <a:xfrm>
            <a:off x="6583680" y="4791456"/>
            <a:ext cx="4846320" cy="310896"/>
          </a:xfrm>
          <a:prstGeom prst="rect">
            <a:avLst/>
          </a:prstGeom>
          <a:noFill/>
          <a:ln/>
        </p:spPr>
        <p:txBody>
          <a:bodyPr wrap="square" lIns="0" tIns="0" rIns="0" bIns="0" rtlCol="0" anchor="ctr"/>
          <a:lstStyle/>
          <a:p>
            <a:pPr indent="0" marL="0">
              <a:buNone/>
            </a:pPr>
            <a:r>
              <a:rPr lang="en-US" sz="1300" b="1" dirty="0">
                <a:solidFill>
                  <a:srgbClr val="0B2E3B"/>
                </a:solidFill>
                <a:latin typeface="Calibri" pitchFamily="34" charset="0"/>
                <a:ea typeface="Calibri" pitchFamily="34" charset="-122"/>
                <a:cs typeface="Calibri" pitchFamily="34" charset="-120"/>
              </a:rPr>
              <a:t>Primary diagnosis group</a:t>
            </a:r>
            <a:endParaRPr lang="en-US" sz="1300" dirty="0"/>
          </a:p>
        </p:txBody>
      </p:sp>
      <p:sp>
        <p:nvSpPr>
          <p:cNvPr id="25" name="Text 22"/>
          <p:cNvSpPr/>
          <p:nvPr/>
        </p:nvSpPr>
        <p:spPr>
          <a:xfrm>
            <a:off x="6583680" y="5084064"/>
            <a:ext cx="4846320" cy="347472"/>
          </a:xfrm>
          <a:prstGeom prst="rect">
            <a:avLst/>
          </a:prstGeom>
          <a:noFill/>
          <a:ln/>
        </p:spPr>
        <p:txBody>
          <a:bodyPr wrap="square" lIns="0" tIns="0" rIns="0" bIns="0" rtlCol="0" anchor="ctr"/>
          <a:lstStyle/>
          <a:p>
            <a:pPr indent="0" marL="0">
              <a:buNone/>
            </a:pPr>
            <a:r>
              <a:rPr lang="en-US" sz="1150" dirty="0">
                <a:solidFill>
                  <a:srgbClr val="34525E"/>
                </a:solidFill>
                <a:latin typeface="Calibri" pitchFamily="34" charset="0"/>
                <a:ea typeface="Calibri" pitchFamily="34" charset="-122"/>
                <a:cs typeface="Calibri" pitchFamily="34" charset="-120"/>
              </a:rPr>
              <a:t>Circulatory pushes risk up; respiratory pushes it down.</a:t>
            </a:r>
            <a:endParaRPr lang="en-US" sz="1150" dirty="0"/>
          </a:p>
        </p:txBody>
      </p:sp>
      <p:sp>
        <p:nvSpPr>
          <p:cNvPr id="26" name="Shape 23"/>
          <p:cNvSpPr/>
          <p:nvPr/>
        </p:nvSpPr>
        <p:spPr>
          <a:xfrm>
            <a:off x="5870448" y="5669280"/>
            <a:ext cx="5760720" cy="566928"/>
          </a:xfrm>
          <a:prstGeom prst="roundRect">
            <a:avLst>
              <a:gd name="adj" fmla="val 12903"/>
            </a:avLst>
          </a:prstGeom>
          <a:solidFill>
            <a:srgbClr val="E2F0E9"/>
          </a:solidFill>
          <a:ln w="12700">
            <a:solidFill>
              <a:srgbClr val="E2F0E9"/>
            </a:solidFill>
            <a:prstDash val="solid"/>
          </a:ln>
        </p:spPr>
      </p:sp>
      <p:sp>
        <p:nvSpPr>
          <p:cNvPr id="27" name="Text 24"/>
          <p:cNvSpPr/>
          <p:nvPr/>
        </p:nvSpPr>
        <p:spPr>
          <a:xfrm>
            <a:off x="6108192" y="5669280"/>
            <a:ext cx="5303520" cy="566928"/>
          </a:xfrm>
          <a:prstGeom prst="rect">
            <a:avLst/>
          </a:prstGeom>
          <a:noFill/>
          <a:ln/>
        </p:spPr>
        <p:txBody>
          <a:bodyPr wrap="square" lIns="0" tIns="0" rIns="0" bIns="0" rtlCol="0" anchor="ctr"/>
          <a:lstStyle/>
          <a:p>
            <a:pPr indent="0" marL="0">
              <a:buNone/>
            </a:pPr>
            <a:r>
              <a:rPr lang="en-US" sz="1200" b="1" dirty="0">
                <a:solidFill>
                  <a:srgbClr val="1F5F44"/>
                </a:solidFill>
                <a:latin typeface="Calibri" pitchFamily="34" charset="0"/>
                <a:ea typeface="Calibri" pitchFamily="34" charset="-122"/>
                <a:cs typeface="Calibri" pitchFamily="34" charset="-120"/>
              </a:rPr>
              <a:t>Nothing suspicious at the top — no identifier, no date artefact.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ABLATION STUDY</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Seven approaches tried. None beat the baseline.</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All scored with identical 5-fold GroupKFold on training patients. The test set was not read during any of this.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6272784" cy="914400"/>
        </p:xfrm>
        <a:graphic>
          <a:graphicData uri="http://schemas.openxmlformats.org/drawingml/2006/table">
            <a:tbl>
              <a:tblPr/>
              <a:tblGrid>
                <a:gridCol w="2743200"/>
                <a:gridCol w="1225296"/>
                <a:gridCol w="1133856"/>
                <a:gridCol w="1170432"/>
              </a:tblGrid>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Variant</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CV PR-AUC</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Adopted</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A — current, 39 features</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0.2200</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B — drop payer_code</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0.2180</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−0.0020</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C — +10 engineered features</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0.2196</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−0.0005</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D — B and C combined</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0.2178</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−0.0023</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E — native categorical splits</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0.2194</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−0.0007</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F — soft-vote RF+XGB+LGBM</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0.2191</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−0.0009</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G — SMOTE, not class weighting</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0.2194</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−0.0006</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150" dirty="0">
                          <a:solidFill>
                            <a:srgbClr val="1F3D49"/>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bl>
          </a:graphicData>
        </a:graphic>
      </p:graphicFrame>
      <p:sp>
        <p:nvSpPr>
          <p:cNvPr id="6" name="Shape 3"/>
          <p:cNvSpPr/>
          <p:nvPr/>
        </p:nvSpPr>
        <p:spPr>
          <a:xfrm>
            <a:off x="7004304" y="1737360"/>
            <a:ext cx="4626864" cy="2048256"/>
          </a:xfrm>
          <a:prstGeom prst="roundRect">
            <a:avLst>
              <a:gd name="adj" fmla="val 3571"/>
            </a:avLst>
          </a:prstGeom>
          <a:solidFill>
            <a:srgbClr val="E2F0E9"/>
          </a:solidFill>
          <a:ln w="12700">
            <a:solidFill>
              <a:srgbClr val="E2F0E9"/>
            </a:solidFill>
            <a:prstDash val="solid"/>
          </a:ln>
        </p:spPr>
      </p:sp>
      <p:sp>
        <p:nvSpPr>
          <p:cNvPr id="7" name="Text 4"/>
          <p:cNvSpPr/>
          <p:nvPr/>
        </p:nvSpPr>
        <p:spPr>
          <a:xfrm>
            <a:off x="7260336" y="1920240"/>
            <a:ext cx="4114800" cy="310896"/>
          </a:xfrm>
          <a:prstGeom prst="rect">
            <a:avLst/>
          </a:prstGeom>
          <a:noFill/>
          <a:ln/>
        </p:spPr>
        <p:txBody>
          <a:bodyPr wrap="square" lIns="0" tIns="0" rIns="0" bIns="0" rtlCol="0" anchor="ctr"/>
          <a:lstStyle/>
          <a:p>
            <a:pPr indent="0" marL="0">
              <a:buNone/>
            </a:pPr>
            <a:r>
              <a:rPr lang="en-US" sz="1500" b="1" dirty="0">
                <a:solidFill>
                  <a:srgbClr val="1F5F44"/>
                </a:solidFill>
                <a:latin typeface="Cambria" pitchFamily="34" charset="0"/>
                <a:ea typeface="Cambria" pitchFamily="34" charset="-122"/>
                <a:cs typeface="Cambria" pitchFamily="34" charset="-120"/>
              </a:rPr>
              <a:t>Every delta is inside noise</a:t>
            </a:r>
            <a:endParaRPr lang="en-US" sz="1500" dirty="0"/>
          </a:p>
        </p:txBody>
      </p:sp>
      <p:sp>
        <p:nvSpPr>
          <p:cNvPr id="8" name="Text 5"/>
          <p:cNvSpPr/>
          <p:nvPr/>
        </p:nvSpPr>
        <p:spPr>
          <a:xfrm>
            <a:off x="7260336" y="2286000"/>
            <a:ext cx="4114800" cy="1371600"/>
          </a:xfrm>
          <a:prstGeom prst="rect">
            <a:avLst/>
          </a:prstGeom>
          <a:noFill/>
          <a:ln/>
        </p:spPr>
        <p:txBody>
          <a:bodyPr wrap="square" lIns="0" tIns="0" rIns="0" bIns="0" rtlCol="0" anchor="ctr"/>
          <a:lstStyle/>
          <a:p>
            <a:pPr indent="0" marL="0">
              <a:lnSpc>
                <a:spcPts val="1700"/>
              </a:lnSpc>
              <a:buNone/>
            </a:pPr>
            <a:r>
              <a:rPr lang="en-US" sz="1250" dirty="0">
                <a:solidFill>
                  <a:srgbClr val="1D4D39"/>
                </a:solidFill>
                <a:latin typeface="Calibri" pitchFamily="34" charset="0"/>
                <a:ea typeface="Calibri" pitchFamily="34" charset="-122"/>
                <a:cs typeface="Calibri" pitchFamily="34" charset="-120"/>
              </a:rPr>
              <a:t>Fold-to-fold standard deviation is ±0.0069. Every difference above is smaller than that, so the honest reading is “no measurable difference”, not “slightly worse”.</a:t>
            </a:r>
            <a:endParaRPr lang="en-US" sz="1250" dirty="0"/>
          </a:p>
        </p:txBody>
      </p:sp>
      <p:sp>
        <p:nvSpPr>
          <p:cNvPr id="9" name="Shape 6"/>
          <p:cNvSpPr/>
          <p:nvPr/>
        </p:nvSpPr>
        <p:spPr>
          <a:xfrm>
            <a:off x="7004304" y="3931920"/>
            <a:ext cx="4626864" cy="1682496"/>
          </a:xfrm>
          <a:prstGeom prst="roundRect">
            <a:avLst>
              <a:gd name="adj" fmla="val 4348"/>
            </a:avLst>
          </a:prstGeom>
          <a:solidFill>
            <a:srgbClr val="EEF4F6"/>
          </a:solidFill>
          <a:ln w="12700">
            <a:solidFill>
              <a:srgbClr val="EEF4F6"/>
            </a:solidFill>
            <a:prstDash val="solid"/>
          </a:ln>
        </p:spPr>
      </p:sp>
      <p:sp>
        <p:nvSpPr>
          <p:cNvPr id="10" name="Text 7"/>
          <p:cNvSpPr/>
          <p:nvPr/>
        </p:nvSpPr>
        <p:spPr>
          <a:xfrm>
            <a:off x="7260336" y="4096512"/>
            <a:ext cx="4114800" cy="292608"/>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Why this matters</a:t>
            </a:r>
            <a:endParaRPr lang="en-US" sz="1500" dirty="0"/>
          </a:p>
        </p:txBody>
      </p:sp>
      <p:sp>
        <p:nvSpPr>
          <p:cNvPr id="11" name="Text 8"/>
          <p:cNvSpPr/>
          <p:nvPr/>
        </p:nvSpPr>
        <p:spPr>
          <a:xfrm>
            <a:off x="7260336" y="4443984"/>
            <a:ext cx="4114800" cy="1097280"/>
          </a:xfrm>
          <a:prstGeom prst="rect">
            <a:avLst/>
          </a:prstGeom>
          <a:noFill/>
          <a:ln/>
        </p:spPr>
        <p:txBody>
          <a:bodyPr wrap="square" lIns="0" tIns="0" rIns="0" bIns="0" rtlCol="0" anchor="ctr"/>
          <a:lstStyle/>
          <a:p>
            <a:pPr indent="0" marL="0">
              <a:lnSpc>
                <a:spcPts val="1700"/>
              </a:lnSpc>
              <a:buNone/>
            </a:pPr>
            <a:r>
              <a:rPr lang="en-US" sz="1250" dirty="0">
                <a:solidFill>
                  <a:srgbClr val="34525E"/>
                </a:solidFill>
                <a:latin typeface="Calibri" pitchFamily="34" charset="0"/>
                <a:ea typeface="Calibri" pitchFamily="34" charset="-122"/>
                <a:cs typeface="Calibri" pitchFamily="34" charset="-120"/>
              </a:rPr>
              <a:t>Seven independent approaches converging on 0.22 is itself the finding: this is the information ceiling of administrative billing data for this outcome, not an under-tuning problem.</a:t>
            </a:r>
            <a:endParaRPr lang="en-US" sz="1250" dirty="0"/>
          </a:p>
        </p:txBody>
      </p:sp>
      <p:sp>
        <p:nvSpPr>
          <p:cNvPr id="12" name="Text 9"/>
          <p:cNvSpPr/>
          <p:nvPr/>
        </p:nvSpPr>
        <p:spPr>
          <a:xfrm>
            <a:off x="566928" y="6163056"/>
            <a:ext cx="11057839" cy="237744"/>
          </a:xfrm>
          <a:prstGeom prst="rect">
            <a:avLst/>
          </a:prstGeom>
          <a:noFill/>
          <a:ln/>
        </p:spPr>
        <p:txBody>
          <a:bodyPr wrap="square" lIns="0" tIns="0" rIns="0" bIns="0" rtlCol="0" anchor="ctr"/>
          <a:lstStyle/>
          <a:p>
            <a:pPr indent="0" marL="0">
              <a:buNone/>
            </a:pPr>
            <a:r>
              <a:rPr lang="en-US" sz="950" i="1" dirty="0">
                <a:solidFill>
                  <a:srgbClr val="9AB0B9"/>
                </a:solidFill>
                <a:latin typeface="Calibri" pitchFamily="34" charset="0"/>
                <a:ea typeface="Calibri" pitchFamily="34" charset="-122"/>
                <a:cs typeface="Calibri" pitchFamily="34" charset="-120"/>
              </a:rPr>
              <a:t>Reproduce with make experiments · reports/ablation_study.csv</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FAIRNESS</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The subgroup gap that would block deployment</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Per-subgroup performance at the deployed threshold. Groups under 200 test encounters are suppressed.</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6583680" cy="914400"/>
        </p:xfrm>
        <a:graphic>
          <a:graphicData uri="http://schemas.openxmlformats.org/drawingml/2006/table">
            <a:tbl>
              <a:tblPr/>
              <a:tblGrid>
                <a:gridCol w="1554480"/>
                <a:gridCol w="868680"/>
                <a:gridCol w="1051560"/>
                <a:gridCol w="960120"/>
                <a:gridCol w="1143000"/>
                <a:gridCol w="1005840"/>
              </a:tblGrid>
              <a:tr h="329184">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Age band</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Flag rate</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Under 40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1,289</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20.2%</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58.0%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34.9%</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0.784</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40–60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5,376</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14.8%</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39.6%</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27.9%</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0.712</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60–75</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9,277</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20.8%</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39.7%</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21.8%</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0.673</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75 and over</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3,831</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35.8%</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c>
                  <a:txBody>
                    <a:bodyPr/>
                    <a:lstStyle/>
                    <a:p>
                      <a:pPr indent="0" marL="0">
                        <a:buNone/>
                      </a:pPr>
                      <a:r>
                        <a:rPr lang="en-US" sz="1200" dirty="0">
                          <a:solidFill>
                            <a:srgbClr val="1F3D49"/>
                          </a:solidFill>
                          <a:latin typeface="Calibri" pitchFamily="34" charset="0"/>
                          <a:ea typeface="Calibri" pitchFamily="34" charset="-122"/>
                          <a:cs typeface="Calibri" pitchFamily="34" charset="-120"/>
                        </a:rPr>
                        <a:t>0.613</a:t>
                      </a:r>
                      <a:endParaRPr lang="en-US" sz="1200" dirty="0">
                        <a:latin typeface="Calibri" charset="0"/>
                        <a:ea typeface="Calibri" charset="0"/>
                        <a:cs typeface="Calibri" charset="0"/>
                      </a:endParaRPr>
                    </a:p>
                  </a:txBody>
                  <a:tcPr marL="91440" marR="91440" marT="45720" marB="45720">
                    <a:lnL w="12700" cap="flat" cmpd="sng" algn="ctr">
                      <a:solidFill>
                        <a:srgbClr val="DCE7EB"/>
                      </a:solidFill>
                      <a:prstDash val="solid"/>
                      <a:round/>
                      <a:headEnd type="none" w="med" len="med"/>
                      <a:tailEnd type="none" w="med" len="med"/>
                    </a:lnL>
                    <a:lnR w="12700" cap="flat" cmpd="sng" algn="ctr">
                      <a:solidFill>
                        <a:srgbClr val="DCE7EB"/>
                      </a:solidFill>
                      <a:prstDash val="solid"/>
                      <a:round/>
                      <a:headEnd type="none" w="med" len="med"/>
                      <a:tailEnd type="none" w="med" len="med"/>
                    </a:lnR>
                    <a:lnT w="12700" cap="flat" cmpd="sng" algn="ctr">
                      <a:solidFill>
                        <a:srgbClr val="DCE7EB"/>
                      </a:solidFill>
                      <a:prstDash val="solid"/>
                      <a:round/>
                      <a:headEnd type="none" w="med" len="med"/>
                      <a:tailEnd type="none" w="med" len="med"/>
                    </a:lnT>
                    <a:lnB w="12700" cap="flat" cmpd="sng" algn="ctr">
                      <a:solidFill>
                        <a:srgbClr val="DCE7EB"/>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529584"/>
            <a:ext cx="6583680" cy="310896"/>
          </a:xfrm>
          <a:prstGeom prst="rect">
            <a:avLst/>
          </a:prstGeom>
          <a:noFill/>
          <a:ln/>
        </p:spPr>
        <p:txBody>
          <a:bodyPr wrap="square" lIns="0" tIns="0" rIns="0" bIns="0" rtlCol="0" anchor="ctr"/>
          <a:lstStyle/>
          <a:p>
            <a:pPr indent="0" marL="0">
              <a:buNone/>
            </a:pPr>
            <a:r>
              <a:rPr lang="en-US" sz="1600" b="1" dirty="0">
                <a:solidFill>
                  <a:srgbClr val="0B2E3B"/>
                </a:solidFill>
                <a:latin typeface="Cambria" pitchFamily="34" charset="0"/>
                <a:ea typeface="Cambria" pitchFamily="34" charset="-122"/>
                <a:cs typeface="Cambria" pitchFamily="34" charset="-120"/>
              </a:rPr>
              <a:t>Race and gender gaps are modest. Age is the problem.</a:t>
            </a:r>
            <a:endParaRPr lang="en-US" sz="1600" dirty="0"/>
          </a:p>
        </p:txBody>
      </p:sp>
      <p:sp>
        <p:nvSpPr>
          <p:cNvPr id="7" name="Text 4"/>
          <p:cNvSpPr/>
          <p:nvPr/>
        </p:nvSpPr>
        <p:spPr>
          <a:xfrm>
            <a:off x="566928" y="3895344"/>
            <a:ext cx="6583680" cy="1280160"/>
          </a:xfrm>
          <a:prstGeom prst="rect">
            <a:avLst/>
          </a:prstGeom>
          <a:noFill/>
          <a:ln/>
        </p:spPr>
        <p:txBody>
          <a:bodyPr wrap="square" lIns="0" tIns="0" rIns="0" bIns="0" rtlCol="0" anchor="ctr"/>
          <a:lstStyle/>
          <a:p>
            <a:pPr indent="0" marL="0">
              <a:lnSpc>
                <a:spcPts val="1800"/>
              </a:lnSpc>
              <a:buNone/>
            </a:pPr>
            <a:r>
              <a:rPr lang="en-US" sz="1300" dirty="0">
                <a:solidFill>
                  <a:srgbClr val="34525E"/>
                </a:solidFill>
                <a:latin typeface="Calibri" pitchFamily="34" charset="0"/>
                <a:ea typeface="Calibri" pitchFamily="34" charset="-122"/>
                <a:cs typeface="Calibri" pitchFamily="34" charset="-120"/>
              </a:rPr>
              <a:t>The two large racial groups get near-identical flag rates and recall. Patients over 75, however, are flagged most often (23.0%) while the model ranks them worst (ROC-AUC 0.613) — so the tool spends disproportionate follow-up capacity on the group where its ordering is least trustworthy.</a:t>
            </a:r>
            <a:endParaRPr lang="en-US" sz="1300" dirty="0"/>
          </a:p>
        </p:txBody>
      </p:sp>
      <p:sp>
        <p:nvSpPr>
          <p:cNvPr id="8" name="Text 5"/>
          <p:cNvSpPr/>
          <p:nvPr/>
        </p:nvSpPr>
        <p:spPr>
          <a:xfrm>
            <a:off x="566928" y="5138928"/>
            <a:ext cx="6583680" cy="640080"/>
          </a:xfrm>
          <a:prstGeom prst="rect">
            <a:avLst/>
          </a:prstGeom>
          <a:noFill/>
          <a:ln/>
        </p:spPr>
        <p:txBody>
          <a:bodyPr wrap="square" lIns="0" tIns="0" rIns="0" bIns="0" rtlCol="0" anchor="ctr"/>
          <a:lstStyle/>
          <a:p>
            <a:pPr indent="0" marL="0">
              <a:lnSpc>
                <a:spcPts val="1700"/>
              </a:lnSpc>
              <a:buNone/>
            </a:pPr>
            <a:r>
              <a:rPr lang="en-US" sz="1250" i="1" dirty="0">
                <a:solidFill>
                  <a:srgbClr val="5A7683"/>
                </a:solidFill>
                <a:latin typeface="Calibri" pitchFamily="34" charset="0"/>
                <a:ea typeface="Calibri" pitchFamily="34" charset="-122"/>
                <a:cs typeface="Calibri" pitchFamily="34" charset="-120"/>
              </a:rPr>
              <a:t>Almost everything the model relies on is a proxy for frailty, and nearly all patients over 75 look frail — so the features stop separating within that group.</a:t>
            </a:r>
            <a:endParaRPr lang="en-US" sz="1250" dirty="0"/>
          </a:p>
        </p:txBody>
      </p:sp>
      <p:sp>
        <p:nvSpPr>
          <p:cNvPr id="9" name="Shape 6"/>
          <p:cNvSpPr/>
          <p:nvPr/>
        </p:nvSpPr>
        <p:spPr>
          <a:xfrm>
            <a:off x="7406640" y="1737360"/>
            <a:ext cx="4224528" cy="4041648"/>
          </a:xfrm>
          <a:prstGeom prst="roundRect">
            <a:avLst>
              <a:gd name="adj" fmla="val 1810"/>
            </a:avLst>
          </a:prstGeom>
          <a:solidFill>
            <a:srgbClr val="FBE4E0"/>
          </a:solidFill>
          <a:ln w="12700">
            <a:solidFill>
              <a:srgbClr val="FBE4E0"/>
            </a:solidFill>
            <a:prstDash val="solid"/>
          </a:ln>
        </p:spPr>
      </p:sp>
      <p:sp>
        <p:nvSpPr>
          <p:cNvPr id="10" name="Text 7"/>
          <p:cNvSpPr/>
          <p:nvPr/>
        </p:nvSpPr>
        <p:spPr>
          <a:xfrm>
            <a:off x="7680960" y="1938528"/>
            <a:ext cx="3675888" cy="329184"/>
          </a:xfrm>
          <a:prstGeom prst="rect">
            <a:avLst/>
          </a:prstGeom>
          <a:noFill/>
          <a:ln/>
        </p:spPr>
        <p:txBody>
          <a:bodyPr wrap="square" lIns="0" tIns="0" rIns="0" bIns="0" rtlCol="0" anchor="ctr"/>
          <a:lstStyle/>
          <a:p>
            <a:pPr indent="0" marL="0">
              <a:buNone/>
            </a:pPr>
            <a:r>
              <a:rPr lang="en-US" sz="1600" b="1" dirty="0">
                <a:solidFill>
                  <a:srgbClr val="9E3423"/>
                </a:solidFill>
                <a:latin typeface="Cambria" pitchFamily="34" charset="0"/>
                <a:ea typeface="Cambria" pitchFamily="34" charset="-122"/>
                <a:cs typeface="Cambria" pitchFamily="34" charset="-120"/>
              </a:rPr>
              <a:t>Before deployment</a:t>
            </a:r>
            <a:endParaRPr lang="en-US" sz="1600" dirty="0"/>
          </a:p>
        </p:txBody>
      </p:sp>
      <p:sp>
        <p:nvSpPr>
          <p:cNvPr id="11" name="Text 8"/>
          <p:cNvSpPr/>
          <p:nvPr/>
        </p:nvSpPr>
        <p:spPr>
          <a:xfrm>
            <a:off x="7680960" y="2377440"/>
            <a:ext cx="3675888" cy="18288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7A2A1C"/>
                </a:solidFill>
                <a:latin typeface="Calibri" pitchFamily="34" charset="0"/>
                <a:ea typeface="Calibri" pitchFamily="34" charset="-122"/>
                <a:cs typeface="Calibri" pitchFamily="34" charset="-120"/>
              </a:rPr>
              <a:t>A separate model for over-75s</a:t>
            </a:r>
            <a:endParaRPr lang="en-US" sz="1300" dirty="0"/>
          </a:p>
          <a:p>
            <a:pPr marL="342900" indent="-342900">
              <a:lnSpc>
                <a:spcPts val="1800"/>
              </a:lnSpc>
              <a:spcAft>
                <a:spcPts val="1000"/>
              </a:spcAft>
              <a:buSzPct val="100000"/>
              <a:buChar char="•"/>
            </a:pPr>
            <a:r>
              <a:rPr lang="en-US" sz="1300" dirty="0">
                <a:solidFill>
                  <a:srgbClr val="7A2A1C"/>
                </a:solidFill>
                <a:latin typeface="Calibri" pitchFamily="34" charset="0"/>
                <a:ea typeface="Calibri" pitchFamily="34" charset="-122"/>
                <a:cs typeface="Calibri" pitchFamily="34" charset="-120"/>
              </a:rPr>
              <a:t>Or an age-stratified threshold</a:t>
            </a:r>
            <a:endParaRPr lang="en-US" sz="1300" dirty="0"/>
          </a:p>
          <a:p>
            <a:pPr marL="342900" indent="-342900">
              <a:lnSpc>
                <a:spcPts val="1800"/>
              </a:lnSpc>
              <a:spcAft>
                <a:spcPts val="1000"/>
              </a:spcAft>
              <a:buSzPct val="100000"/>
              <a:buChar char="•"/>
            </a:pPr>
            <a:r>
              <a:rPr lang="en-US" sz="1300" dirty="0">
                <a:solidFill>
                  <a:srgbClr val="7A2A1C"/>
                </a:solidFill>
                <a:latin typeface="Calibri" pitchFamily="34" charset="0"/>
                <a:ea typeface="Calibri" pitchFamily="34" charset="-122"/>
                <a:cs typeface="Calibri" pitchFamily="34" charset="-120"/>
              </a:rPr>
              <a:t>Or restrict the tool to under-75s and triage older patients by existing clinical judgement</a:t>
            </a:r>
            <a:endParaRPr lang="en-US" sz="1300" dirty="0"/>
          </a:p>
        </p:txBody>
      </p:sp>
      <p:sp>
        <p:nvSpPr>
          <p:cNvPr id="12" name="Text 9"/>
          <p:cNvSpPr/>
          <p:nvPr/>
        </p:nvSpPr>
        <p:spPr>
          <a:xfrm>
            <a:off x="7680960" y="5120640"/>
            <a:ext cx="3675888" cy="365760"/>
          </a:xfrm>
          <a:prstGeom prst="rect">
            <a:avLst/>
          </a:prstGeom>
          <a:noFill/>
          <a:ln/>
        </p:spPr>
        <p:txBody>
          <a:bodyPr wrap="square" lIns="0" tIns="0" rIns="0" bIns="0" rtlCol="0" anchor="ctr"/>
          <a:lstStyle/>
          <a:p>
            <a:pPr indent="0" marL="0">
              <a:buNone/>
            </a:pPr>
            <a:r>
              <a:rPr lang="en-US" sz="1400" b="1" dirty="0">
                <a:solidFill>
                  <a:srgbClr val="9E3423"/>
                </a:solidFill>
                <a:latin typeface="Cambria" pitchFamily="34" charset="0"/>
                <a:ea typeface="Cambria" pitchFamily="34" charset="-122"/>
                <a:cs typeface="Cambria" pitchFamily="34" charset="-120"/>
              </a:rPr>
              <a:t>This is not fixable by tuning.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7839" cy="237744"/>
          </a:xfrm>
          <a:prstGeom prst="rect">
            <a:avLst/>
          </a:prstGeom>
          <a:noFill/>
          <a:ln/>
        </p:spPr>
        <p:txBody>
          <a:bodyPr wrap="square" lIns="0" tIns="0" rIns="0" bIns="0" rtlCol="0" anchor="ctr"/>
          <a:lstStyle/>
          <a:p>
            <a:pPr indent="0" marL="0">
              <a:buNone/>
            </a:pPr>
            <a:r>
              <a:rPr lang="en-US" sz="1100" b="1" spc="200" kern="0" dirty="0">
                <a:solidFill>
                  <a:srgbClr val="2E8FA8"/>
                </a:solidFill>
                <a:latin typeface="Calibri" pitchFamily="34" charset="0"/>
                <a:ea typeface="Calibri" pitchFamily="34" charset="-122"/>
                <a:cs typeface="Calibri" pitchFamily="34" charset="-120"/>
              </a:rPr>
              <a:t>DEPLOYMENT</a:t>
            </a:r>
            <a:endParaRPr lang="en-US" sz="1100" dirty="0"/>
          </a:p>
        </p:txBody>
      </p:sp>
      <p:sp>
        <p:nvSpPr>
          <p:cNvPr id="3" name="Text 1"/>
          <p:cNvSpPr/>
          <p:nvPr/>
        </p:nvSpPr>
        <p:spPr>
          <a:xfrm>
            <a:off x="566928" y="566928"/>
            <a:ext cx="11057839" cy="658368"/>
          </a:xfrm>
          <a:prstGeom prst="rect">
            <a:avLst/>
          </a:prstGeom>
          <a:noFill/>
          <a:ln/>
        </p:spPr>
        <p:txBody>
          <a:bodyPr wrap="square" lIns="0" tIns="0" rIns="0" bIns="0" rtlCol="0" anchor="t"/>
          <a:lstStyle/>
          <a:p>
            <a:pPr indent="0" marL="0">
              <a:buNone/>
            </a:pPr>
            <a:r>
              <a:rPr lang="en-US" sz="3200" b="1" dirty="0">
                <a:solidFill>
                  <a:srgbClr val="0B2E3B"/>
                </a:solidFill>
                <a:latin typeface="Cambria" pitchFamily="34" charset="0"/>
                <a:ea typeface="Cambria" pitchFamily="34" charset="-122"/>
                <a:cs typeface="Cambria" pitchFamily="34" charset="-120"/>
              </a:rPr>
              <a:t>Decision support, not an autonomous action</a:t>
            </a:r>
            <a:endParaRPr lang="en-US" sz="3200" dirty="0"/>
          </a:p>
        </p:txBody>
      </p:sp>
      <p:sp>
        <p:nvSpPr>
          <p:cNvPr id="4" name="Text 2"/>
          <p:cNvSpPr/>
          <p:nvPr/>
        </p:nvSpPr>
        <p:spPr>
          <a:xfrm>
            <a:off x="566928" y="1316736"/>
            <a:ext cx="11057839" cy="274320"/>
          </a:xfrm>
          <a:prstGeom prst="rect">
            <a:avLst/>
          </a:prstGeom>
          <a:noFill/>
          <a:ln/>
        </p:spPr>
        <p:txBody>
          <a:bodyPr wrap="square" lIns="0" tIns="0" rIns="0" bIns="0" rtlCol="0" anchor="ctr"/>
          <a:lstStyle/>
          <a:p>
            <a:pPr indent="0" marL="0">
              <a:buNone/>
            </a:pPr>
            <a:r>
              <a:rPr lang="en-US" sz="1250" dirty="0">
                <a:solidFill>
                  <a:srgbClr val="5A7683"/>
                </a:solidFill>
                <a:latin typeface="Calibri" pitchFamily="34" charset="0"/>
                <a:ea typeface="Calibri" pitchFamily="34" charset="-122"/>
                <a:cs typeface="Calibri" pitchFamily="34" charset="-120"/>
              </a:rPr>
              <a:t>The model produces a ranked call list. A clinician decides what to do with it.</a:t>
            </a:r>
            <a:endParaRPr lang="en-US" sz="1250" dirty="0"/>
          </a:p>
        </p:txBody>
      </p:sp>
      <p:sp>
        <p:nvSpPr>
          <p:cNvPr id="5" name="Shape 3"/>
          <p:cNvSpPr/>
          <p:nvPr/>
        </p:nvSpPr>
        <p:spPr>
          <a:xfrm>
            <a:off x="566928" y="1737360"/>
            <a:ext cx="3474720" cy="1591056"/>
          </a:xfrm>
          <a:prstGeom prst="roundRect">
            <a:avLst>
              <a:gd name="adj" fmla="val 4598"/>
            </a:avLst>
          </a:prstGeom>
          <a:solidFill>
            <a:srgbClr val="EEF4F6"/>
          </a:solidFill>
          <a:ln w="12700">
            <a:solidFill>
              <a:srgbClr val="EEF4F6"/>
            </a:solidFill>
            <a:prstDash val="solid"/>
          </a:ln>
        </p:spPr>
      </p:sp>
      <p:sp>
        <p:nvSpPr>
          <p:cNvPr id="6" name="Text 4"/>
          <p:cNvSpPr/>
          <p:nvPr/>
        </p:nvSpPr>
        <p:spPr>
          <a:xfrm>
            <a:off x="822960" y="1901952"/>
            <a:ext cx="2962656"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Nightly batch</a:t>
            </a:r>
            <a:endParaRPr lang="en-US" sz="1500" dirty="0"/>
          </a:p>
        </p:txBody>
      </p:sp>
      <p:sp>
        <p:nvSpPr>
          <p:cNvPr id="7" name="Text 5"/>
          <p:cNvSpPr/>
          <p:nvPr/>
        </p:nvSpPr>
        <p:spPr>
          <a:xfrm>
            <a:off x="822960" y="2249424"/>
            <a:ext cx="2962656" cy="91440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The discharge list becomes a ranked worklist for the follow-up team, written straight into their queue.</a:t>
            </a:r>
            <a:endParaRPr lang="en-US" sz="1150" dirty="0"/>
          </a:p>
        </p:txBody>
      </p:sp>
      <p:sp>
        <p:nvSpPr>
          <p:cNvPr id="8" name="Shape 6"/>
          <p:cNvSpPr/>
          <p:nvPr/>
        </p:nvSpPr>
        <p:spPr>
          <a:xfrm>
            <a:off x="4279392" y="1737360"/>
            <a:ext cx="3474720" cy="1591056"/>
          </a:xfrm>
          <a:prstGeom prst="roundRect">
            <a:avLst>
              <a:gd name="adj" fmla="val 4598"/>
            </a:avLst>
          </a:prstGeom>
          <a:solidFill>
            <a:srgbClr val="EEF4F6"/>
          </a:solidFill>
          <a:ln w="12700">
            <a:solidFill>
              <a:srgbClr val="EEF4F6"/>
            </a:solidFill>
            <a:prstDash val="solid"/>
          </a:ln>
        </p:spPr>
      </p:sp>
      <p:sp>
        <p:nvSpPr>
          <p:cNvPr id="9" name="Text 7"/>
          <p:cNvSpPr/>
          <p:nvPr/>
        </p:nvSpPr>
        <p:spPr>
          <a:xfrm>
            <a:off x="4535424" y="1901952"/>
            <a:ext cx="2962656"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Real-time endpoint</a:t>
            </a:r>
            <a:endParaRPr lang="en-US" sz="1500" dirty="0"/>
          </a:p>
        </p:txBody>
      </p:sp>
      <p:sp>
        <p:nvSpPr>
          <p:cNvPr id="10" name="Text 8"/>
          <p:cNvSpPr/>
          <p:nvPr/>
        </p:nvSpPr>
        <p:spPr>
          <a:xfrm>
            <a:off x="4535424" y="2249424"/>
            <a:ext cx="2962656" cy="91440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FastAPI service — /score returns risk, flag, band and disclaimer. Sub-millisecond tree inference.</a:t>
            </a:r>
            <a:endParaRPr lang="en-US" sz="1150" dirty="0"/>
          </a:p>
        </p:txBody>
      </p:sp>
      <p:sp>
        <p:nvSpPr>
          <p:cNvPr id="11" name="Shape 9"/>
          <p:cNvSpPr/>
          <p:nvPr/>
        </p:nvSpPr>
        <p:spPr>
          <a:xfrm>
            <a:off x="7991856" y="1737360"/>
            <a:ext cx="3474720" cy="1591056"/>
          </a:xfrm>
          <a:prstGeom prst="roundRect">
            <a:avLst>
              <a:gd name="adj" fmla="val 4598"/>
            </a:avLst>
          </a:prstGeom>
          <a:solidFill>
            <a:srgbClr val="EEF4F6"/>
          </a:solidFill>
          <a:ln w="12700">
            <a:solidFill>
              <a:srgbClr val="EEF4F6"/>
            </a:solidFill>
            <a:prstDash val="solid"/>
          </a:ln>
        </p:spPr>
      </p:sp>
      <p:sp>
        <p:nvSpPr>
          <p:cNvPr id="12" name="Text 10"/>
          <p:cNvSpPr/>
          <p:nvPr/>
        </p:nvSpPr>
        <p:spPr>
          <a:xfrm>
            <a:off x="8247888" y="1901952"/>
            <a:ext cx="2962656" cy="310896"/>
          </a:xfrm>
          <a:prstGeom prst="rect">
            <a:avLst/>
          </a:prstGeom>
          <a:noFill/>
          <a:ln/>
        </p:spPr>
        <p:txBody>
          <a:bodyPr wrap="square" lIns="0" tIns="0" rIns="0" bIns="0" rtlCol="0" anchor="ctr"/>
          <a:lstStyle/>
          <a:p>
            <a:pPr indent="0" marL="0">
              <a:buNone/>
            </a:pPr>
            <a:r>
              <a:rPr lang="en-US" sz="1500" b="1" dirty="0">
                <a:solidFill>
                  <a:srgbClr val="0B2E3B"/>
                </a:solidFill>
                <a:latin typeface="Cambria" pitchFamily="34" charset="0"/>
                <a:ea typeface="Cambria" pitchFamily="34" charset="-122"/>
                <a:cs typeface="Cambria" pitchFamily="34" charset="-120"/>
              </a:rPr>
              <a:t>One 5 MB artefact</a:t>
            </a:r>
            <a:endParaRPr lang="en-US" sz="1500" dirty="0"/>
          </a:p>
        </p:txBody>
      </p:sp>
      <p:sp>
        <p:nvSpPr>
          <p:cNvPr id="13" name="Text 11"/>
          <p:cNvSpPr/>
          <p:nvPr/>
        </p:nvSpPr>
        <p:spPr>
          <a:xfrm>
            <a:off x="8247888" y="2249424"/>
            <a:ext cx="2962656" cy="914400"/>
          </a:xfrm>
          <a:prstGeom prst="rect">
            <a:avLst/>
          </a:prstGeom>
          <a:noFill/>
          <a:ln/>
        </p:spPr>
        <p:txBody>
          <a:bodyPr wrap="square" lIns="0" tIns="0" rIns="0" bIns="0" rtlCol="0" anchor="ctr"/>
          <a:lstStyle/>
          <a:p>
            <a:pPr indent="0" marL="0">
              <a:lnSpc>
                <a:spcPts val="1600"/>
              </a:lnSpc>
              <a:buNone/>
            </a:pPr>
            <a:r>
              <a:rPr lang="en-US" sz="1150" dirty="0">
                <a:solidFill>
                  <a:srgbClr val="34525E"/>
                </a:solidFill>
                <a:latin typeface="Calibri" pitchFamily="34" charset="0"/>
                <a:ea typeface="Calibri" pitchFamily="34" charset="-122"/>
                <a:cs typeface="Calibri" pitchFamily="34" charset="-120"/>
              </a:rPr>
              <a:t>Preprocessing, booster, calibrator and threshold travel together in a single joblib file.</a:t>
            </a:r>
            <a:endParaRPr lang="en-US" sz="1150" dirty="0"/>
          </a:p>
        </p:txBody>
      </p:sp>
      <p:sp>
        <p:nvSpPr>
          <p:cNvPr id="14" name="Shape 12"/>
          <p:cNvSpPr/>
          <p:nvPr/>
        </p:nvSpPr>
        <p:spPr>
          <a:xfrm>
            <a:off x="566928" y="3493008"/>
            <a:ext cx="11057839" cy="1481328"/>
          </a:xfrm>
          <a:prstGeom prst="roundRect">
            <a:avLst>
              <a:gd name="adj" fmla="val 4938"/>
            </a:avLst>
          </a:prstGeom>
          <a:solidFill>
            <a:srgbClr val="0B2E3B"/>
          </a:solidFill>
          <a:ln w="12700">
            <a:solidFill>
              <a:srgbClr val="0B2E3B"/>
            </a:solidFill>
            <a:prstDash val="solid"/>
          </a:ln>
        </p:spPr>
      </p:sp>
      <p:sp>
        <p:nvSpPr>
          <p:cNvPr id="15" name="Text 13"/>
          <p:cNvSpPr/>
          <p:nvPr/>
        </p:nvSpPr>
        <p:spPr>
          <a:xfrm>
            <a:off x="877824" y="3639312"/>
            <a:ext cx="1042416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Two serving bugs that offline metrics could never have caught</a:t>
            </a:r>
            <a:endParaRPr lang="en-US" sz="1500" dirty="0"/>
          </a:p>
        </p:txBody>
      </p:sp>
      <p:sp>
        <p:nvSpPr>
          <p:cNvPr id="16" name="Text 14"/>
          <p:cNvSpPr/>
          <p:nvPr/>
        </p:nvSpPr>
        <p:spPr>
          <a:xfrm>
            <a:off x="877824" y="3986784"/>
            <a:ext cx="10424160" cy="859536"/>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00" dirty="0">
                <a:solidFill>
                  <a:srgbClr val="C9DCE3"/>
                </a:solidFill>
                <a:latin typeface="Calibri" pitchFamily="34" charset="0"/>
                <a:ea typeface="Calibri" pitchFamily="34" charset="-122"/>
                <a:cs typeface="Calibri" pitchFamily="34" charset="-120"/>
              </a:rPr>
              <a:t>Feature engineering required the readmitted label — which does not exist at discharge.</a:t>
            </a:r>
            <a:endParaRPr lang="en-US" sz="1200" dirty="0"/>
          </a:p>
          <a:p>
            <a:pPr marL="342900" indent="-342900">
              <a:lnSpc>
                <a:spcPts val="1600"/>
              </a:lnSpc>
              <a:spcAft>
                <a:spcPts val="600"/>
              </a:spcAft>
              <a:buSzPct val="100000"/>
              <a:buChar char="•"/>
            </a:pPr>
            <a:r>
              <a:rPr lang="en-US" sz="1200" dirty="0">
                <a:solidFill>
                  <a:srgbClr val="C9DCE3"/>
                </a:solidFill>
                <a:latin typeface="Calibri" pitchFamily="34" charset="0"/>
                <a:ea typeface="Calibri" pitchFamily="34" charset="-122"/>
                <a:cs typeface="Calibri" pitchFamily="34" charset="-120"/>
              </a:rPr>
              <a:t>prior_encounters was counted within the batch, so a single-row request scored every patient as a first-ever admission — zeroing out the model's strongest feature.</a:t>
            </a:r>
            <a:endParaRPr lang="en-US" sz="1200" dirty="0"/>
          </a:p>
        </p:txBody>
      </p:sp>
      <p:sp>
        <p:nvSpPr>
          <p:cNvPr id="17" name="Shape 15"/>
          <p:cNvSpPr/>
          <p:nvPr/>
        </p:nvSpPr>
        <p:spPr>
          <a:xfrm>
            <a:off x="566928" y="5138928"/>
            <a:ext cx="5358384" cy="896112"/>
          </a:xfrm>
          <a:prstGeom prst="roundRect">
            <a:avLst>
              <a:gd name="adj" fmla="val 8163"/>
            </a:avLst>
          </a:prstGeom>
          <a:solidFill>
            <a:srgbClr val="E2F0E9"/>
          </a:solidFill>
          <a:ln w="12700">
            <a:solidFill>
              <a:srgbClr val="E2F0E9"/>
            </a:solidFill>
            <a:prstDash val="solid"/>
          </a:ln>
        </p:spPr>
      </p:sp>
      <p:sp>
        <p:nvSpPr>
          <p:cNvPr id="18" name="Text 16"/>
          <p:cNvSpPr/>
          <p:nvPr/>
        </p:nvSpPr>
        <p:spPr>
          <a:xfrm>
            <a:off x="822960" y="5138928"/>
            <a:ext cx="4846320" cy="896112"/>
          </a:xfrm>
          <a:prstGeom prst="rect">
            <a:avLst/>
          </a:prstGeom>
          <a:noFill/>
          <a:ln/>
        </p:spPr>
        <p:txBody>
          <a:bodyPr wrap="square" lIns="0" tIns="0" rIns="0" bIns="0" rtlCol="0" anchor="ctr"/>
          <a:lstStyle/>
          <a:p>
            <a:pPr indent="0" marL="0">
              <a:lnSpc>
                <a:spcPts val="1500"/>
              </a:lnSpc>
              <a:buNone/>
            </a:pPr>
            <a:r>
              <a:rPr lang="en-US" sz="1150" b="1" dirty="0">
                <a:solidFill>
                  <a:srgbClr val="1D4D39"/>
                </a:solidFill>
                <a:latin typeface="Calibri" pitchFamily="34" charset="0"/>
                <a:ea typeface="Calibri" pitchFamily="34" charset="-122"/>
                <a:cs typeface="Calibri" pitchFamily="34" charset="-120"/>
              </a:rPr>
              <a:t>Serving reuses data_prep.py directly — a second copy of the feature logic is how models quietly degrade in production.</a:t>
            </a:r>
            <a:endParaRPr lang="en-US" sz="1150" dirty="0"/>
          </a:p>
        </p:txBody>
      </p:sp>
      <p:sp>
        <p:nvSpPr>
          <p:cNvPr id="19" name="Shape 17"/>
          <p:cNvSpPr/>
          <p:nvPr/>
        </p:nvSpPr>
        <p:spPr>
          <a:xfrm>
            <a:off x="6263640" y="5138928"/>
            <a:ext cx="5358384" cy="896112"/>
          </a:xfrm>
          <a:prstGeom prst="roundRect">
            <a:avLst>
              <a:gd name="adj" fmla="val 8163"/>
            </a:avLst>
          </a:prstGeom>
          <a:solidFill>
            <a:srgbClr val="EEF4F6"/>
          </a:solidFill>
          <a:ln w="12700">
            <a:solidFill>
              <a:srgbClr val="EEF4F6"/>
            </a:solidFill>
            <a:prstDash val="solid"/>
          </a:ln>
        </p:spPr>
      </p:sp>
      <p:sp>
        <p:nvSpPr>
          <p:cNvPr id="20" name="Text 18"/>
          <p:cNvSpPr/>
          <p:nvPr/>
        </p:nvSpPr>
        <p:spPr>
          <a:xfrm>
            <a:off x="6519672" y="5138928"/>
            <a:ext cx="4846320" cy="896112"/>
          </a:xfrm>
          <a:prstGeom prst="rect">
            <a:avLst/>
          </a:prstGeom>
          <a:noFill/>
          <a:ln/>
        </p:spPr>
        <p:txBody>
          <a:bodyPr wrap="square" lIns="0" tIns="0" rIns="0" bIns="0" rtlCol="0" anchor="ctr"/>
          <a:lstStyle/>
          <a:p>
            <a:pPr indent="0" marL="0">
              <a:lnSpc>
                <a:spcPts val="1500"/>
              </a:lnSpc>
              <a:buNone/>
            </a:pPr>
            <a:r>
              <a:rPr lang="en-US" sz="1150" dirty="0">
                <a:solidFill>
                  <a:srgbClr val="34525E"/>
                </a:solidFill>
                <a:latin typeface="Calibri" pitchFamily="34" charset="0"/>
                <a:ea typeface="Calibri" pitchFamily="34" charset="-122"/>
                <a:cs typeface="Calibri" pitchFamily="34" charset="-120"/>
              </a:rPr>
              <a:t>Monitor flag rate, realised vs predicted readmission rate, calibration drift and the subgroup gaps — on a schedule, not once at launch.</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E3B"/>
        </a:solidFill>
      </p:bgPr>
    </p:bg>
    <p:spTree>
      <p:nvGrpSpPr>
        <p:cNvPr id="1" name=""/>
        <p:cNvGrpSpPr/>
        <p:nvPr/>
      </p:nvGrpSpPr>
      <p:grpSpPr>
        <a:xfrm>
          <a:off x="0" y="0"/>
          <a:ext cx="0" cy="0"/>
          <a:chOff x="0" y="0"/>
          <a:chExt cx="0" cy="0"/>
        </a:xfrm>
      </p:grpSpPr>
      <p:sp>
        <p:nvSpPr>
          <p:cNvPr id="2" name="Shape 0"/>
          <p:cNvSpPr/>
          <p:nvPr/>
        </p:nvSpPr>
        <p:spPr>
          <a:xfrm>
            <a:off x="9326880" y="3840480"/>
            <a:ext cx="4937760" cy="4937760"/>
          </a:xfrm>
          <a:prstGeom prst="ellipse">
            <a:avLst/>
          </a:prstGeom>
          <a:solidFill>
            <a:srgbClr val="12556B">
              <a:alpha val="45000"/>
            </a:srgbClr>
          </a:solidFill>
          <a:ln w="12700">
            <a:solidFill>
              <a:srgbClr val="333333"/>
            </a:solidFill>
            <a:prstDash val="solid"/>
          </a:ln>
        </p:spPr>
      </p:sp>
      <p:sp>
        <p:nvSpPr>
          <p:cNvPr id="3" name="Text 1"/>
          <p:cNvSpPr/>
          <p:nvPr/>
        </p:nvSpPr>
        <p:spPr>
          <a:xfrm>
            <a:off x="566928" y="603504"/>
            <a:ext cx="11057839" cy="274320"/>
          </a:xfrm>
          <a:prstGeom prst="rect">
            <a:avLst/>
          </a:prstGeom>
          <a:noFill/>
          <a:ln/>
        </p:spPr>
        <p:txBody>
          <a:bodyPr wrap="square" lIns="0" tIns="0" rIns="0" bIns="0" rtlCol="0" anchor="ctr"/>
          <a:lstStyle/>
          <a:p>
            <a:pPr indent="0" marL="0">
              <a:buNone/>
            </a:pPr>
            <a:r>
              <a:rPr lang="en-US" sz="1100" b="1" spc="240" kern="0" dirty="0">
                <a:solidFill>
                  <a:srgbClr val="2E8FA8"/>
                </a:solidFill>
                <a:latin typeface="Calibri" pitchFamily="34" charset="0"/>
                <a:ea typeface="Calibri" pitchFamily="34" charset="-122"/>
                <a:cs typeface="Calibri" pitchFamily="34" charset="-120"/>
              </a:rPr>
              <a:t>WHAT WE WOULD SAY TO A HOSPITAL</a:t>
            </a:r>
            <a:endParaRPr lang="en-US" sz="1100" dirty="0"/>
          </a:p>
        </p:txBody>
      </p:sp>
      <p:sp>
        <p:nvSpPr>
          <p:cNvPr id="4" name="Text 2"/>
          <p:cNvSpPr/>
          <p:nvPr/>
        </p:nvSpPr>
        <p:spPr>
          <a:xfrm>
            <a:off x="566928" y="969264"/>
            <a:ext cx="8229600" cy="62179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Honest about the ceiling</a:t>
            </a:r>
            <a:endParaRPr lang="en-US" sz="3400" dirty="0"/>
          </a:p>
        </p:txBody>
      </p:sp>
      <p:sp>
        <p:nvSpPr>
          <p:cNvPr id="5" name="Shape 3"/>
          <p:cNvSpPr/>
          <p:nvPr/>
        </p:nvSpPr>
        <p:spPr>
          <a:xfrm>
            <a:off x="566928" y="1920240"/>
            <a:ext cx="182880" cy="182880"/>
          </a:xfrm>
          <a:prstGeom prst="ellipse">
            <a:avLst/>
          </a:prstGeom>
          <a:solidFill>
            <a:srgbClr val="F2634A"/>
          </a:solidFill>
          <a:ln w="12700">
            <a:solidFill>
              <a:srgbClr val="333333"/>
            </a:solidFill>
            <a:prstDash val="solid"/>
          </a:ln>
        </p:spPr>
      </p:sp>
      <p:sp>
        <p:nvSpPr>
          <p:cNvPr id="6" name="Text 4"/>
          <p:cNvSpPr/>
          <p:nvPr/>
        </p:nvSpPr>
        <p:spPr>
          <a:xfrm>
            <a:off x="950976" y="1828800"/>
            <a:ext cx="85039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Discrimination is modest — and that is the ceiling.</a:t>
            </a:r>
            <a:endParaRPr lang="en-US" sz="1400" dirty="0"/>
          </a:p>
        </p:txBody>
      </p:sp>
      <p:sp>
        <p:nvSpPr>
          <p:cNvPr id="7" name="Text 5"/>
          <p:cNvSpPr/>
          <p:nvPr/>
        </p:nvSpPr>
        <p:spPr>
          <a:xfrm>
            <a:off x="950976" y="2157984"/>
            <a:ext cx="8503920" cy="512064"/>
          </a:xfrm>
          <a:prstGeom prst="rect">
            <a:avLst/>
          </a:prstGeom>
          <a:noFill/>
          <a:ln/>
        </p:spPr>
        <p:txBody>
          <a:bodyPr wrap="square" lIns="0" tIns="0" rIns="0" bIns="0" rtlCol="0" anchor="ctr"/>
          <a:lstStyle/>
          <a:p>
            <a:pPr indent="0" marL="0">
              <a:lnSpc>
                <a:spcPts val="1600"/>
              </a:lnSpc>
              <a:buNone/>
            </a:pPr>
            <a:r>
              <a:rPr lang="en-US" sz="1200" dirty="0">
                <a:solidFill>
                  <a:srgbClr val="C9DCE3"/>
                </a:solidFill>
                <a:latin typeface="Calibri" pitchFamily="34" charset="0"/>
                <a:ea typeface="Calibri" pitchFamily="34" charset="-122"/>
                <a:cs typeface="Calibri" pitchFamily="34" charset="-120"/>
              </a:rPr>
              <a:t>0.684 sits inside the 0.64–0.70 band published for this dataset. Seven approaches converged there.</a:t>
            </a:r>
            <a:endParaRPr lang="en-US" sz="1200" dirty="0"/>
          </a:p>
        </p:txBody>
      </p:sp>
      <p:sp>
        <p:nvSpPr>
          <p:cNvPr id="8" name="Shape 6"/>
          <p:cNvSpPr/>
          <p:nvPr/>
        </p:nvSpPr>
        <p:spPr>
          <a:xfrm>
            <a:off x="566928" y="2889504"/>
            <a:ext cx="182880" cy="182880"/>
          </a:xfrm>
          <a:prstGeom prst="ellipse">
            <a:avLst/>
          </a:prstGeom>
          <a:solidFill>
            <a:srgbClr val="F2634A"/>
          </a:solidFill>
          <a:ln w="12700">
            <a:solidFill>
              <a:srgbClr val="333333"/>
            </a:solidFill>
            <a:prstDash val="solid"/>
          </a:ln>
        </p:spPr>
      </p:sp>
      <p:sp>
        <p:nvSpPr>
          <p:cNvPr id="9" name="Text 7"/>
          <p:cNvSpPr/>
          <p:nvPr/>
        </p:nvSpPr>
        <p:spPr>
          <a:xfrm>
            <a:off x="950976" y="2798064"/>
            <a:ext cx="85039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payer_code_Unknown is a top-6 driver.</a:t>
            </a:r>
            <a:endParaRPr lang="en-US" sz="1400" dirty="0"/>
          </a:p>
        </p:txBody>
      </p:sp>
      <p:sp>
        <p:nvSpPr>
          <p:cNvPr id="10" name="Text 8"/>
          <p:cNvSpPr/>
          <p:nvPr/>
        </p:nvSpPr>
        <p:spPr>
          <a:xfrm>
            <a:off x="950976" y="3127248"/>
            <a:ext cx="8503920" cy="512064"/>
          </a:xfrm>
          <a:prstGeom prst="rect">
            <a:avLst/>
          </a:prstGeom>
          <a:noFill/>
          <a:ln/>
        </p:spPr>
        <p:txBody>
          <a:bodyPr wrap="square" lIns="0" tIns="0" rIns="0" bIns="0" rtlCol="0" anchor="ctr"/>
          <a:lstStyle/>
          <a:p>
            <a:pPr indent="0" marL="0">
              <a:lnSpc>
                <a:spcPts val="1600"/>
              </a:lnSpc>
              <a:buNone/>
            </a:pPr>
            <a:r>
              <a:rPr lang="en-US" sz="1200" dirty="0">
                <a:solidFill>
                  <a:srgbClr val="C9DCE3"/>
                </a:solidFill>
                <a:latin typeface="Calibri" pitchFamily="34" charset="0"/>
                <a:ea typeface="Calibri" pitchFamily="34" charset="-122"/>
                <a:cs typeface="Calibri" pitchFamily="34" charset="-120"/>
              </a:rPr>
              <a:t>Insurance coding is not physiology. It may not transfer to a new hospital — first thing to re-examine on local data.</a:t>
            </a:r>
            <a:endParaRPr lang="en-US" sz="1200" dirty="0"/>
          </a:p>
        </p:txBody>
      </p:sp>
      <p:sp>
        <p:nvSpPr>
          <p:cNvPr id="11" name="Shape 9"/>
          <p:cNvSpPr/>
          <p:nvPr/>
        </p:nvSpPr>
        <p:spPr>
          <a:xfrm>
            <a:off x="566928" y="3858768"/>
            <a:ext cx="182880" cy="182880"/>
          </a:xfrm>
          <a:prstGeom prst="ellipse">
            <a:avLst/>
          </a:prstGeom>
          <a:solidFill>
            <a:srgbClr val="F2634A"/>
          </a:solidFill>
          <a:ln w="12700">
            <a:solidFill>
              <a:srgbClr val="333333"/>
            </a:solidFill>
            <a:prstDash val="solid"/>
          </a:ln>
        </p:spPr>
      </p:sp>
      <p:sp>
        <p:nvSpPr>
          <p:cNvPr id="12" name="Text 10"/>
          <p:cNvSpPr/>
          <p:nvPr/>
        </p:nvSpPr>
        <p:spPr>
          <a:xfrm>
            <a:off x="950976" y="3767328"/>
            <a:ext cx="85039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data is 1999–2008.</a:t>
            </a:r>
            <a:endParaRPr lang="en-US" sz="1400" dirty="0"/>
          </a:p>
        </p:txBody>
      </p:sp>
      <p:sp>
        <p:nvSpPr>
          <p:cNvPr id="13" name="Text 11"/>
          <p:cNvSpPr/>
          <p:nvPr/>
        </p:nvSpPr>
        <p:spPr>
          <a:xfrm>
            <a:off x="950976" y="4096512"/>
            <a:ext cx="8503920" cy="512064"/>
          </a:xfrm>
          <a:prstGeom prst="rect">
            <a:avLst/>
          </a:prstGeom>
          <a:noFill/>
          <a:ln/>
        </p:spPr>
        <p:txBody>
          <a:bodyPr wrap="square" lIns="0" tIns="0" rIns="0" bIns="0" rtlCol="0" anchor="ctr"/>
          <a:lstStyle/>
          <a:p>
            <a:pPr indent="0" marL="0">
              <a:lnSpc>
                <a:spcPts val="1600"/>
              </a:lnSpc>
              <a:buNone/>
            </a:pPr>
            <a:r>
              <a:rPr lang="en-US" sz="1200" dirty="0">
                <a:solidFill>
                  <a:srgbClr val="C9DCE3"/>
                </a:solidFill>
                <a:latin typeface="Calibri" pitchFamily="34" charset="0"/>
                <a:ea typeface="Calibri" pitchFamily="34" charset="-122"/>
                <a:cs typeface="Calibri" pitchFamily="34" charset="-120"/>
              </a:rPr>
              <a:t>Coding standards, drug availability and discharge policy have all moved. Recalibration is mandatory.</a:t>
            </a:r>
            <a:endParaRPr lang="en-US" sz="1200" dirty="0"/>
          </a:p>
        </p:txBody>
      </p:sp>
      <p:sp>
        <p:nvSpPr>
          <p:cNvPr id="14" name="Shape 12"/>
          <p:cNvSpPr/>
          <p:nvPr/>
        </p:nvSpPr>
        <p:spPr>
          <a:xfrm>
            <a:off x="566928" y="4828032"/>
            <a:ext cx="182880" cy="182880"/>
          </a:xfrm>
          <a:prstGeom prst="ellipse">
            <a:avLst/>
          </a:prstGeom>
          <a:solidFill>
            <a:srgbClr val="F2634A"/>
          </a:solidFill>
          <a:ln w="12700">
            <a:solidFill>
              <a:srgbClr val="333333"/>
            </a:solidFill>
            <a:prstDash val="solid"/>
          </a:ln>
        </p:spPr>
      </p:sp>
      <p:sp>
        <p:nvSpPr>
          <p:cNvPr id="15" name="Text 13"/>
          <p:cNvSpPr/>
          <p:nvPr/>
        </p:nvSpPr>
        <p:spPr>
          <a:xfrm>
            <a:off x="950976" y="4736592"/>
            <a:ext cx="85039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59.8% of readmissions are missed at 20% capacity.</a:t>
            </a:r>
            <a:endParaRPr lang="en-US" sz="1400" dirty="0"/>
          </a:p>
        </p:txBody>
      </p:sp>
      <p:sp>
        <p:nvSpPr>
          <p:cNvPr id="16" name="Text 14"/>
          <p:cNvSpPr/>
          <p:nvPr/>
        </p:nvSpPr>
        <p:spPr>
          <a:xfrm>
            <a:off x="950976" y="5065776"/>
            <a:ext cx="8503920" cy="512064"/>
          </a:xfrm>
          <a:prstGeom prst="rect">
            <a:avLst/>
          </a:prstGeom>
          <a:noFill/>
          <a:ln/>
        </p:spPr>
        <p:txBody>
          <a:bodyPr wrap="square" lIns="0" tIns="0" rIns="0" bIns="0" rtlCol="0" anchor="ctr"/>
          <a:lstStyle/>
          <a:p>
            <a:pPr indent="0" marL="0">
              <a:lnSpc>
                <a:spcPts val="1600"/>
              </a:lnSpc>
              <a:buNone/>
            </a:pPr>
            <a:r>
              <a:rPr lang="en-US" sz="1200" dirty="0">
                <a:solidFill>
                  <a:srgbClr val="C9DCE3"/>
                </a:solidFill>
                <a:latin typeface="Calibri" pitchFamily="34" charset="0"/>
                <a:ea typeface="Calibri" pitchFamily="34" charset="-122"/>
                <a:cs typeface="Calibri" pitchFamily="34" charset="-120"/>
              </a:rPr>
              <a:t>This reprioritises attention. An unflagged patient is not a safe patient.</a:t>
            </a:r>
            <a:endParaRPr lang="en-US" sz="1200" dirty="0"/>
          </a:p>
        </p:txBody>
      </p:sp>
      <p:sp>
        <p:nvSpPr>
          <p:cNvPr id="17" name="Shape 15"/>
          <p:cNvSpPr/>
          <p:nvPr/>
        </p:nvSpPr>
        <p:spPr>
          <a:xfrm>
            <a:off x="566928" y="5815584"/>
            <a:ext cx="11057839" cy="658368"/>
          </a:xfrm>
          <a:prstGeom prst="roundRect">
            <a:avLst>
              <a:gd name="adj" fmla="val 8333"/>
            </a:avLst>
          </a:prstGeom>
          <a:solidFill>
            <a:srgbClr val="16404F"/>
          </a:solidFill>
          <a:ln w="12700">
            <a:solidFill>
              <a:srgbClr val="333333"/>
            </a:solidFill>
            <a:prstDash val="solid"/>
          </a:ln>
        </p:spPr>
      </p:sp>
      <p:sp>
        <p:nvSpPr>
          <p:cNvPr id="18" name="Text 16"/>
          <p:cNvSpPr/>
          <p:nvPr/>
        </p:nvSpPr>
        <p:spPr>
          <a:xfrm>
            <a:off x="859536" y="5815584"/>
            <a:ext cx="5852160" cy="658368"/>
          </a:xfrm>
          <a:prstGeom prst="rect">
            <a:avLst/>
          </a:prstGeom>
          <a:noFill/>
          <a:ln/>
        </p:spPr>
        <p:txBody>
          <a:bodyPr wrap="square" lIns="0" tIns="0" rIns="0" bIns="0" rtlCol="0" anchor="ctr"/>
          <a:lstStyle/>
          <a:p>
            <a:pPr indent="0" marL="0">
              <a:buNone/>
            </a:pPr>
            <a:r>
              <a:rPr lang="en-US" sz="1250" b="1" dirty="0">
                <a:solidFill>
                  <a:srgbClr val="8FD4C8"/>
                </a:solidFill>
                <a:latin typeface="Courier New" pitchFamily="34" charset="0"/>
                <a:ea typeface="Courier New" pitchFamily="34" charset="-122"/>
                <a:cs typeface="Courier New" pitchFamily="34" charset="-120"/>
              </a:rPr>
              <a:t>github.com/sgoel2be24-cyber/hospital-readmission-risk</a:t>
            </a:r>
            <a:endParaRPr lang="en-US" sz="1250" dirty="0"/>
          </a:p>
        </p:txBody>
      </p:sp>
      <p:sp>
        <p:nvSpPr>
          <p:cNvPr id="19" name="Text 17"/>
          <p:cNvSpPr/>
          <p:nvPr/>
        </p:nvSpPr>
        <p:spPr>
          <a:xfrm>
            <a:off x="6675120" y="5815584"/>
            <a:ext cx="4937760" cy="658368"/>
          </a:xfrm>
          <a:prstGeom prst="rect">
            <a:avLst/>
          </a:prstGeom>
          <a:noFill/>
          <a:ln/>
        </p:spPr>
        <p:txBody>
          <a:bodyPr wrap="square" lIns="0" tIns="0" rIns="0" bIns="0" rtlCol="0" anchor="ctr"/>
          <a:lstStyle/>
          <a:p>
            <a:pPr algn="r" indent="0" marL="0">
              <a:buNone/>
            </a:pPr>
            <a:r>
              <a:rPr lang="en-US" sz="1150" dirty="0">
                <a:solidFill>
                  <a:srgbClr val="C9DCE3"/>
                </a:solidFill>
                <a:latin typeface="Calibri" pitchFamily="34" charset="0"/>
                <a:ea typeface="Calibri" pitchFamily="34" charset="-122"/>
                <a:cs typeface="Calibri" pitchFamily="34" charset="-120"/>
              </a:rPr>
              <a:t>make setup &amp;&amp; make data &amp;&amp; make train  ·  17 tests  ·  ~60 s end to end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ML Bubble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30-Day Readmission Risk Prediction</dc:title>
  <dc:subject>PptxGenJS Presentation</dc:subject>
  <dc:creator>Shikhar</dc:creator>
  <cp:lastModifiedBy>Shikhar</cp:lastModifiedBy>
  <cp:revision>1</cp:revision>
  <dcterms:created xsi:type="dcterms:W3CDTF">2026-08-07T21:29:08Z</dcterms:created>
  <dcterms:modified xsi:type="dcterms:W3CDTF">2026-08-07T21:29:08Z</dcterms:modified>
</cp:coreProperties>
</file>